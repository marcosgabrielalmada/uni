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PT Sans Narrow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Narrow-bold.fntdata"/><Relationship Id="rId25" Type="http://schemas.openxmlformats.org/officeDocument/2006/relationships/font" Target="fonts/PTSansNarrow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28c5edb64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28c5edb64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019a17b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019a17b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e019a17b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e019a17b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e019a17b9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e019a17b9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019a17b9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e019a17b9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019a17b9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e019a17b9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019a17b9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e019a17b9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e019a17b9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e019a17b9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e019a17b9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e019a17b9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e019a17b9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e019a17b9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e019a17b9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e019a17b9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019a17b9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e019a17b9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e019a17b9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e019a17b9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e019a17b9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e019a17b9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019a17b9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019a17b9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019a17b9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e019a17b9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e019a17b9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e019a17b9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e019a17b9b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e019a17b9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Pruebas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Usando PC y PI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58300" y="4190450"/>
            <a:ext cx="3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E93D8"/>
                </a:solidFill>
                <a:latin typeface="Open Sans"/>
                <a:ea typeface="Open Sans"/>
                <a:cs typeface="Open Sans"/>
                <a:sym typeface="Open Sans"/>
              </a:rPr>
              <a:t>Explicación hecha por Valentina Cambiaso :)</a:t>
            </a:r>
            <a:endParaRPr>
              <a:solidFill>
                <a:srgbClr val="CE93D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Realizar una prueba </a:t>
            </a:r>
            <a:r>
              <a:rPr b="1" lang="es-419"/>
              <a:t>usando PC pero no PI </a:t>
            </a:r>
            <a:r>
              <a:rPr lang="es-419"/>
              <a:t>de la siguiente tautología: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450" y="2154825"/>
            <a:ext cx="6507101" cy="5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/>
          <p:nvPr/>
        </p:nvSpPr>
        <p:spPr>
          <a:xfrm>
            <a:off x="6771725" y="1333000"/>
            <a:ext cx="132900" cy="612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</p:txBody>
      </p:sp>
      <p:sp>
        <p:nvSpPr>
          <p:cNvPr id="84" name="Google Shape;84;p15"/>
          <p:cNvSpPr txBox="1"/>
          <p:nvPr/>
        </p:nvSpPr>
        <p:spPr>
          <a:xfrm>
            <a:off x="6959775" y="1331200"/>
            <a:ext cx="129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Agregamos las premisas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2502075" y="1055250"/>
            <a:ext cx="1891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4940475" y="1055250"/>
            <a:ext cx="1891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											P subprueba A ⟶ D </a:t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6"/>
          <p:cNvCxnSpPr/>
          <p:nvPr/>
        </p:nvCxnSpPr>
        <p:spPr>
          <a:xfrm>
            <a:off x="7607475" y="979050"/>
            <a:ext cx="325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6"/>
          <p:cNvSpPr/>
          <p:nvPr/>
        </p:nvSpPr>
        <p:spPr>
          <a:xfrm rot="5400000">
            <a:off x="7297175" y="1138275"/>
            <a:ext cx="155100" cy="2400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6174725" y="2340150"/>
            <a:ext cx="24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Agregamos la premisa de la subprueba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											P subprueba A ⟶ 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 </a:t>
            </a:r>
            <a:r>
              <a:rPr lang="es-419"/>
              <a:t>∨ B										Ad. 3</a:t>
            </a:r>
            <a:r>
              <a:rPr lang="es-419"/>
              <a:t> </a:t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5394" y="4012950"/>
            <a:ext cx="2610675" cy="88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											P subprueba A ⟶ 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 ∨ B										Ad. 3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C											MP 1,4</a:t>
            </a:r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796" y="3733971"/>
            <a:ext cx="2419550" cy="118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											P subprueba A ⟶ 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 ∨ B										Ad. 3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C											MP 1,4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</a:t>
            </a:r>
            <a:r>
              <a:rPr lang="es-419"/>
              <a:t>D ∧ E                                                                            MP 2,5</a:t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796" y="3733971"/>
            <a:ext cx="2419550" cy="118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											P subprueba A ⟶ 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 ∨ B										Ad. 3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C											MP 1,4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D ∧ E                                                                            MP 2,5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D                                                                                   Simp. 6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5725" y="4150343"/>
            <a:ext cx="3182825" cy="7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											P subprueba A ⟶ 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 ∨ B										Ad. 3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C											MP 1,4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D ∧ E                                                                            MP 2,5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D                                                                                   Simp. 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⟶ D											PC subprueba 3,7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311700" y="1266325"/>
            <a:ext cx="8520600" cy="3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∨ B ⟶ C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C ⟶ D ∧ E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											P subprueba A ⟶ 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A ∨ B										Ad. 3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C											MP 1,4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D ∧ E                                                                            MP 2,5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       D                                                                                   Simp. 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A ⟶ D											PC subprueba 3,7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(A ∨ B ⟶ C) ∧ (C ⟶ D ∧ E) ⟶ (A ⟶ D)				PC 1,2,8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00" y="540025"/>
            <a:ext cx="6507101" cy="5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Realizar una prueba </a:t>
            </a:r>
            <a:r>
              <a:rPr b="1" lang="es-419"/>
              <a:t>usando al menos una vez PI </a:t>
            </a:r>
            <a:r>
              <a:rPr lang="es-419"/>
              <a:t>de la siguiente tautología:</a:t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9788" y="2081450"/>
            <a:ext cx="5044425" cy="8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∨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⟶ Q											P	</a:t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470" y="553575"/>
            <a:ext cx="3089864" cy="49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4"/>
          <p:cNvCxnSpPr/>
          <p:nvPr/>
        </p:nvCxnSpPr>
        <p:spPr>
          <a:xfrm flipH="1" rot="10800000">
            <a:off x="3851750" y="902950"/>
            <a:ext cx="770400" cy="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/>
          <p:nvPr/>
        </p:nvCxnSpPr>
        <p:spPr>
          <a:xfrm flipH="1" rot="10800000">
            <a:off x="5147150" y="902950"/>
            <a:ext cx="770400" cy="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6771725" y="1333000"/>
            <a:ext cx="132900" cy="612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</p:txBody>
      </p:sp>
      <p:sp>
        <p:nvSpPr>
          <p:cNvPr id="160" name="Google Shape;160;p24"/>
          <p:cNvSpPr txBox="1"/>
          <p:nvPr/>
        </p:nvSpPr>
        <p:spPr>
          <a:xfrm>
            <a:off x="6959775" y="1331200"/>
            <a:ext cx="129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Agregamos las premisas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∨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⟶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¬Q												P PI	</a:t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470" y="553575"/>
            <a:ext cx="3089864" cy="49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5"/>
          <p:cNvCxnSpPr/>
          <p:nvPr/>
        </p:nvCxnSpPr>
        <p:spPr>
          <a:xfrm flipH="1" rot="10800000">
            <a:off x="6285650" y="902875"/>
            <a:ext cx="241500" cy="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/>
        </p:nvSpPr>
        <p:spPr>
          <a:xfrm>
            <a:off x="5474175" y="2541475"/>
            <a:ext cx="211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Agregamos la premisa de la prueba indirecta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25"/>
          <p:cNvSpPr/>
          <p:nvPr/>
        </p:nvSpPr>
        <p:spPr>
          <a:xfrm rot="5400000">
            <a:off x="6455175" y="1980225"/>
            <a:ext cx="155100" cy="716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∨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⟶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¬Q												P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												SD 1,3	</a:t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470" y="553575"/>
            <a:ext cx="3089864" cy="4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5474175" y="2541475"/>
            <a:ext cx="21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843" y="4122350"/>
            <a:ext cx="2258400" cy="7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∨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⟶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¬Q												P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												SD 1,3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Q												MP 2,4	</a:t>
            </a:r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470" y="553575"/>
            <a:ext cx="3089864" cy="4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5474175" y="2541475"/>
            <a:ext cx="21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9820" y="4061875"/>
            <a:ext cx="1690975" cy="8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∨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⟶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¬Q												P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												SD 1,3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Q												MP 2,4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Q ∧ 	</a:t>
            </a:r>
            <a:r>
              <a:rPr lang="es-419"/>
              <a:t>¬Q											Conj. 3,5</a:t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470" y="553575"/>
            <a:ext cx="3089864" cy="4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5474175" y="2541475"/>
            <a:ext cx="21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0175" y="4172244"/>
            <a:ext cx="2588988" cy="7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∨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⟶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¬Q												P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												SD 1,3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Q												MP 2,4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Q ∧ 	¬Q											Conj. 3,5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Falso											Eq. 6 </a:t>
            </a:r>
            <a:endParaRPr/>
          </a:p>
        </p:txBody>
      </p:sp>
      <p:pic>
        <p:nvPicPr>
          <p:cNvPr id="204" name="Google Shape;2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470" y="553575"/>
            <a:ext cx="3089864" cy="4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5474175" y="2541475"/>
            <a:ext cx="21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∨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 ⟶ Q											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¬Q												P 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P												SD 1,3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Q												MP 2,4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Q ∧ 	¬Q											Conj. 3,5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Falso											Eq. 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-419"/>
              <a:t>(P </a:t>
            </a:r>
            <a:r>
              <a:rPr lang="es-419"/>
              <a:t>∨ Q) </a:t>
            </a:r>
            <a:r>
              <a:rPr lang="es-419"/>
              <a:t>∧ (</a:t>
            </a:r>
            <a:r>
              <a:rPr lang="es-419"/>
              <a:t>P ⟶ Q</a:t>
            </a:r>
            <a:r>
              <a:rPr lang="es-419"/>
              <a:t>) ⟶ Q							PI 1,2,3,7</a:t>
            </a:r>
            <a:endParaRPr/>
          </a:p>
        </p:txBody>
      </p:sp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470" y="553575"/>
            <a:ext cx="3089864" cy="4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5474175" y="2541475"/>
            <a:ext cx="21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 tener en cuenta…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 </a:t>
            </a:r>
            <a:r>
              <a:rPr b="1" lang="es-419"/>
              <a:t>muy </a:t>
            </a:r>
            <a:r>
              <a:rPr lang="es-419"/>
              <a:t>importante que en cada paso de nuestra prueba aclaremos de </a:t>
            </a:r>
            <a:r>
              <a:rPr lang="es-419" u="sng"/>
              <a:t>dónde</a:t>
            </a:r>
            <a:r>
              <a:rPr lang="es-419"/>
              <a:t> y </a:t>
            </a:r>
            <a:r>
              <a:rPr lang="es-419" u="sng"/>
              <a:t>cómo</a:t>
            </a:r>
            <a:r>
              <a:rPr lang="es-419"/>
              <a:t> obtenemos cada fbf.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Puede haber más de una forma correcta de realizar una prueba, todo depende de las tautologías que utilicemos.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Además, la subprueba se usa en pruebas que no utilizan PI.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1"/>
          <p:cNvSpPr txBox="1"/>
          <p:nvPr/>
        </p:nvSpPr>
        <p:spPr>
          <a:xfrm>
            <a:off x="5474175" y="2541475"/>
            <a:ext cx="211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31"/>
          <p:cNvSpPr txBox="1"/>
          <p:nvPr>
            <p:ph type="title"/>
          </p:nvPr>
        </p:nvSpPr>
        <p:spPr>
          <a:xfrm>
            <a:off x="311700" y="35171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</a:t>
            </a:r>
            <a:endParaRPr/>
          </a:p>
        </p:txBody>
      </p:sp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311700" y="4058125"/>
            <a:ext cx="87879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Realizar una </a:t>
            </a:r>
            <a:r>
              <a:rPr lang="es-419" u="sng"/>
              <a:t>prueba usando PI del ejercicio 1</a:t>
            </a:r>
            <a:r>
              <a:rPr lang="es-419"/>
              <a:t> y una </a:t>
            </a:r>
            <a:r>
              <a:rPr lang="es-419" u="sng"/>
              <a:t>prueba sin usar PI del ejercicio 2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