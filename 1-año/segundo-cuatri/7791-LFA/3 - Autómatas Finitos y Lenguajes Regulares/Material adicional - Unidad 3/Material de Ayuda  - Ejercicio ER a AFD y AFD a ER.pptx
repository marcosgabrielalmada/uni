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258262-8B09-410E-975E-8F85A8B49DA9}">
  <a:tblStyle styleId="{D6258262-8B09-410E-975E-8F85A8B49D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e9319f4f0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e9319f4f0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e9319f4f0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e9319f4f0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02d77e3f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02d77e3f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2d77e3f1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02d77e3f1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02d77e3f1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02d77e3f1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02d77e3f1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02d77e3f1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02d77e3f1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02d77e3f1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e9319f4f0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e9319f4f0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02d77e3f1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02d77e3f1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e9319f4f0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e9319f4f0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e9319f4f0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e9319f4f0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e9319f4f07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e9319f4f0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e9319f4f07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e9319f4f07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02d77e3f1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02d77e3f1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e9319f4f07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e9319f4f07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02d77e3f17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02d77e3f17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e9319f4f0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e9319f4f0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e931d53814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e931d5381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02d77e3f1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02d77e3f1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02d77e3f17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02d77e3f17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02d77e3f1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02d77e3f1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02d77e3f1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02d77e3f1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02d77e3f17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02d77e3f17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e931d53814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e931d53814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59950"/>
            <a:ext cx="8520600" cy="163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/>
              <a:t>Ejercicio: ER → AFD y viceversa</a:t>
            </a:r>
            <a:endParaRPr sz="4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Lenguajes Formales y </a:t>
            </a:r>
            <a:r>
              <a:rPr lang="es"/>
              <a:t>Autómatas - Diego Orbe</a:t>
            </a:r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310925" y="2748850"/>
            <a:ext cx="85293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9275" y="41425"/>
            <a:ext cx="89553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Enunciado 1: Dada la siguiente expresion regular </a:t>
            </a:r>
            <a:r>
              <a:rPr b="1" lang="es" sz="1700">
                <a:solidFill>
                  <a:schemeClr val="dk1"/>
                </a:solidFill>
              </a:rPr>
              <a:t>E = </a:t>
            </a:r>
            <a:r>
              <a:rPr b="1" i="1" lang="es" sz="1700">
                <a:solidFill>
                  <a:schemeClr val="dk1"/>
                </a:solidFill>
              </a:rPr>
              <a:t>(0 + (11)*)*</a:t>
            </a:r>
            <a:r>
              <a:rPr lang="es" sz="1700">
                <a:solidFill>
                  <a:schemeClr val="dk1"/>
                </a:solidFill>
              </a:rPr>
              <a:t>, encontrar un Autómata Finito que reconozca el lenguaje L(E).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4350" y="1133350"/>
            <a:ext cx="89553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Alternativa 1 - </a:t>
            </a:r>
            <a:r>
              <a:rPr b="1" i="1" lang="es" sz="1700">
                <a:solidFill>
                  <a:schemeClr val="dk1"/>
                </a:solidFill>
              </a:rPr>
              <a:t>Estrategia a usar: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Armar </a:t>
            </a:r>
            <a:r>
              <a:rPr lang="es" sz="1700">
                <a:solidFill>
                  <a:schemeClr val="dk1"/>
                </a:solidFill>
              </a:rPr>
              <a:t>Autómatas</a:t>
            </a:r>
            <a:r>
              <a:rPr lang="es" sz="1700">
                <a:solidFill>
                  <a:schemeClr val="dk1"/>
                </a:solidFill>
              </a:rPr>
              <a:t> Parciales y componer en base a las operaciones.</a:t>
            </a:r>
            <a:r>
              <a:rPr i="1" lang="es" sz="1700">
                <a:solidFill>
                  <a:schemeClr val="dk1"/>
                </a:solidFill>
              </a:rPr>
              <a:t> </a:t>
            </a:r>
            <a:endParaRPr i="1" sz="17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026925" y="17672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(0 + (11)*)</a:t>
            </a:r>
            <a:r>
              <a:rPr b="1" lang="es" sz="1700">
                <a:solidFill>
                  <a:srgbClr val="FF0000"/>
                </a:solidFill>
              </a:rPr>
              <a:t>*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026925" y="25717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0 </a:t>
            </a:r>
            <a:r>
              <a:rPr lang="es" sz="1700">
                <a:solidFill>
                  <a:srgbClr val="FF0000"/>
                </a:solidFill>
              </a:rPr>
              <a:t>+</a:t>
            </a:r>
            <a:r>
              <a:rPr lang="es" sz="1700">
                <a:solidFill>
                  <a:schemeClr val="dk1"/>
                </a:solidFill>
              </a:rPr>
              <a:t> (11)*</a:t>
            </a:r>
            <a:endParaRPr/>
          </a:p>
        </p:txBody>
      </p:sp>
      <p:cxnSp>
        <p:nvCxnSpPr>
          <p:cNvPr id="65" name="Google Shape;65;p14"/>
          <p:cNvCxnSpPr>
            <a:stCxn id="63" idx="2"/>
            <a:endCxn id="64" idx="0"/>
          </p:cNvCxnSpPr>
          <p:nvPr/>
        </p:nvCxnSpPr>
        <p:spPr>
          <a:xfrm>
            <a:off x="4526925" y="2213650"/>
            <a:ext cx="0" cy="35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14"/>
          <p:cNvSpPr txBox="1"/>
          <p:nvPr/>
        </p:nvSpPr>
        <p:spPr>
          <a:xfrm>
            <a:off x="4572000" y="2253650"/>
            <a:ext cx="414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7" name="Google Shape;67;p14"/>
          <p:cNvCxnSpPr>
            <a:stCxn id="64" idx="2"/>
            <a:endCxn id="68" idx="0"/>
          </p:cNvCxnSpPr>
          <p:nvPr/>
        </p:nvCxnSpPr>
        <p:spPr>
          <a:xfrm flipH="1">
            <a:off x="3869325" y="3018150"/>
            <a:ext cx="657600" cy="24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4"/>
          <p:cNvSpPr txBox="1"/>
          <p:nvPr/>
        </p:nvSpPr>
        <p:spPr>
          <a:xfrm>
            <a:off x="3457000" y="3267000"/>
            <a:ext cx="82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0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4762950" y="3267000"/>
            <a:ext cx="82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(</a:t>
            </a:r>
            <a:r>
              <a:rPr lang="es" sz="1700">
                <a:solidFill>
                  <a:schemeClr val="dk1"/>
                </a:solidFill>
              </a:rPr>
              <a:t>11</a:t>
            </a:r>
            <a:r>
              <a:rPr lang="es" sz="1700">
                <a:solidFill>
                  <a:schemeClr val="dk1"/>
                </a:solidFill>
              </a:rPr>
              <a:t>)</a:t>
            </a:r>
            <a:r>
              <a:rPr lang="es" sz="1700">
                <a:solidFill>
                  <a:srgbClr val="FF0000"/>
                </a:solidFill>
              </a:rPr>
              <a:t>*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70" name="Google Shape;70;p14"/>
          <p:cNvCxnSpPr>
            <a:stCxn id="69" idx="0"/>
            <a:endCxn id="64" idx="2"/>
          </p:cNvCxnSpPr>
          <p:nvPr/>
        </p:nvCxnSpPr>
        <p:spPr>
          <a:xfrm rot="10800000">
            <a:off x="4527000" y="3018000"/>
            <a:ext cx="648300" cy="24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4"/>
          <p:cNvCxnSpPr>
            <a:stCxn id="69" idx="2"/>
            <a:endCxn id="72" idx="0"/>
          </p:cNvCxnSpPr>
          <p:nvPr/>
        </p:nvCxnSpPr>
        <p:spPr>
          <a:xfrm>
            <a:off x="5175300" y="3713400"/>
            <a:ext cx="600" cy="31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4"/>
          <p:cNvSpPr txBox="1"/>
          <p:nvPr/>
        </p:nvSpPr>
        <p:spPr>
          <a:xfrm>
            <a:off x="5131525" y="3733400"/>
            <a:ext cx="414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919550" y="4031500"/>
            <a:ext cx="51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11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4388225" y="2942550"/>
            <a:ext cx="26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+</a:t>
            </a:r>
            <a:endParaRPr/>
          </a:p>
        </p:txBody>
      </p:sp>
      <p:cxnSp>
        <p:nvCxnSpPr>
          <p:cNvPr id="75" name="Google Shape;75;p14"/>
          <p:cNvCxnSpPr/>
          <p:nvPr/>
        </p:nvCxnSpPr>
        <p:spPr>
          <a:xfrm flipH="1">
            <a:off x="4522913" y="4453025"/>
            <a:ext cx="657600" cy="24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4"/>
          <p:cNvCxnSpPr/>
          <p:nvPr/>
        </p:nvCxnSpPr>
        <p:spPr>
          <a:xfrm rot="10800000">
            <a:off x="5180588" y="4452875"/>
            <a:ext cx="648300" cy="24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4"/>
          <p:cNvSpPr txBox="1"/>
          <p:nvPr/>
        </p:nvSpPr>
        <p:spPr>
          <a:xfrm>
            <a:off x="5079175" y="4377425"/>
            <a:ext cx="26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⋅</a:t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4281700" y="4637700"/>
            <a:ext cx="31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1</a:t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5828975" y="4637700"/>
            <a:ext cx="31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1</a:t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3120600" y="2085600"/>
            <a:ext cx="512700" cy="2809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1231100" y="3083775"/>
            <a:ext cx="198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Armamos y Componemos</a:t>
            </a:r>
            <a:endParaRPr i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/>
        </p:nvSpPr>
        <p:spPr>
          <a:xfrm>
            <a:off x="49275" y="41425"/>
            <a:ext cx="89553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Enunciado 1: Dada la siguiente expresion regular E = </a:t>
            </a:r>
            <a:r>
              <a:rPr i="1" lang="es" sz="1700">
                <a:solidFill>
                  <a:schemeClr val="dk1"/>
                </a:solidFill>
              </a:rPr>
              <a:t>(0 + (11)*)*</a:t>
            </a:r>
            <a:r>
              <a:rPr lang="es" sz="1700">
                <a:solidFill>
                  <a:schemeClr val="dk1"/>
                </a:solidFill>
              </a:rPr>
              <a:t>, encontrar un </a:t>
            </a:r>
            <a:r>
              <a:rPr lang="es" sz="1700">
                <a:solidFill>
                  <a:schemeClr val="dk1"/>
                </a:solidFill>
              </a:rPr>
              <a:t>Autómata</a:t>
            </a:r>
            <a:r>
              <a:rPr lang="es" sz="1700">
                <a:solidFill>
                  <a:schemeClr val="dk1"/>
                </a:solidFill>
              </a:rPr>
              <a:t> Finito que reconozca el lenguaje L(E).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825" y="1169687"/>
            <a:ext cx="3057200" cy="106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825" y="2672038"/>
            <a:ext cx="3057200" cy="1081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7425" y="1088100"/>
            <a:ext cx="3088525" cy="142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825" y="4283625"/>
            <a:ext cx="4081826" cy="73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74600" y="2937550"/>
            <a:ext cx="3193850" cy="183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/>
        </p:nvSpPr>
        <p:spPr>
          <a:xfrm>
            <a:off x="423825" y="821150"/>
            <a:ext cx="24903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Para λ: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423825" y="2340563"/>
            <a:ext cx="24903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Para a ∈ ∑: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423825" y="3900725"/>
            <a:ext cx="32259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Para R ⋅ S (donde R y S son ER)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237425" y="705375"/>
            <a:ext cx="30885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Para (R + S) (Donde R y S son ER)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5274600" y="2556075"/>
            <a:ext cx="39234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Para R* (Donde R es ER)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6"/>
          <p:cNvGrpSpPr/>
          <p:nvPr/>
        </p:nvGrpSpPr>
        <p:grpSpPr>
          <a:xfrm>
            <a:off x="6797114" y="94576"/>
            <a:ext cx="2346881" cy="2841765"/>
            <a:chOff x="5982000" y="52750"/>
            <a:chExt cx="3117950" cy="3405350"/>
          </a:xfrm>
        </p:grpSpPr>
        <p:sp>
          <p:nvSpPr>
            <p:cNvPr id="102" name="Google Shape;102;p16"/>
            <p:cNvSpPr txBox="1"/>
            <p:nvPr/>
          </p:nvSpPr>
          <p:spPr>
            <a:xfrm>
              <a:off x="5982000" y="52750"/>
              <a:ext cx="3000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1"/>
                  </a:solidFill>
                </a:rPr>
                <a:t>(0 + (11)*)</a:t>
              </a:r>
              <a:r>
                <a:rPr b="1" lang="es" sz="1700">
                  <a:solidFill>
                    <a:srgbClr val="FF0000"/>
                  </a:solidFill>
                </a:rPr>
                <a:t>*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5982000" y="857250"/>
              <a:ext cx="3000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1"/>
                  </a:solidFill>
                </a:rPr>
                <a:t>0 </a:t>
              </a:r>
              <a:r>
                <a:rPr lang="es" sz="1700">
                  <a:solidFill>
                    <a:srgbClr val="FF0000"/>
                  </a:solidFill>
                </a:rPr>
                <a:t>+</a:t>
              </a:r>
              <a:r>
                <a:rPr lang="es" sz="1700">
                  <a:solidFill>
                    <a:schemeClr val="dk1"/>
                  </a:solidFill>
                </a:rPr>
                <a:t> (11)*</a:t>
              </a:r>
              <a:endParaRPr/>
            </a:p>
          </p:txBody>
        </p:sp>
        <p:cxnSp>
          <p:nvCxnSpPr>
            <p:cNvPr id="104" name="Google Shape;104;p16"/>
            <p:cNvCxnSpPr>
              <a:stCxn id="102" idx="2"/>
              <a:endCxn id="103" idx="0"/>
            </p:cNvCxnSpPr>
            <p:nvPr/>
          </p:nvCxnSpPr>
          <p:spPr>
            <a:xfrm>
              <a:off x="7482000" y="587650"/>
              <a:ext cx="0" cy="269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16"/>
            <p:cNvSpPr txBox="1"/>
            <p:nvPr/>
          </p:nvSpPr>
          <p:spPr>
            <a:xfrm>
              <a:off x="7527075" y="539150"/>
              <a:ext cx="4140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*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106" name="Google Shape;106;p16"/>
            <p:cNvCxnSpPr>
              <a:stCxn id="103" idx="2"/>
              <a:endCxn id="107" idx="0"/>
            </p:cNvCxnSpPr>
            <p:nvPr/>
          </p:nvCxnSpPr>
          <p:spPr>
            <a:xfrm flipH="1">
              <a:off x="6824400" y="1392150"/>
              <a:ext cx="657600" cy="160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" name="Google Shape;107;p16"/>
            <p:cNvSpPr txBox="1"/>
            <p:nvPr/>
          </p:nvSpPr>
          <p:spPr>
            <a:xfrm>
              <a:off x="6412075" y="1552500"/>
              <a:ext cx="824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0</a:t>
              </a:r>
              <a:endParaRPr u="sng">
                <a:solidFill>
                  <a:schemeClr val="accent1"/>
                </a:solidFill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7718025" y="1552500"/>
              <a:ext cx="824700" cy="5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>
                  <a:solidFill>
                    <a:schemeClr val="dk1"/>
                  </a:solidFill>
                </a:rPr>
                <a:t>(11)</a:t>
              </a:r>
              <a:r>
                <a:rPr lang="es" sz="1600">
                  <a:solidFill>
                    <a:srgbClr val="FF0000"/>
                  </a:solidFill>
                </a:rPr>
                <a:t>*</a:t>
              </a:r>
              <a:endParaRPr sz="1300">
                <a:solidFill>
                  <a:srgbClr val="FF0000"/>
                </a:solidFill>
              </a:endParaRPr>
            </a:p>
          </p:txBody>
        </p:sp>
        <p:cxnSp>
          <p:nvCxnSpPr>
            <p:cNvPr id="109" name="Google Shape;109;p16"/>
            <p:cNvCxnSpPr>
              <a:stCxn id="108" idx="0"/>
              <a:endCxn id="103" idx="2"/>
            </p:cNvCxnSpPr>
            <p:nvPr/>
          </p:nvCxnSpPr>
          <p:spPr>
            <a:xfrm rot="10800000">
              <a:off x="7482075" y="1392000"/>
              <a:ext cx="648300" cy="160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" name="Google Shape;110;p16"/>
            <p:cNvCxnSpPr>
              <a:stCxn id="108" idx="2"/>
              <a:endCxn id="111" idx="0"/>
            </p:cNvCxnSpPr>
            <p:nvPr/>
          </p:nvCxnSpPr>
          <p:spPr>
            <a:xfrm>
              <a:off x="8130375" y="2068800"/>
              <a:ext cx="600" cy="24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" name="Google Shape;112;p16"/>
            <p:cNvSpPr txBox="1"/>
            <p:nvPr/>
          </p:nvSpPr>
          <p:spPr>
            <a:xfrm>
              <a:off x="8086600" y="2018900"/>
              <a:ext cx="4140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*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7874625" y="2317000"/>
              <a:ext cx="5127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</a:rPr>
                <a:t>11</a:t>
              </a:r>
              <a:endParaRPr sz="1200"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7260614" y="1294856"/>
              <a:ext cx="2682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cxnSp>
          <p:nvCxnSpPr>
            <p:cNvPr id="114" name="Google Shape;114;p16"/>
            <p:cNvCxnSpPr/>
            <p:nvPr/>
          </p:nvCxnSpPr>
          <p:spPr>
            <a:xfrm flipH="1">
              <a:off x="7477988" y="2738525"/>
              <a:ext cx="6576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" name="Google Shape;115;p16"/>
            <p:cNvCxnSpPr/>
            <p:nvPr/>
          </p:nvCxnSpPr>
          <p:spPr>
            <a:xfrm rot="10800000">
              <a:off x="8135663" y="2738375"/>
              <a:ext cx="6483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" name="Google Shape;116;p16"/>
            <p:cNvSpPr txBox="1"/>
            <p:nvPr/>
          </p:nvSpPr>
          <p:spPr>
            <a:xfrm>
              <a:off x="7996270" y="2623320"/>
              <a:ext cx="2682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⋅</a:t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7236775" y="2923200"/>
              <a:ext cx="31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1</a:t>
              </a:r>
              <a:endParaRPr u="sng">
                <a:solidFill>
                  <a:schemeClr val="accent1"/>
                </a:solidFill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8784050" y="2923200"/>
              <a:ext cx="31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1</a:t>
              </a:r>
              <a:endParaRPr u="sng">
                <a:solidFill>
                  <a:schemeClr val="accent1"/>
                </a:solidFill>
              </a:endParaRPr>
            </a:p>
          </p:txBody>
        </p:sp>
      </p:grpSp>
      <p:pic>
        <p:nvPicPr>
          <p:cNvPr id="119" name="Google Shape;11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200" y="581875"/>
            <a:ext cx="3639000" cy="104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18450" y="94575"/>
            <a:ext cx="2118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AF para 0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750" y="2239400"/>
            <a:ext cx="357187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81200" y="1803800"/>
            <a:ext cx="2118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AF para 1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7"/>
          <p:cNvGrpSpPr/>
          <p:nvPr/>
        </p:nvGrpSpPr>
        <p:grpSpPr>
          <a:xfrm>
            <a:off x="6797114" y="94576"/>
            <a:ext cx="2346881" cy="2841765"/>
            <a:chOff x="5982000" y="52750"/>
            <a:chExt cx="3117950" cy="3405350"/>
          </a:xfrm>
        </p:grpSpPr>
        <p:sp>
          <p:nvSpPr>
            <p:cNvPr id="128" name="Google Shape;128;p17"/>
            <p:cNvSpPr txBox="1"/>
            <p:nvPr/>
          </p:nvSpPr>
          <p:spPr>
            <a:xfrm>
              <a:off x="5982000" y="52750"/>
              <a:ext cx="3000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1"/>
                  </a:solidFill>
                </a:rPr>
                <a:t>(0 + (11)*)</a:t>
              </a:r>
              <a:r>
                <a:rPr b="1" lang="es" sz="1700">
                  <a:solidFill>
                    <a:srgbClr val="FF0000"/>
                  </a:solidFill>
                </a:rPr>
                <a:t>*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5982000" y="857250"/>
              <a:ext cx="3000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1"/>
                  </a:solidFill>
                </a:rPr>
                <a:t>0 </a:t>
              </a:r>
              <a:r>
                <a:rPr lang="es" sz="1700">
                  <a:solidFill>
                    <a:srgbClr val="FF0000"/>
                  </a:solidFill>
                </a:rPr>
                <a:t>+</a:t>
              </a:r>
              <a:r>
                <a:rPr lang="es" sz="1700">
                  <a:solidFill>
                    <a:schemeClr val="dk1"/>
                  </a:solidFill>
                </a:rPr>
                <a:t> (11)*</a:t>
              </a:r>
              <a:endParaRPr/>
            </a:p>
          </p:txBody>
        </p:sp>
        <p:cxnSp>
          <p:nvCxnSpPr>
            <p:cNvPr id="130" name="Google Shape;130;p17"/>
            <p:cNvCxnSpPr>
              <a:stCxn id="128" idx="2"/>
              <a:endCxn id="129" idx="0"/>
            </p:cNvCxnSpPr>
            <p:nvPr/>
          </p:nvCxnSpPr>
          <p:spPr>
            <a:xfrm>
              <a:off x="7482000" y="587650"/>
              <a:ext cx="0" cy="269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" name="Google Shape;131;p17"/>
            <p:cNvSpPr txBox="1"/>
            <p:nvPr/>
          </p:nvSpPr>
          <p:spPr>
            <a:xfrm>
              <a:off x="7527075" y="539150"/>
              <a:ext cx="4140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*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132" name="Google Shape;132;p17"/>
            <p:cNvCxnSpPr>
              <a:stCxn id="129" idx="2"/>
              <a:endCxn id="133" idx="0"/>
            </p:cNvCxnSpPr>
            <p:nvPr/>
          </p:nvCxnSpPr>
          <p:spPr>
            <a:xfrm flipH="1">
              <a:off x="6824400" y="1392150"/>
              <a:ext cx="657600" cy="160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" name="Google Shape;133;p17"/>
            <p:cNvSpPr txBox="1"/>
            <p:nvPr/>
          </p:nvSpPr>
          <p:spPr>
            <a:xfrm>
              <a:off x="6412075" y="1552500"/>
              <a:ext cx="824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0</a:t>
              </a:r>
              <a:endParaRPr u="sng">
                <a:solidFill>
                  <a:schemeClr val="accent1"/>
                </a:solidFill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7718025" y="1552500"/>
              <a:ext cx="824700" cy="5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>
                  <a:solidFill>
                    <a:schemeClr val="dk1"/>
                  </a:solidFill>
                </a:rPr>
                <a:t>(11)</a:t>
              </a:r>
              <a:r>
                <a:rPr lang="es" sz="1600">
                  <a:solidFill>
                    <a:srgbClr val="FF0000"/>
                  </a:solidFill>
                </a:rPr>
                <a:t>*</a:t>
              </a:r>
              <a:endParaRPr sz="1300">
                <a:solidFill>
                  <a:srgbClr val="FF0000"/>
                </a:solidFill>
              </a:endParaRPr>
            </a:p>
          </p:txBody>
        </p:sp>
        <p:cxnSp>
          <p:nvCxnSpPr>
            <p:cNvPr id="135" name="Google Shape;135;p17"/>
            <p:cNvCxnSpPr>
              <a:stCxn id="134" idx="0"/>
              <a:endCxn id="129" idx="2"/>
            </p:cNvCxnSpPr>
            <p:nvPr/>
          </p:nvCxnSpPr>
          <p:spPr>
            <a:xfrm rot="10800000">
              <a:off x="7482075" y="1392000"/>
              <a:ext cx="648300" cy="160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17"/>
            <p:cNvCxnSpPr>
              <a:stCxn id="134" idx="2"/>
              <a:endCxn id="137" idx="0"/>
            </p:cNvCxnSpPr>
            <p:nvPr/>
          </p:nvCxnSpPr>
          <p:spPr>
            <a:xfrm>
              <a:off x="8130375" y="2068800"/>
              <a:ext cx="600" cy="24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" name="Google Shape;138;p17"/>
            <p:cNvSpPr txBox="1"/>
            <p:nvPr/>
          </p:nvSpPr>
          <p:spPr>
            <a:xfrm>
              <a:off x="8086600" y="2018900"/>
              <a:ext cx="4140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*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7874625" y="2317000"/>
              <a:ext cx="5127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 u="sng">
                  <a:solidFill>
                    <a:schemeClr val="accent1"/>
                  </a:solidFill>
                </a:rPr>
                <a:t>11</a:t>
              </a:r>
              <a:endParaRPr sz="1200" u="sng">
                <a:solidFill>
                  <a:schemeClr val="accent1"/>
                </a:solidFill>
              </a:endParaRPr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7260614" y="1294856"/>
              <a:ext cx="2682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cxnSp>
          <p:nvCxnSpPr>
            <p:cNvPr id="140" name="Google Shape;140;p17"/>
            <p:cNvCxnSpPr/>
            <p:nvPr/>
          </p:nvCxnSpPr>
          <p:spPr>
            <a:xfrm flipH="1">
              <a:off x="7477988" y="2738525"/>
              <a:ext cx="6576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17"/>
            <p:cNvCxnSpPr/>
            <p:nvPr/>
          </p:nvCxnSpPr>
          <p:spPr>
            <a:xfrm rot="10800000">
              <a:off x="8135663" y="2738375"/>
              <a:ext cx="6483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" name="Google Shape;142;p17"/>
            <p:cNvSpPr txBox="1"/>
            <p:nvPr/>
          </p:nvSpPr>
          <p:spPr>
            <a:xfrm>
              <a:off x="7996270" y="2623320"/>
              <a:ext cx="2682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⋅</a:t>
              </a:r>
              <a:endParaRPr/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7236775" y="2923200"/>
              <a:ext cx="31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1</a:t>
              </a:r>
              <a:endParaRPr u="sng">
                <a:solidFill>
                  <a:schemeClr val="accent1"/>
                </a:solidFill>
              </a:endParaRPr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8784050" y="2923200"/>
              <a:ext cx="31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1</a:t>
              </a:r>
              <a:endParaRPr u="sng">
                <a:solidFill>
                  <a:schemeClr val="accent1"/>
                </a:solidFill>
              </a:endParaRPr>
            </a:p>
          </p:txBody>
        </p:sp>
      </p:grpSp>
      <p:pic>
        <p:nvPicPr>
          <p:cNvPr id="145" name="Google Shape;14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50" y="530175"/>
            <a:ext cx="3639000" cy="104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139375" y="94575"/>
            <a:ext cx="2118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AF para 0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209050" y="1741075"/>
            <a:ext cx="2118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AF para 11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050" y="2259348"/>
            <a:ext cx="4614750" cy="93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/>
          <p:nvPr/>
        </p:nvSpPr>
        <p:spPr>
          <a:xfrm>
            <a:off x="432100" y="2348725"/>
            <a:ext cx="1896000" cy="794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2884450" y="2348725"/>
            <a:ext cx="1896000" cy="794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8"/>
          <p:cNvGrpSpPr/>
          <p:nvPr/>
        </p:nvGrpSpPr>
        <p:grpSpPr>
          <a:xfrm>
            <a:off x="6797114" y="94576"/>
            <a:ext cx="2346881" cy="2841765"/>
            <a:chOff x="5982000" y="52750"/>
            <a:chExt cx="3117950" cy="3405350"/>
          </a:xfrm>
        </p:grpSpPr>
        <p:sp>
          <p:nvSpPr>
            <p:cNvPr id="156" name="Google Shape;156;p18"/>
            <p:cNvSpPr txBox="1"/>
            <p:nvPr/>
          </p:nvSpPr>
          <p:spPr>
            <a:xfrm>
              <a:off x="5982000" y="52750"/>
              <a:ext cx="3000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1"/>
                  </a:solidFill>
                </a:rPr>
                <a:t>(0 + (11)*)</a:t>
              </a:r>
              <a:r>
                <a:rPr b="1" lang="es" sz="1700">
                  <a:solidFill>
                    <a:srgbClr val="FF0000"/>
                  </a:solidFill>
                </a:rPr>
                <a:t>*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5982000" y="857250"/>
              <a:ext cx="3000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1"/>
                  </a:solidFill>
                </a:rPr>
                <a:t>0 </a:t>
              </a:r>
              <a:r>
                <a:rPr lang="es" sz="1700">
                  <a:solidFill>
                    <a:srgbClr val="FF0000"/>
                  </a:solidFill>
                </a:rPr>
                <a:t>+</a:t>
              </a:r>
              <a:r>
                <a:rPr lang="es" sz="1700">
                  <a:solidFill>
                    <a:schemeClr val="dk1"/>
                  </a:solidFill>
                </a:rPr>
                <a:t> (11)*</a:t>
              </a:r>
              <a:endParaRPr/>
            </a:p>
          </p:txBody>
        </p:sp>
        <p:cxnSp>
          <p:nvCxnSpPr>
            <p:cNvPr id="158" name="Google Shape;158;p18"/>
            <p:cNvCxnSpPr>
              <a:stCxn id="156" idx="2"/>
              <a:endCxn id="157" idx="0"/>
            </p:cNvCxnSpPr>
            <p:nvPr/>
          </p:nvCxnSpPr>
          <p:spPr>
            <a:xfrm>
              <a:off x="7482000" y="587650"/>
              <a:ext cx="0" cy="269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" name="Google Shape;159;p18"/>
            <p:cNvSpPr txBox="1"/>
            <p:nvPr/>
          </p:nvSpPr>
          <p:spPr>
            <a:xfrm>
              <a:off x="7527075" y="539150"/>
              <a:ext cx="4140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*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160" name="Google Shape;160;p18"/>
            <p:cNvCxnSpPr>
              <a:stCxn id="157" idx="2"/>
              <a:endCxn id="161" idx="0"/>
            </p:cNvCxnSpPr>
            <p:nvPr/>
          </p:nvCxnSpPr>
          <p:spPr>
            <a:xfrm flipH="1">
              <a:off x="6824400" y="1392150"/>
              <a:ext cx="657600" cy="160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1" name="Google Shape;161;p18"/>
            <p:cNvSpPr txBox="1"/>
            <p:nvPr/>
          </p:nvSpPr>
          <p:spPr>
            <a:xfrm>
              <a:off x="6412075" y="1552500"/>
              <a:ext cx="824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0</a:t>
              </a:r>
              <a:endParaRPr u="sng">
                <a:solidFill>
                  <a:schemeClr val="accent1"/>
                </a:solidFill>
              </a:endParaRPr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7718623" y="1596419"/>
              <a:ext cx="824700" cy="5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 u="sng">
                  <a:solidFill>
                    <a:schemeClr val="accent1"/>
                  </a:solidFill>
                </a:rPr>
                <a:t>(11)</a:t>
              </a:r>
              <a:r>
                <a:rPr lang="es" sz="1600" u="sng">
                  <a:solidFill>
                    <a:schemeClr val="accent1"/>
                  </a:solidFill>
                </a:rPr>
                <a:t>*</a:t>
              </a:r>
              <a:endParaRPr sz="1300" u="sng">
                <a:solidFill>
                  <a:schemeClr val="accent1"/>
                </a:solidFill>
              </a:endParaRPr>
            </a:p>
          </p:txBody>
        </p:sp>
        <p:cxnSp>
          <p:nvCxnSpPr>
            <p:cNvPr id="163" name="Google Shape;163;p18"/>
            <p:cNvCxnSpPr>
              <a:stCxn id="162" idx="0"/>
              <a:endCxn id="157" idx="2"/>
            </p:cNvCxnSpPr>
            <p:nvPr/>
          </p:nvCxnSpPr>
          <p:spPr>
            <a:xfrm rot="10800000">
              <a:off x="7482073" y="1392119"/>
              <a:ext cx="648900" cy="20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18"/>
            <p:cNvCxnSpPr>
              <a:stCxn id="162" idx="2"/>
              <a:endCxn id="165" idx="0"/>
            </p:cNvCxnSpPr>
            <p:nvPr/>
          </p:nvCxnSpPr>
          <p:spPr>
            <a:xfrm>
              <a:off x="8130973" y="2112719"/>
              <a:ext cx="0" cy="20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6" name="Google Shape;166;p18"/>
            <p:cNvSpPr txBox="1"/>
            <p:nvPr/>
          </p:nvSpPr>
          <p:spPr>
            <a:xfrm>
              <a:off x="8086600" y="2018900"/>
              <a:ext cx="4140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*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7874625" y="2317000"/>
              <a:ext cx="5127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 u="sng">
                  <a:solidFill>
                    <a:schemeClr val="accent1"/>
                  </a:solidFill>
                </a:rPr>
                <a:t>11</a:t>
              </a:r>
              <a:endParaRPr sz="1200" u="sng">
                <a:solidFill>
                  <a:schemeClr val="accent1"/>
                </a:solidFill>
              </a:endParaRPr>
            </a:p>
          </p:txBody>
        </p:sp>
        <p:sp>
          <p:nvSpPr>
            <p:cNvPr id="167" name="Google Shape;167;p18"/>
            <p:cNvSpPr txBox="1"/>
            <p:nvPr/>
          </p:nvSpPr>
          <p:spPr>
            <a:xfrm>
              <a:off x="7260614" y="1294856"/>
              <a:ext cx="2682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cxnSp>
          <p:nvCxnSpPr>
            <p:cNvPr id="168" name="Google Shape;168;p18"/>
            <p:cNvCxnSpPr/>
            <p:nvPr/>
          </p:nvCxnSpPr>
          <p:spPr>
            <a:xfrm flipH="1">
              <a:off x="7477988" y="2738525"/>
              <a:ext cx="6576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18"/>
            <p:cNvCxnSpPr/>
            <p:nvPr/>
          </p:nvCxnSpPr>
          <p:spPr>
            <a:xfrm rot="10800000">
              <a:off x="8135663" y="2738375"/>
              <a:ext cx="6483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" name="Google Shape;170;p18"/>
            <p:cNvSpPr txBox="1"/>
            <p:nvPr/>
          </p:nvSpPr>
          <p:spPr>
            <a:xfrm>
              <a:off x="7996270" y="2623320"/>
              <a:ext cx="2682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⋅</a:t>
              </a:r>
              <a:endParaRPr/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7236775" y="2923200"/>
              <a:ext cx="31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1</a:t>
              </a:r>
              <a:endParaRPr u="sng">
                <a:solidFill>
                  <a:schemeClr val="accent1"/>
                </a:solidFill>
              </a:endParaRP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8784050" y="2923200"/>
              <a:ext cx="31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1</a:t>
              </a:r>
              <a:endParaRPr u="sng">
                <a:solidFill>
                  <a:schemeClr val="accent1"/>
                </a:solidFill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685950"/>
            <a:ext cx="3639000" cy="104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228600" y="76200"/>
            <a:ext cx="2118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AF para 0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228600" y="1911013"/>
            <a:ext cx="2118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AF para (11)*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2419175"/>
            <a:ext cx="5633675" cy="255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/>
          <p:nvPr/>
        </p:nvSpPr>
        <p:spPr>
          <a:xfrm>
            <a:off x="1282400" y="3373250"/>
            <a:ext cx="3596100" cy="82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19"/>
          <p:cNvGrpSpPr/>
          <p:nvPr/>
        </p:nvGrpSpPr>
        <p:grpSpPr>
          <a:xfrm>
            <a:off x="6797114" y="94576"/>
            <a:ext cx="2346881" cy="2841765"/>
            <a:chOff x="5982000" y="52750"/>
            <a:chExt cx="3117950" cy="3405350"/>
          </a:xfrm>
        </p:grpSpPr>
        <p:sp>
          <p:nvSpPr>
            <p:cNvPr id="183" name="Google Shape;183;p19"/>
            <p:cNvSpPr txBox="1"/>
            <p:nvPr/>
          </p:nvSpPr>
          <p:spPr>
            <a:xfrm>
              <a:off x="5982000" y="52750"/>
              <a:ext cx="3000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solidFill>
                    <a:schemeClr val="dk1"/>
                  </a:solidFill>
                </a:rPr>
                <a:t>(0 + (11)*)</a:t>
              </a:r>
              <a:r>
                <a:rPr b="1" lang="es" sz="1700">
                  <a:solidFill>
                    <a:srgbClr val="FF0000"/>
                  </a:solidFill>
                </a:rPr>
                <a:t>*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5982000" y="857250"/>
              <a:ext cx="3000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0 + (11)*</a:t>
              </a:r>
              <a:endParaRPr u="sng">
                <a:solidFill>
                  <a:schemeClr val="accent1"/>
                </a:solidFill>
              </a:endParaRPr>
            </a:p>
          </p:txBody>
        </p:sp>
        <p:cxnSp>
          <p:nvCxnSpPr>
            <p:cNvPr id="185" name="Google Shape;185;p19"/>
            <p:cNvCxnSpPr>
              <a:stCxn id="183" idx="2"/>
              <a:endCxn id="184" idx="0"/>
            </p:cNvCxnSpPr>
            <p:nvPr/>
          </p:nvCxnSpPr>
          <p:spPr>
            <a:xfrm>
              <a:off x="7482000" y="587650"/>
              <a:ext cx="0" cy="269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6" name="Google Shape;186;p19"/>
            <p:cNvSpPr txBox="1"/>
            <p:nvPr/>
          </p:nvSpPr>
          <p:spPr>
            <a:xfrm>
              <a:off x="7527075" y="539150"/>
              <a:ext cx="4140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*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187" name="Google Shape;187;p19"/>
            <p:cNvCxnSpPr>
              <a:stCxn id="184" idx="2"/>
              <a:endCxn id="188" idx="0"/>
            </p:cNvCxnSpPr>
            <p:nvPr/>
          </p:nvCxnSpPr>
          <p:spPr>
            <a:xfrm flipH="1">
              <a:off x="6824400" y="1392150"/>
              <a:ext cx="657600" cy="160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8" name="Google Shape;188;p19"/>
            <p:cNvSpPr txBox="1"/>
            <p:nvPr/>
          </p:nvSpPr>
          <p:spPr>
            <a:xfrm>
              <a:off x="6412075" y="1552500"/>
              <a:ext cx="824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0</a:t>
              </a:r>
              <a:endParaRPr u="sng">
                <a:solidFill>
                  <a:schemeClr val="accent1"/>
                </a:solidFill>
              </a:endParaRPr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7718623" y="1596419"/>
              <a:ext cx="824700" cy="5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 u="sng">
                  <a:solidFill>
                    <a:schemeClr val="accent1"/>
                  </a:solidFill>
                </a:rPr>
                <a:t>(11)</a:t>
              </a:r>
              <a:r>
                <a:rPr lang="es" sz="1600" u="sng">
                  <a:solidFill>
                    <a:schemeClr val="accent1"/>
                  </a:solidFill>
                </a:rPr>
                <a:t>*</a:t>
              </a:r>
              <a:endParaRPr sz="1300" u="sng">
                <a:solidFill>
                  <a:schemeClr val="accent1"/>
                </a:solidFill>
              </a:endParaRPr>
            </a:p>
          </p:txBody>
        </p:sp>
        <p:cxnSp>
          <p:nvCxnSpPr>
            <p:cNvPr id="190" name="Google Shape;190;p19"/>
            <p:cNvCxnSpPr>
              <a:stCxn id="189" idx="0"/>
              <a:endCxn id="184" idx="2"/>
            </p:cNvCxnSpPr>
            <p:nvPr/>
          </p:nvCxnSpPr>
          <p:spPr>
            <a:xfrm rot="10800000">
              <a:off x="7482073" y="1392119"/>
              <a:ext cx="648900" cy="20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19"/>
            <p:cNvCxnSpPr>
              <a:stCxn id="189" idx="2"/>
              <a:endCxn id="192" idx="0"/>
            </p:cNvCxnSpPr>
            <p:nvPr/>
          </p:nvCxnSpPr>
          <p:spPr>
            <a:xfrm>
              <a:off x="8130973" y="2112719"/>
              <a:ext cx="0" cy="20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3" name="Google Shape;193;p19"/>
            <p:cNvSpPr txBox="1"/>
            <p:nvPr/>
          </p:nvSpPr>
          <p:spPr>
            <a:xfrm>
              <a:off x="8086600" y="2018900"/>
              <a:ext cx="4140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*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7874625" y="2317000"/>
              <a:ext cx="5127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 u="sng">
                  <a:solidFill>
                    <a:schemeClr val="accent1"/>
                  </a:solidFill>
                </a:rPr>
                <a:t>11</a:t>
              </a:r>
              <a:endParaRPr sz="1200" u="sng">
                <a:solidFill>
                  <a:schemeClr val="accent1"/>
                </a:solidFill>
              </a:endParaRPr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7260614" y="1294856"/>
              <a:ext cx="2682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cxnSp>
          <p:nvCxnSpPr>
            <p:cNvPr id="195" name="Google Shape;195;p19"/>
            <p:cNvCxnSpPr/>
            <p:nvPr/>
          </p:nvCxnSpPr>
          <p:spPr>
            <a:xfrm flipH="1">
              <a:off x="7477988" y="2738525"/>
              <a:ext cx="6576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19"/>
            <p:cNvCxnSpPr/>
            <p:nvPr/>
          </p:nvCxnSpPr>
          <p:spPr>
            <a:xfrm rot="10800000">
              <a:off x="8135663" y="2738375"/>
              <a:ext cx="6483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7" name="Google Shape;197;p19"/>
            <p:cNvSpPr txBox="1"/>
            <p:nvPr/>
          </p:nvSpPr>
          <p:spPr>
            <a:xfrm>
              <a:off x="7996270" y="2623320"/>
              <a:ext cx="2682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⋅</a:t>
              </a:r>
              <a:endParaRPr/>
            </a:p>
          </p:txBody>
        </p:sp>
        <p:sp>
          <p:nvSpPr>
            <p:cNvPr id="198" name="Google Shape;198;p19"/>
            <p:cNvSpPr txBox="1"/>
            <p:nvPr/>
          </p:nvSpPr>
          <p:spPr>
            <a:xfrm>
              <a:off x="7236775" y="2923200"/>
              <a:ext cx="31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1</a:t>
              </a:r>
              <a:endParaRPr u="sng">
                <a:solidFill>
                  <a:schemeClr val="accent1"/>
                </a:solidFill>
              </a:endParaRPr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8784050" y="2923200"/>
              <a:ext cx="31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1</a:t>
              </a:r>
              <a:endParaRPr u="sng">
                <a:solidFill>
                  <a:schemeClr val="accent1"/>
                </a:solidFill>
              </a:endParaRPr>
            </a:p>
          </p:txBody>
        </p:sp>
      </p:grpSp>
      <p:sp>
        <p:nvSpPr>
          <p:cNvPr id="200" name="Google Shape;200;p19"/>
          <p:cNvSpPr txBox="1"/>
          <p:nvPr/>
        </p:nvSpPr>
        <p:spPr>
          <a:xfrm>
            <a:off x="228600" y="76200"/>
            <a:ext cx="2118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AF para 0 + (11)*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851" y="633325"/>
            <a:ext cx="6056526" cy="4319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/>
          <p:nvPr/>
        </p:nvSpPr>
        <p:spPr>
          <a:xfrm>
            <a:off x="888708" y="2783400"/>
            <a:ext cx="5495400" cy="213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1864423" y="726475"/>
            <a:ext cx="3188400" cy="76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20"/>
          <p:cNvGrpSpPr/>
          <p:nvPr/>
        </p:nvGrpSpPr>
        <p:grpSpPr>
          <a:xfrm>
            <a:off x="6797114" y="94576"/>
            <a:ext cx="2346881" cy="2841765"/>
            <a:chOff x="5982000" y="52750"/>
            <a:chExt cx="3117950" cy="3405350"/>
          </a:xfrm>
        </p:grpSpPr>
        <p:sp>
          <p:nvSpPr>
            <p:cNvPr id="209" name="Google Shape;209;p20"/>
            <p:cNvSpPr txBox="1"/>
            <p:nvPr/>
          </p:nvSpPr>
          <p:spPr>
            <a:xfrm>
              <a:off x="5982000" y="52750"/>
              <a:ext cx="3000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(0 + (11)*)</a:t>
              </a:r>
              <a:r>
                <a:rPr b="1" lang="es" sz="1700" u="sng">
                  <a:solidFill>
                    <a:schemeClr val="accent1"/>
                  </a:solidFill>
                </a:rPr>
                <a:t>*</a:t>
              </a:r>
              <a:endParaRPr b="1" u="sng">
                <a:solidFill>
                  <a:schemeClr val="accent1"/>
                </a:solidFill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5982000" y="857250"/>
              <a:ext cx="3000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0 + (11)*</a:t>
              </a:r>
              <a:endParaRPr u="sng">
                <a:solidFill>
                  <a:schemeClr val="accent1"/>
                </a:solidFill>
              </a:endParaRPr>
            </a:p>
          </p:txBody>
        </p:sp>
        <p:cxnSp>
          <p:nvCxnSpPr>
            <p:cNvPr id="211" name="Google Shape;211;p20"/>
            <p:cNvCxnSpPr>
              <a:stCxn id="209" idx="2"/>
              <a:endCxn id="210" idx="0"/>
            </p:cNvCxnSpPr>
            <p:nvPr/>
          </p:nvCxnSpPr>
          <p:spPr>
            <a:xfrm>
              <a:off x="7482000" y="587650"/>
              <a:ext cx="0" cy="269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2" name="Google Shape;212;p20"/>
            <p:cNvSpPr txBox="1"/>
            <p:nvPr/>
          </p:nvSpPr>
          <p:spPr>
            <a:xfrm>
              <a:off x="7527075" y="539150"/>
              <a:ext cx="4140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*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213" name="Google Shape;213;p20"/>
            <p:cNvCxnSpPr>
              <a:stCxn id="210" idx="2"/>
              <a:endCxn id="214" idx="0"/>
            </p:cNvCxnSpPr>
            <p:nvPr/>
          </p:nvCxnSpPr>
          <p:spPr>
            <a:xfrm flipH="1">
              <a:off x="6824400" y="1392150"/>
              <a:ext cx="657600" cy="160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4" name="Google Shape;214;p20"/>
            <p:cNvSpPr txBox="1"/>
            <p:nvPr/>
          </p:nvSpPr>
          <p:spPr>
            <a:xfrm>
              <a:off x="6412075" y="1552500"/>
              <a:ext cx="824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0</a:t>
              </a:r>
              <a:endParaRPr u="sng">
                <a:solidFill>
                  <a:schemeClr val="accent1"/>
                </a:solidFill>
              </a:endParaRPr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7718623" y="1596419"/>
              <a:ext cx="824700" cy="5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 u="sng">
                  <a:solidFill>
                    <a:schemeClr val="accent1"/>
                  </a:solidFill>
                </a:rPr>
                <a:t>(11)</a:t>
              </a:r>
              <a:r>
                <a:rPr lang="es" sz="1600" u="sng">
                  <a:solidFill>
                    <a:schemeClr val="accent1"/>
                  </a:solidFill>
                </a:rPr>
                <a:t>*</a:t>
              </a:r>
              <a:endParaRPr sz="1300" u="sng">
                <a:solidFill>
                  <a:schemeClr val="accent1"/>
                </a:solidFill>
              </a:endParaRPr>
            </a:p>
          </p:txBody>
        </p:sp>
        <p:cxnSp>
          <p:nvCxnSpPr>
            <p:cNvPr id="216" name="Google Shape;216;p20"/>
            <p:cNvCxnSpPr>
              <a:stCxn id="215" idx="0"/>
              <a:endCxn id="210" idx="2"/>
            </p:cNvCxnSpPr>
            <p:nvPr/>
          </p:nvCxnSpPr>
          <p:spPr>
            <a:xfrm rot="10800000">
              <a:off x="7482073" y="1392119"/>
              <a:ext cx="648900" cy="20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20"/>
            <p:cNvCxnSpPr>
              <a:stCxn id="215" idx="2"/>
              <a:endCxn id="218" idx="0"/>
            </p:cNvCxnSpPr>
            <p:nvPr/>
          </p:nvCxnSpPr>
          <p:spPr>
            <a:xfrm>
              <a:off x="8130973" y="2112719"/>
              <a:ext cx="0" cy="20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9" name="Google Shape;219;p20"/>
            <p:cNvSpPr txBox="1"/>
            <p:nvPr/>
          </p:nvSpPr>
          <p:spPr>
            <a:xfrm>
              <a:off x="8086600" y="2018900"/>
              <a:ext cx="4140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*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7874625" y="2317000"/>
              <a:ext cx="5127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 u="sng">
                  <a:solidFill>
                    <a:schemeClr val="accent1"/>
                  </a:solidFill>
                </a:rPr>
                <a:t>11</a:t>
              </a:r>
              <a:endParaRPr sz="1200" u="sng">
                <a:solidFill>
                  <a:schemeClr val="accent1"/>
                </a:solidFill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7260614" y="1294856"/>
              <a:ext cx="2682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cxnSp>
          <p:nvCxnSpPr>
            <p:cNvPr id="221" name="Google Shape;221;p20"/>
            <p:cNvCxnSpPr/>
            <p:nvPr/>
          </p:nvCxnSpPr>
          <p:spPr>
            <a:xfrm flipH="1">
              <a:off x="7477988" y="2738525"/>
              <a:ext cx="6576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20"/>
            <p:cNvCxnSpPr/>
            <p:nvPr/>
          </p:nvCxnSpPr>
          <p:spPr>
            <a:xfrm rot="10800000">
              <a:off x="8135663" y="2738375"/>
              <a:ext cx="6483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3" name="Google Shape;223;p20"/>
            <p:cNvSpPr txBox="1"/>
            <p:nvPr/>
          </p:nvSpPr>
          <p:spPr>
            <a:xfrm>
              <a:off x="7996270" y="2623320"/>
              <a:ext cx="2682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⋅</a:t>
              </a:r>
              <a:endParaRPr/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7236775" y="2923200"/>
              <a:ext cx="31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1</a:t>
              </a:r>
              <a:endParaRPr u="sng">
                <a:solidFill>
                  <a:schemeClr val="accent1"/>
                </a:solidFill>
              </a:endParaRPr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8784050" y="2923200"/>
              <a:ext cx="31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 u="sng">
                  <a:solidFill>
                    <a:schemeClr val="accent1"/>
                  </a:solidFill>
                </a:rPr>
                <a:t>1</a:t>
              </a:r>
              <a:endParaRPr u="sng">
                <a:solidFill>
                  <a:schemeClr val="accent1"/>
                </a:solidFill>
              </a:endParaRPr>
            </a:p>
          </p:txBody>
        </p:sp>
      </p:grpSp>
      <p:sp>
        <p:nvSpPr>
          <p:cNvPr id="226" name="Google Shape;226;p20"/>
          <p:cNvSpPr txBox="1"/>
          <p:nvPr/>
        </p:nvSpPr>
        <p:spPr>
          <a:xfrm>
            <a:off x="228600" y="76200"/>
            <a:ext cx="27405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AF para (0 + (11)*)*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27" name="Google Shape;2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500" y="629350"/>
            <a:ext cx="5677200" cy="424897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/>
          <p:nvPr/>
        </p:nvSpPr>
        <p:spPr>
          <a:xfrm>
            <a:off x="1108150" y="1442700"/>
            <a:ext cx="4321200" cy="2174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/>
        </p:nvSpPr>
        <p:spPr>
          <a:xfrm>
            <a:off x="49275" y="41425"/>
            <a:ext cx="89553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Enunciado 1: Dada la siguiente expresion regular E = </a:t>
            </a:r>
            <a:r>
              <a:rPr i="1" lang="es" sz="1700">
                <a:solidFill>
                  <a:schemeClr val="dk1"/>
                </a:solidFill>
              </a:rPr>
              <a:t>(0 + (11)*)*</a:t>
            </a:r>
            <a:r>
              <a:rPr lang="es" sz="1700">
                <a:solidFill>
                  <a:schemeClr val="dk1"/>
                </a:solidFill>
              </a:rPr>
              <a:t>, </a:t>
            </a:r>
            <a:r>
              <a:rPr b="1" lang="es" sz="1700">
                <a:solidFill>
                  <a:schemeClr val="dk1"/>
                </a:solidFill>
              </a:rPr>
              <a:t>encontrar un Autómata Finito que reconozca</a:t>
            </a:r>
            <a:r>
              <a:rPr lang="es" sz="1700">
                <a:solidFill>
                  <a:schemeClr val="dk1"/>
                </a:solidFill>
              </a:rPr>
              <a:t> el lenguaje </a:t>
            </a:r>
            <a:r>
              <a:rPr b="1" lang="es" sz="1700">
                <a:solidFill>
                  <a:schemeClr val="dk1"/>
                </a:solidFill>
              </a:rPr>
              <a:t>L(E)</a:t>
            </a:r>
            <a:r>
              <a:rPr lang="e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94350" y="1040575"/>
            <a:ext cx="89553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Alternativa 2 - </a:t>
            </a:r>
            <a:r>
              <a:rPr b="1" i="1" lang="es" sz="1700">
                <a:solidFill>
                  <a:schemeClr val="dk1"/>
                </a:solidFill>
              </a:rPr>
              <a:t>Estrategia a usar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Identificar qué cadenas pertenecen a L(E),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En base al patrón encontrado, armar el AFD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2543750" y="2665825"/>
            <a:ext cx="4466100" cy="17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Cadenas de L(E):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λ,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0, 11, 1111, 111111, 11111111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0, 0110, 110110, 11011011, 000111101111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/>
        </p:nvSpPr>
        <p:spPr>
          <a:xfrm>
            <a:off x="49275" y="41425"/>
            <a:ext cx="89553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Enunciado 1: Dada la siguiente expresion regular E = </a:t>
            </a:r>
            <a:r>
              <a:rPr i="1" lang="es" sz="1700">
                <a:solidFill>
                  <a:schemeClr val="dk1"/>
                </a:solidFill>
              </a:rPr>
              <a:t>(0 + (11)*)*</a:t>
            </a:r>
            <a:r>
              <a:rPr lang="es" sz="1700">
                <a:solidFill>
                  <a:schemeClr val="dk1"/>
                </a:solidFill>
              </a:rPr>
              <a:t>, </a:t>
            </a:r>
            <a:r>
              <a:rPr b="1" lang="es" sz="1700">
                <a:solidFill>
                  <a:schemeClr val="dk1"/>
                </a:solidFill>
              </a:rPr>
              <a:t>encontrar un Autómata Finito que reconozca</a:t>
            </a:r>
            <a:r>
              <a:rPr lang="es" sz="1700">
                <a:solidFill>
                  <a:schemeClr val="dk1"/>
                </a:solidFill>
              </a:rPr>
              <a:t> el lenguaje </a:t>
            </a:r>
            <a:r>
              <a:rPr b="1" lang="es" sz="1700">
                <a:solidFill>
                  <a:schemeClr val="dk1"/>
                </a:solidFill>
              </a:rPr>
              <a:t>L(E)</a:t>
            </a:r>
            <a:r>
              <a:rPr lang="e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4275075" y="914625"/>
            <a:ext cx="4466100" cy="17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Cadenas de L(E):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λ,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0, 11, 1111, 111111, 11111111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0, 0110, 110110, 11011011, 000111101111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4320150" y="3130000"/>
            <a:ext cx="44661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Patrón</a:t>
            </a:r>
            <a:r>
              <a:rPr b="1" i="1" lang="es" sz="1700">
                <a:solidFill>
                  <a:schemeClr val="dk1"/>
                </a:solidFill>
              </a:rPr>
              <a:t> encontrado en L(E):</a:t>
            </a:r>
            <a:endParaRPr b="1" i="1" sz="17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Cadenas de 0s y 1s → </a:t>
            </a:r>
            <a:r>
              <a:rPr b="1" lang="es">
                <a:solidFill>
                  <a:schemeClr val="dk1"/>
                </a:solidFill>
              </a:rPr>
              <a:t>Sin Orden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La cantidad de 0s es arbitraria.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Las apariciones del simbolo 1 viene en cantidad pares.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La cadena vacía es parte del lenguaje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209825" y="2467200"/>
            <a:ext cx="745800" cy="592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376350" y="900925"/>
            <a:ext cx="3450000" cy="2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1"/>
                </a:solidFill>
              </a:rPr>
              <a:t>Otro </a:t>
            </a:r>
            <a:r>
              <a:rPr i="1" lang="es" sz="1800">
                <a:solidFill>
                  <a:schemeClr val="dk1"/>
                </a:solidFill>
              </a:rPr>
              <a:t>método</a:t>
            </a:r>
            <a:r>
              <a:rPr i="1" lang="es" sz="1800">
                <a:solidFill>
                  <a:schemeClr val="dk1"/>
                </a:solidFill>
              </a:rPr>
              <a:t> para conseguir un AF que reconozca L(E) es primero entender </a:t>
            </a:r>
            <a:r>
              <a:rPr b="1" i="1" lang="es" sz="1800">
                <a:solidFill>
                  <a:schemeClr val="dk1"/>
                </a:solidFill>
              </a:rPr>
              <a:t>que cadenas son partes de L(E)...</a:t>
            </a:r>
            <a:endParaRPr b="1" i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1"/>
                </a:solidFill>
              </a:rPr>
              <a:t>Luego, diseñamos el </a:t>
            </a:r>
            <a:r>
              <a:rPr i="1" lang="es" sz="1800">
                <a:solidFill>
                  <a:schemeClr val="dk1"/>
                </a:solidFill>
              </a:rPr>
              <a:t>autómata</a:t>
            </a:r>
            <a:r>
              <a:rPr i="1" lang="es" sz="1800">
                <a:solidFill>
                  <a:schemeClr val="dk1"/>
                </a:solidFill>
              </a:rPr>
              <a:t> entendiendo ese </a:t>
            </a:r>
            <a:r>
              <a:rPr i="1" lang="es" sz="1800">
                <a:solidFill>
                  <a:schemeClr val="dk1"/>
                </a:solidFill>
              </a:rPr>
              <a:t>patrón</a:t>
            </a:r>
            <a:r>
              <a:rPr i="1" lang="es" sz="1800">
                <a:solidFill>
                  <a:schemeClr val="dk1"/>
                </a:solidFill>
              </a:rPr>
              <a:t>.</a:t>
            </a:r>
            <a:endParaRPr i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449750" y="3179525"/>
            <a:ext cx="3662400" cy="1588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Importante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A pesar de que este </a:t>
            </a:r>
            <a:r>
              <a:rPr i="1" lang="es"/>
              <a:t>método</a:t>
            </a:r>
            <a:r>
              <a:rPr i="1" lang="es"/>
              <a:t> parezca </a:t>
            </a:r>
            <a:r>
              <a:rPr i="1" lang="es"/>
              <a:t>más</a:t>
            </a:r>
            <a:r>
              <a:rPr i="1" lang="es"/>
              <a:t> sencillo, requiere que identifiquen correctamente el </a:t>
            </a:r>
            <a:r>
              <a:rPr i="1" lang="es"/>
              <a:t>patrón</a:t>
            </a:r>
            <a:r>
              <a:rPr i="1" lang="es"/>
              <a:t> en L(E).</a:t>
            </a:r>
            <a:endParaRPr i="1"/>
          </a:p>
        </p:txBody>
      </p:sp>
      <p:sp>
        <p:nvSpPr>
          <p:cNvPr id="246" name="Google Shape;246;p22"/>
          <p:cNvSpPr txBox="1"/>
          <p:nvPr/>
        </p:nvSpPr>
        <p:spPr>
          <a:xfrm>
            <a:off x="4426300" y="4638100"/>
            <a:ext cx="44661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</a:rPr>
              <a:t>Ejercicio: </a:t>
            </a:r>
            <a:r>
              <a:rPr i="1" lang="es" sz="1600">
                <a:solidFill>
                  <a:schemeClr val="dk1"/>
                </a:solidFill>
              </a:rPr>
              <a:t>encontrar el AFD </a:t>
            </a:r>
            <a:r>
              <a:rPr i="1" lang="es" sz="1600">
                <a:solidFill>
                  <a:schemeClr val="dk1"/>
                </a:solidFill>
              </a:rPr>
              <a:t>según</a:t>
            </a:r>
            <a:r>
              <a:rPr i="1" lang="es" sz="1600">
                <a:solidFill>
                  <a:schemeClr val="dk1"/>
                </a:solidFill>
              </a:rPr>
              <a:t> el </a:t>
            </a:r>
            <a:r>
              <a:rPr i="1" lang="es" sz="1600">
                <a:solidFill>
                  <a:schemeClr val="dk1"/>
                </a:solidFill>
              </a:rPr>
              <a:t>patrón.</a:t>
            </a:r>
            <a:endParaRPr i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/>
              <a:t>Ejercicio: AFD → ER</a:t>
            </a:r>
            <a:endParaRPr/>
          </a:p>
        </p:txBody>
      </p:sp>
      <p:cxnSp>
        <p:nvCxnSpPr>
          <p:cNvPr id="252" name="Google Shape;252;p23"/>
          <p:cNvCxnSpPr/>
          <p:nvPr/>
        </p:nvCxnSpPr>
        <p:spPr>
          <a:xfrm>
            <a:off x="307350" y="2830550"/>
            <a:ext cx="85293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 txBox="1"/>
          <p:nvPr/>
        </p:nvSpPr>
        <p:spPr>
          <a:xfrm>
            <a:off x="216850" y="3568026"/>
            <a:ext cx="6522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Buscamos obtener una ER E tal que L(E) = L(M).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49275" y="574825"/>
            <a:ext cx="89553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Enunciado:Dado el autómata M = &lt;S, </a:t>
            </a:r>
            <a:r>
              <a:rPr lang="es" sz="1500">
                <a:solidFill>
                  <a:schemeClr val="dk1"/>
                </a:solidFill>
              </a:rPr>
              <a:t>Σ, δ, s</a:t>
            </a:r>
            <a:r>
              <a:rPr baseline="-25000" lang="es" sz="1500">
                <a:solidFill>
                  <a:schemeClr val="dk1"/>
                </a:solidFill>
              </a:rPr>
              <a:t>0</a:t>
            </a:r>
            <a:r>
              <a:rPr lang="es" sz="1500">
                <a:solidFill>
                  <a:schemeClr val="dk1"/>
                </a:solidFill>
              </a:rPr>
              <a:t>, F</a:t>
            </a:r>
            <a:r>
              <a:rPr lang="es" sz="1700">
                <a:solidFill>
                  <a:schemeClr val="dk1"/>
                </a:solidFill>
              </a:rPr>
              <a:t>&gt; tal que: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	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457200" lvl="0" marL="1371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457200" lvl="0" marL="13716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259" name="Google Shape;259;p24"/>
          <p:cNvGraphicFramePr/>
          <p:nvPr/>
        </p:nvGraphicFramePr>
        <p:xfrm>
          <a:off x="3921050" y="1133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4519025" y="86225"/>
            <a:ext cx="41868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Estrategia a usar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Utilizaremos el siguiente algoritmo (Augusto) junto con algunas reglas de conversión básicas.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66" name="Google Shape;2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250" y="1660450"/>
            <a:ext cx="59817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</a:t>
            </a:r>
            <a:r>
              <a:rPr i="1" lang="es">
                <a:solidFill>
                  <a:schemeClr val="dk1"/>
                </a:solidFill>
              </a:rPr>
              <a:t>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λ = λ ⋅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(S + T) = R ⋅ S + R ⋅ 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68" name="Google Shape;268;p25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274" name="Google Shape;274;p26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26"/>
          <p:cNvSpPr txBox="1"/>
          <p:nvPr/>
        </p:nvSpPr>
        <p:spPr>
          <a:xfrm>
            <a:off x="4347150" y="336875"/>
            <a:ext cx="4186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Paso 1.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Armamos los términos w</a:t>
            </a:r>
            <a:r>
              <a:rPr baseline="-25000" lang="es" sz="1700">
                <a:solidFill>
                  <a:schemeClr val="dk1"/>
                </a:solidFill>
              </a:rPr>
              <a:t>s</a:t>
            </a:r>
            <a:r>
              <a:rPr lang="es" sz="1700">
                <a:solidFill>
                  <a:schemeClr val="dk1"/>
                </a:solidFill>
              </a:rPr>
              <a:t> para cada estado s ∊ 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λ = λ ⋅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(S + T) = R ⋅ S + R ⋅ 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3200550" y="1864325"/>
            <a:ext cx="27696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</a:rPr>
              <a:t>Dado un estado s, defino w</a:t>
            </a:r>
            <a:r>
              <a:rPr b="1" baseline="-25000" lang="es" sz="1500">
                <a:solidFill>
                  <a:schemeClr val="dk1"/>
                </a:solidFill>
              </a:rPr>
              <a:t>s</a:t>
            </a:r>
            <a:r>
              <a:rPr b="1" lang="es" sz="1500">
                <a:solidFill>
                  <a:schemeClr val="dk1"/>
                </a:solidFill>
              </a:rPr>
              <a:t>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w</a:t>
            </a:r>
            <a:r>
              <a:rPr baseline="-25000" lang="es" sz="1500">
                <a:solidFill>
                  <a:schemeClr val="dk1"/>
                </a:solidFill>
              </a:rPr>
              <a:t>s</a:t>
            </a:r>
            <a:r>
              <a:rPr lang="es" sz="1500">
                <a:solidFill>
                  <a:schemeClr val="dk1"/>
                </a:solidFill>
              </a:rPr>
              <a:t> =  w</a:t>
            </a:r>
            <a:r>
              <a:rPr baseline="-25000" lang="es" sz="1500">
                <a:solidFill>
                  <a:schemeClr val="dk1"/>
                </a:solidFill>
              </a:rPr>
              <a:t>A</a:t>
            </a:r>
            <a:r>
              <a:rPr lang="es" sz="1500">
                <a:solidFill>
                  <a:schemeClr val="dk1"/>
                </a:solidFill>
              </a:rPr>
              <a:t>a</a:t>
            </a:r>
            <a:r>
              <a:rPr baseline="-25000" lang="es" sz="1500">
                <a:solidFill>
                  <a:schemeClr val="dk1"/>
                </a:solidFill>
              </a:rPr>
              <a:t>1</a:t>
            </a:r>
            <a:r>
              <a:rPr lang="es" sz="1500">
                <a:solidFill>
                  <a:schemeClr val="dk1"/>
                </a:solidFill>
              </a:rPr>
              <a:t> + … + w</a:t>
            </a:r>
            <a:r>
              <a:rPr baseline="-25000" lang="es" sz="1500">
                <a:solidFill>
                  <a:schemeClr val="dk1"/>
                </a:solidFill>
              </a:rPr>
              <a:t>B</a:t>
            </a:r>
            <a:r>
              <a:rPr lang="es" sz="1500">
                <a:solidFill>
                  <a:schemeClr val="dk1"/>
                </a:solidFill>
              </a:rPr>
              <a:t>a</a:t>
            </a:r>
            <a:r>
              <a:rPr baseline="-25000" lang="es" sz="1500">
                <a:solidFill>
                  <a:schemeClr val="dk1"/>
                </a:solidFill>
              </a:rPr>
              <a:t>2</a:t>
            </a:r>
            <a:endParaRPr baseline="-25000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Noten que los términos incluidos son aquellos que con el símbolo a</a:t>
            </a:r>
            <a:r>
              <a:rPr baseline="-25000" i="1" lang="es">
                <a:solidFill>
                  <a:schemeClr val="dk1"/>
                </a:solidFill>
              </a:rPr>
              <a:t>i</a:t>
            </a:r>
            <a:r>
              <a:rPr i="1" lang="es">
                <a:solidFill>
                  <a:schemeClr val="dk1"/>
                </a:solidFill>
              </a:rPr>
              <a:t> me llevan a S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8223875" y="2444025"/>
            <a:ext cx="644400" cy="6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S</a:t>
            </a:r>
            <a:endParaRPr sz="1600"/>
          </a:p>
        </p:txBody>
      </p:sp>
      <p:sp>
        <p:nvSpPr>
          <p:cNvPr id="279" name="Google Shape;279;p26"/>
          <p:cNvSpPr/>
          <p:nvPr/>
        </p:nvSpPr>
        <p:spPr>
          <a:xfrm>
            <a:off x="6677525" y="1976175"/>
            <a:ext cx="644400" cy="6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A</a:t>
            </a:r>
            <a:endParaRPr sz="1600"/>
          </a:p>
        </p:txBody>
      </p:sp>
      <p:sp>
        <p:nvSpPr>
          <p:cNvPr id="280" name="Google Shape;280;p26"/>
          <p:cNvSpPr/>
          <p:nvPr/>
        </p:nvSpPr>
        <p:spPr>
          <a:xfrm>
            <a:off x="6677525" y="2899225"/>
            <a:ext cx="644400" cy="6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B</a:t>
            </a:r>
            <a:endParaRPr sz="1600"/>
          </a:p>
        </p:txBody>
      </p:sp>
      <p:cxnSp>
        <p:nvCxnSpPr>
          <p:cNvPr id="281" name="Google Shape;281;p26"/>
          <p:cNvCxnSpPr>
            <a:stCxn id="279" idx="6"/>
            <a:endCxn id="278" idx="2"/>
          </p:cNvCxnSpPr>
          <p:nvPr/>
        </p:nvCxnSpPr>
        <p:spPr>
          <a:xfrm>
            <a:off x="7321925" y="2309175"/>
            <a:ext cx="902100" cy="46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26"/>
          <p:cNvCxnSpPr>
            <a:stCxn id="280" idx="6"/>
            <a:endCxn id="278" idx="2"/>
          </p:cNvCxnSpPr>
          <p:nvPr/>
        </p:nvCxnSpPr>
        <p:spPr>
          <a:xfrm flipH="1" rot="10800000">
            <a:off x="7321925" y="2777125"/>
            <a:ext cx="902100" cy="45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26"/>
          <p:cNvSpPr txBox="1"/>
          <p:nvPr/>
        </p:nvSpPr>
        <p:spPr>
          <a:xfrm>
            <a:off x="7684450" y="2208350"/>
            <a:ext cx="408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a</a:t>
            </a:r>
            <a:r>
              <a:rPr baseline="-25000" lang="es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7684450" y="2976650"/>
            <a:ext cx="408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a</a:t>
            </a:r>
            <a:r>
              <a:rPr baseline="-25000" lang="es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3111000" y="3948850"/>
            <a:ext cx="3353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chemeClr val="dk1"/>
                </a:solidFill>
              </a:rPr>
              <a:t>Importante: </a:t>
            </a:r>
            <a:r>
              <a:rPr lang="es" sz="1200">
                <a:solidFill>
                  <a:schemeClr val="dk1"/>
                </a:solidFill>
              </a:rPr>
              <a:t>para el estado inicial, agregamos λ como término.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En nuestro enunciado: </a:t>
            </a:r>
            <a:r>
              <a:rPr lang="es">
                <a:solidFill>
                  <a:schemeClr val="dk1"/>
                </a:solidFill>
              </a:rPr>
              <a:t>w</a:t>
            </a:r>
            <a:r>
              <a:rPr baseline="-25000" lang="es">
                <a:solidFill>
                  <a:schemeClr val="dk1"/>
                </a:solidFill>
              </a:rPr>
              <a:t>s0</a:t>
            </a:r>
            <a:r>
              <a:rPr lang="es">
                <a:solidFill>
                  <a:schemeClr val="dk1"/>
                </a:solidFill>
              </a:rPr>
              <a:t> = w</a:t>
            </a:r>
            <a:r>
              <a:rPr baseline="-25000" lang="es">
                <a:solidFill>
                  <a:schemeClr val="dk1"/>
                </a:solidFill>
              </a:rPr>
              <a:t>s0</a:t>
            </a:r>
            <a:r>
              <a:rPr lang="es">
                <a:solidFill>
                  <a:schemeClr val="dk1"/>
                </a:solidFill>
              </a:rPr>
              <a:t>0 + </a:t>
            </a:r>
            <a:r>
              <a:rPr lang="es" sz="1100">
                <a:solidFill>
                  <a:schemeClr val="dk1"/>
                </a:solidFill>
              </a:rPr>
              <a:t>λ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286" name="Google Shape;286;p26"/>
          <p:cNvCxnSpPr/>
          <p:nvPr/>
        </p:nvCxnSpPr>
        <p:spPr>
          <a:xfrm rot="10800000">
            <a:off x="4381300" y="2937075"/>
            <a:ext cx="386100" cy="14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26"/>
          <p:cNvCxnSpPr/>
          <p:nvPr/>
        </p:nvCxnSpPr>
        <p:spPr>
          <a:xfrm flipH="1" rot="10800000">
            <a:off x="4776375" y="2946050"/>
            <a:ext cx="538500" cy="14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293" name="Google Shape;293;p27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" name="Google Shape;294;p27"/>
          <p:cNvSpPr txBox="1"/>
          <p:nvPr/>
        </p:nvSpPr>
        <p:spPr>
          <a:xfrm>
            <a:off x="4347150" y="336875"/>
            <a:ext cx="4186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Paso 1.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Armamos los términos w</a:t>
            </a:r>
            <a:r>
              <a:rPr baseline="-25000" lang="es" sz="1700">
                <a:solidFill>
                  <a:schemeClr val="dk1"/>
                </a:solidFill>
              </a:rPr>
              <a:t>s</a:t>
            </a:r>
            <a:r>
              <a:rPr lang="es" sz="1700">
                <a:solidFill>
                  <a:schemeClr val="dk1"/>
                </a:solidFill>
              </a:rPr>
              <a:t> para cada estado 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λ = λ ⋅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dk1"/>
                </a:solidFill>
              </a:rPr>
              <a:t>R ⋅ (S + T) = R ⋅ S + R ⋅ T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6266525" y="3957250"/>
            <a:ext cx="27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3411700" y="1808975"/>
            <a:ext cx="5170800" cy="3148200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Siguiendo el ejercicio:</a:t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 = w</a:t>
            </a:r>
            <a:r>
              <a:rPr baseline="-25000" lang="es" sz="1700">
                <a:solidFill>
                  <a:schemeClr val="dk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0 + λ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w</a:t>
            </a:r>
            <a:r>
              <a:rPr b="1" baseline="-25000" lang="es" sz="1700">
                <a:solidFill>
                  <a:schemeClr val="dk1"/>
                </a:solidFill>
              </a:rPr>
              <a:t>s1</a:t>
            </a:r>
            <a:r>
              <a:rPr lang="es" sz="1700">
                <a:solidFill>
                  <a:schemeClr val="dk1"/>
                </a:solidFill>
              </a:rPr>
              <a:t> = </a:t>
            </a:r>
            <a:r>
              <a:rPr b="1" lang="es" sz="1700">
                <a:solidFill>
                  <a:schemeClr val="dk1"/>
                </a:solidFill>
              </a:rPr>
              <a:t>w</a:t>
            </a:r>
            <a:r>
              <a:rPr b="1" baseline="-25000" lang="es" sz="1700">
                <a:solidFill>
                  <a:schemeClr val="dk1"/>
                </a:solidFill>
              </a:rPr>
              <a:t>s1</a:t>
            </a:r>
            <a:r>
              <a:rPr lang="es" sz="1700">
                <a:solidFill>
                  <a:schemeClr val="dk1"/>
                </a:solidFill>
              </a:rPr>
              <a:t>0 + 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1 + w</a:t>
            </a:r>
            <a:r>
              <a:rPr baseline="-25000" lang="es" sz="1700">
                <a:solidFill>
                  <a:schemeClr val="dk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1 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 = w</a:t>
            </a:r>
            <a:r>
              <a:rPr baseline="-25000" lang="es" sz="1700">
                <a:solidFill>
                  <a:schemeClr val="dk1"/>
                </a:solidFill>
              </a:rPr>
              <a:t>s1</a:t>
            </a:r>
            <a:r>
              <a:rPr lang="es" sz="1700">
                <a:solidFill>
                  <a:schemeClr val="dk1"/>
                </a:solidFill>
              </a:rPr>
              <a:t>1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s3</a:t>
            </a:r>
            <a:r>
              <a:rPr lang="es" sz="1700">
                <a:solidFill>
                  <a:schemeClr val="dk1"/>
                </a:solidFill>
              </a:rPr>
              <a:t> = </a:t>
            </a:r>
            <a:r>
              <a:rPr lang="es" sz="1700" u="sng">
                <a:solidFill>
                  <a:schemeClr val="dk1"/>
                </a:solidFill>
              </a:rPr>
              <a:t>w</a:t>
            </a:r>
            <a:r>
              <a:rPr baseline="-25000" lang="es" sz="1700" u="sng">
                <a:solidFill>
                  <a:schemeClr val="dk1"/>
                </a:solidFill>
              </a:rPr>
              <a:t>s3</a:t>
            </a:r>
            <a:r>
              <a:rPr lang="es" sz="1700" u="sng">
                <a:solidFill>
                  <a:schemeClr val="dk1"/>
                </a:solidFill>
              </a:rPr>
              <a:t>0 + w</a:t>
            </a:r>
            <a:r>
              <a:rPr baseline="-25000" lang="es" sz="1700" u="sng">
                <a:solidFill>
                  <a:schemeClr val="dk1"/>
                </a:solidFill>
              </a:rPr>
              <a:t>s3</a:t>
            </a:r>
            <a:r>
              <a:rPr lang="es" sz="1700" u="sng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 + 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0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	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98" name="Google Shape;298;p27"/>
          <p:cNvCxnSpPr>
            <a:stCxn id="299" idx="3"/>
          </p:cNvCxnSpPr>
          <p:nvPr/>
        </p:nvCxnSpPr>
        <p:spPr>
          <a:xfrm flipH="1" rot="10800000">
            <a:off x="5368775" y="2255000"/>
            <a:ext cx="1140300" cy="287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0" name="Google Shape;300;p27"/>
          <p:cNvSpPr txBox="1"/>
          <p:nvPr/>
        </p:nvSpPr>
        <p:spPr>
          <a:xfrm>
            <a:off x="6508950" y="2012600"/>
            <a:ext cx="19659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porque s</a:t>
            </a:r>
            <a:r>
              <a:rPr baseline="-25000" lang="es">
                <a:solidFill>
                  <a:schemeClr val="dk1"/>
                </a:solidFill>
              </a:rPr>
              <a:t>0</a:t>
            </a:r>
            <a:r>
              <a:rPr lang="es">
                <a:solidFill>
                  <a:schemeClr val="dk1"/>
                </a:solidFill>
              </a:rPr>
              <a:t> es estado inicial.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01" name="Google Shape;301;p27"/>
          <p:cNvCxnSpPr/>
          <p:nvPr/>
        </p:nvCxnSpPr>
        <p:spPr>
          <a:xfrm>
            <a:off x="6302375" y="3098725"/>
            <a:ext cx="816900" cy="48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27"/>
          <p:cNvSpPr/>
          <p:nvPr/>
        </p:nvSpPr>
        <p:spPr>
          <a:xfrm>
            <a:off x="5817650" y="2847400"/>
            <a:ext cx="484800" cy="461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6668375" y="3583525"/>
            <a:ext cx="19659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porque desde </a:t>
            </a:r>
            <a:r>
              <a:rPr b="1" lang="es">
                <a:solidFill>
                  <a:schemeClr val="dk1"/>
                </a:solidFill>
              </a:rPr>
              <a:t>s</a:t>
            </a:r>
            <a:r>
              <a:rPr b="1" baseline="-25000" lang="es">
                <a:solidFill>
                  <a:schemeClr val="dk1"/>
                </a:solidFill>
              </a:rPr>
              <a:t>0</a:t>
            </a:r>
            <a:r>
              <a:rPr lang="es">
                <a:solidFill>
                  <a:schemeClr val="dk1"/>
                </a:solidFill>
              </a:rPr>
              <a:t> leyendo el </a:t>
            </a:r>
            <a:r>
              <a:rPr lang="es">
                <a:solidFill>
                  <a:schemeClr val="dk1"/>
                </a:solidFill>
              </a:rPr>
              <a:t>símbolo</a:t>
            </a: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1</a:t>
            </a:r>
            <a:r>
              <a:rPr lang="es">
                <a:solidFill>
                  <a:schemeClr val="dk1"/>
                </a:solidFill>
              </a:rPr>
              <a:t> voy a </a:t>
            </a:r>
            <a:r>
              <a:rPr b="1" lang="es">
                <a:solidFill>
                  <a:schemeClr val="dk1"/>
                </a:solidFill>
              </a:rPr>
              <a:t>s</a:t>
            </a:r>
            <a:r>
              <a:rPr b="1" baseline="-25000" lang="es">
                <a:solidFill>
                  <a:schemeClr val="dk1"/>
                </a:solidFill>
              </a:rPr>
              <a:t>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5081375" y="2381000"/>
            <a:ext cx="287400" cy="322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309" name="Google Shape;309;p28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0" name="Google Shape;310;p28"/>
          <p:cNvSpPr txBox="1"/>
          <p:nvPr/>
        </p:nvSpPr>
        <p:spPr>
          <a:xfrm>
            <a:off x="4347150" y="336875"/>
            <a:ext cx="4186800" cy="1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Paso 2.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Utilizamos el lema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 u="sng">
                <a:solidFill>
                  <a:schemeClr val="dk1"/>
                </a:solidFill>
              </a:rPr>
              <a:t>w</a:t>
            </a:r>
            <a:r>
              <a:rPr lang="es" sz="1700">
                <a:solidFill>
                  <a:schemeClr val="dk1"/>
                </a:solidFill>
              </a:rPr>
              <a:t> = B + </a:t>
            </a:r>
            <a:r>
              <a:rPr lang="es" sz="1700" u="sng">
                <a:solidFill>
                  <a:schemeClr val="dk1"/>
                </a:solidFill>
              </a:rPr>
              <a:t>w</a:t>
            </a:r>
            <a:r>
              <a:rPr lang="es" sz="1700">
                <a:solidFill>
                  <a:schemeClr val="dk1"/>
                </a:solidFill>
              </a:rPr>
              <a:t>A → w = BA*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</a:rPr>
              <a:t>R ⋅ λ = λ ⋅ R = R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(S + T) = R ⋅ S + R ⋅ 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3325000" y="1714625"/>
            <a:ext cx="5133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El lema nos va a permitir despejar variables de los </a:t>
            </a:r>
            <a:r>
              <a:rPr lang="es" sz="1700">
                <a:solidFill>
                  <a:schemeClr val="dk1"/>
                </a:solidFill>
              </a:rPr>
              <a:t>términos</a:t>
            </a:r>
            <a:r>
              <a:rPr lang="es" sz="1700">
                <a:solidFill>
                  <a:schemeClr val="dk1"/>
                </a:solidFill>
              </a:rPr>
              <a:t>…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13" name="Google Shape;313;p28"/>
          <p:cNvSpPr txBox="1"/>
          <p:nvPr/>
        </p:nvSpPr>
        <p:spPr>
          <a:xfrm>
            <a:off x="4201175" y="2699375"/>
            <a:ext cx="44955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Ejemplo: 		</a:t>
            </a:r>
            <a:r>
              <a:rPr b="1" lang="es" sz="1500">
                <a:solidFill>
                  <a:schemeClr val="dk1"/>
                </a:solidFill>
              </a:rPr>
              <a:t>w</a:t>
            </a:r>
            <a:r>
              <a:rPr b="1" baseline="-25000" lang="es" sz="1500">
                <a:solidFill>
                  <a:schemeClr val="dk1"/>
                </a:solidFill>
              </a:rPr>
              <a:t>s0</a:t>
            </a:r>
            <a:r>
              <a:rPr lang="es" sz="1500">
                <a:solidFill>
                  <a:schemeClr val="dk1"/>
                </a:solidFill>
              </a:rPr>
              <a:t> = </a:t>
            </a:r>
            <a:r>
              <a:rPr b="1" lang="es" sz="1500">
                <a:solidFill>
                  <a:schemeClr val="dk1"/>
                </a:solidFill>
              </a:rPr>
              <a:t>w</a:t>
            </a:r>
            <a:r>
              <a:rPr b="1" baseline="-25000" lang="es" sz="1500">
                <a:solidFill>
                  <a:schemeClr val="dk1"/>
                </a:solidFill>
              </a:rPr>
              <a:t>s0</a:t>
            </a:r>
            <a:r>
              <a:rPr lang="es" sz="1500">
                <a:solidFill>
                  <a:schemeClr val="dk1"/>
                </a:solidFill>
              </a:rPr>
              <a:t>0 + λ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		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			w</a:t>
            </a:r>
            <a:r>
              <a:rPr baseline="-25000" lang="es" sz="1500">
                <a:solidFill>
                  <a:schemeClr val="dk1"/>
                </a:solidFill>
              </a:rPr>
              <a:t>s0</a:t>
            </a:r>
            <a:r>
              <a:rPr lang="es" sz="1500">
                <a:solidFill>
                  <a:schemeClr val="dk1"/>
                </a:solidFill>
              </a:rPr>
              <a:t> = λ0*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			w</a:t>
            </a:r>
            <a:r>
              <a:rPr baseline="-25000" lang="es" sz="1500">
                <a:solidFill>
                  <a:schemeClr val="dk1"/>
                </a:solidFill>
              </a:rPr>
              <a:t>s0 </a:t>
            </a:r>
            <a:r>
              <a:rPr lang="es" sz="1500">
                <a:solidFill>
                  <a:schemeClr val="dk1"/>
                </a:solidFill>
              </a:rPr>
              <a:t>= 0*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3413175" y="4024850"/>
            <a:ext cx="5133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Ojo! No todas van a ser </a:t>
            </a:r>
            <a:r>
              <a:rPr lang="es" sz="1700">
                <a:solidFill>
                  <a:schemeClr val="dk1"/>
                </a:solidFill>
              </a:rPr>
              <a:t>así</a:t>
            </a:r>
            <a:r>
              <a:rPr lang="es" sz="1700">
                <a:solidFill>
                  <a:schemeClr val="dk1"/>
                </a:solidFill>
              </a:rPr>
              <a:t> de sencillas!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No se olviden de usar las </a:t>
            </a:r>
            <a:r>
              <a:rPr lang="es" sz="1700" u="sng">
                <a:solidFill>
                  <a:schemeClr val="dk1"/>
                </a:solidFill>
              </a:rPr>
              <a:t>reglas de </a:t>
            </a:r>
            <a:r>
              <a:rPr lang="es" sz="1700" u="sng">
                <a:solidFill>
                  <a:schemeClr val="dk1"/>
                </a:solidFill>
              </a:rPr>
              <a:t>conversión</a:t>
            </a:r>
            <a:r>
              <a:rPr lang="es" sz="1700" u="sng">
                <a:solidFill>
                  <a:schemeClr val="dk1"/>
                </a:solidFill>
              </a:rPr>
              <a:t>.</a:t>
            </a:r>
            <a:endParaRPr sz="17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5270075" y="922225"/>
            <a:ext cx="1202700" cy="357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8"/>
          <p:cNvSpPr/>
          <p:nvPr/>
        </p:nvSpPr>
        <p:spPr>
          <a:xfrm>
            <a:off x="6715100" y="922225"/>
            <a:ext cx="897900" cy="357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7" name="Google Shape;317;p28"/>
          <p:cNvCxnSpPr/>
          <p:nvPr/>
        </p:nvCxnSpPr>
        <p:spPr>
          <a:xfrm flipH="1">
            <a:off x="6194800" y="3017950"/>
            <a:ext cx="637200" cy="233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28"/>
          <p:cNvCxnSpPr/>
          <p:nvPr/>
        </p:nvCxnSpPr>
        <p:spPr>
          <a:xfrm flipH="1">
            <a:off x="6383075" y="3053850"/>
            <a:ext cx="152700" cy="21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28"/>
          <p:cNvCxnSpPr/>
          <p:nvPr/>
        </p:nvCxnSpPr>
        <p:spPr>
          <a:xfrm>
            <a:off x="2155275" y="3332125"/>
            <a:ext cx="3967500" cy="39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325" name="Google Shape;325;p29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6" name="Google Shape;326;p29"/>
          <p:cNvSpPr txBox="1"/>
          <p:nvPr/>
        </p:nvSpPr>
        <p:spPr>
          <a:xfrm>
            <a:off x="4347150" y="336875"/>
            <a:ext cx="4186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Paso 2.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Utilizamos el lema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 = B + wA → w = BA*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λ = λ ⋅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</a:rPr>
              <a:t>R ⋅ (S + T) = R ⋅ S + R ⋅ T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8" name="Google Shape;328;p29"/>
          <p:cNvSpPr txBox="1"/>
          <p:nvPr/>
        </p:nvSpPr>
        <p:spPr>
          <a:xfrm>
            <a:off x="3325000" y="1714625"/>
            <a:ext cx="51330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Utilizando reglas de conversión + lema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Ejemplo: 		</a:t>
            </a: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s3</a:t>
            </a:r>
            <a:r>
              <a:rPr lang="es" sz="1700">
                <a:solidFill>
                  <a:schemeClr val="dk1"/>
                </a:solidFill>
              </a:rPr>
              <a:t> = 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0 + </a:t>
            </a:r>
            <a:r>
              <a:rPr b="1" lang="es" sz="1700">
                <a:solidFill>
                  <a:schemeClr val="dk1"/>
                </a:solidFill>
              </a:rPr>
              <a:t>w</a:t>
            </a:r>
            <a:r>
              <a:rPr b="1" baseline="-25000" lang="es" sz="1700">
                <a:solidFill>
                  <a:schemeClr val="dk1"/>
                </a:solidFill>
              </a:rPr>
              <a:t>s3</a:t>
            </a:r>
            <a:r>
              <a:rPr b="1" lang="es" sz="1700">
                <a:solidFill>
                  <a:schemeClr val="dk1"/>
                </a:solidFill>
              </a:rPr>
              <a:t>0 + w</a:t>
            </a:r>
            <a:r>
              <a:rPr b="1" baseline="-25000" lang="es" sz="1700">
                <a:solidFill>
                  <a:schemeClr val="dk1"/>
                </a:solidFill>
              </a:rPr>
              <a:t>s3</a:t>
            </a:r>
            <a:r>
              <a:rPr b="1" lang="es" sz="1700">
                <a:solidFill>
                  <a:schemeClr val="dk1"/>
                </a:solidFill>
              </a:rPr>
              <a:t>1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		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			w</a:t>
            </a:r>
            <a:r>
              <a:rPr baseline="-25000" lang="es" sz="1700">
                <a:solidFill>
                  <a:schemeClr val="dk1"/>
                </a:solidFill>
              </a:rPr>
              <a:t>s3 </a:t>
            </a:r>
            <a:r>
              <a:rPr lang="es" sz="1700">
                <a:solidFill>
                  <a:schemeClr val="dk1"/>
                </a:solidFill>
              </a:rPr>
              <a:t>=</a:t>
            </a:r>
            <a:r>
              <a:rPr baseline="-25000" lang="es" sz="1700">
                <a:solidFill>
                  <a:schemeClr val="dk1"/>
                </a:solidFill>
              </a:rPr>
              <a:t> </a:t>
            </a: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0 + w</a:t>
            </a:r>
            <a:r>
              <a:rPr baseline="-25000" lang="es" sz="1700">
                <a:solidFill>
                  <a:schemeClr val="dk1"/>
                </a:solidFill>
              </a:rPr>
              <a:t>s3</a:t>
            </a:r>
            <a:r>
              <a:rPr lang="es" sz="1700">
                <a:solidFill>
                  <a:schemeClr val="dk1"/>
                </a:solidFill>
              </a:rPr>
              <a:t>(0+1)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Ahora aplicando el lema.		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s3 </a:t>
            </a:r>
            <a:r>
              <a:rPr lang="es" sz="1700">
                <a:solidFill>
                  <a:schemeClr val="dk1"/>
                </a:solidFill>
              </a:rPr>
              <a:t>=</a:t>
            </a:r>
            <a:r>
              <a:rPr baseline="-25000" lang="es" sz="1700">
                <a:solidFill>
                  <a:schemeClr val="dk1"/>
                </a:solidFill>
              </a:rPr>
              <a:t>  </a:t>
            </a: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0(0+1)*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5270075" y="922225"/>
            <a:ext cx="1202700" cy="357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"/>
          <p:cNvSpPr/>
          <p:nvPr/>
        </p:nvSpPr>
        <p:spPr>
          <a:xfrm>
            <a:off x="6715100" y="922225"/>
            <a:ext cx="897900" cy="357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336" name="Google Shape;336;p30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7" name="Google Shape;337;p30"/>
          <p:cNvSpPr txBox="1"/>
          <p:nvPr/>
        </p:nvSpPr>
        <p:spPr>
          <a:xfrm>
            <a:off x="4347150" y="336875"/>
            <a:ext cx="4186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Paso 2.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Utilizamos el lema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 = B + wA → w = BA*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λ = λ ⋅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(S + T) = R ⋅ S + R ⋅ 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3411700" y="1808975"/>
            <a:ext cx="5406900" cy="3016800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Siguiendo el ejercicio:</a:t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 = </a:t>
            </a:r>
            <a:r>
              <a:rPr lang="es" sz="1700">
                <a:solidFill>
                  <a:schemeClr val="dk1"/>
                </a:solidFill>
              </a:rPr>
              <a:t>λ0* = 0*</a:t>
            </a:r>
            <a:endParaRPr sz="19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s1</a:t>
            </a:r>
            <a:r>
              <a:rPr lang="es" sz="1700">
                <a:solidFill>
                  <a:schemeClr val="dk1"/>
                </a:solidFill>
              </a:rPr>
              <a:t> = (w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1 + w</a:t>
            </a:r>
            <a:r>
              <a:rPr baseline="-25000" lang="es" sz="1700">
                <a:solidFill>
                  <a:schemeClr val="dk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1)0* 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w</a:t>
            </a:r>
            <a:r>
              <a:rPr b="1" baseline="-25000" lang="es" sz="1700">
                <a:solidFill>
                  <a:schemeClr val="dk1"/>
                </a:solidFill>
              </a:rPr>
              <a:t>s2</a:t>
            </a:r>
            <a:r>
              <a:rPr b="1" lang="es" sz="1700">
                <a:solidFill>
                  <a:schemeClr val="dk1"/>
                </a:solidFill>
              </a:rPr>
              <a:t> </a:t>
            </a:r>
            <a:r>
              <a:rPr lang="es" sz="1700">
                <a:solidFill>
                  <a:schemeClr val="dk1"/>
                </a:solidFill>
              </a:rPr>
              <a:t>= w</a:t>
            </a:r>
            <a:r>
              <a:rPr baseline="-25000" lang="es" sz="1700">
                <a:solidFill>
                  <a:schemeClr val="dk1"/>
                </a:solidFill>
              </a:rPr>
              <a:t>s1</a:t>
            </a:r>
            <a:r>
              <a:rPr lang="es" sz="1700">
                <a:solidFill>
                  <a:schemeClr val="dk1"/>
                </a:solidFill>
              </a:rPr>
              <a:t>1 = </a:t>
            </a:r>
            <a:r>
              <a:rPr b="1" lang="es" sz="1700">
                <a:solidFill>
                  <a:schemeClr val="dk1"/>
                </a:solidFill>
              </a:rPr>
              <a:t>(w</a:t>
            </a:r>
            <a:r>
              <a:rPr b="1" baseline="-25000" lang="es" sz="1700">
                <a:solidFill>
                  <a:schemeClr val="dk1"/>
                </a:solidFill>
              </a:rPr>
              <a:t>s2</a:t>
            </a:r>
            <a:r>
              <a:rPr b="1" lang="es" sz="1700">
                <a:solidFill>
                  <a:schemeClr val="dk1"/>
                </a:solidFill>
              </a:rPr>
              <a:t>1 + 0*1)0*1</a:t>
            </a:r>
            <a:r>
              <a:rPr lang="es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s3</a:t>
            </a:r>
            <a:r>
              <a:rPr lang="es" sz="1700">
                <a:solidFill>
                  <a:schemeClr val="dk1"/>
                </a:solidFill>
              </a:rPr>
              <a:t> = </a:t>
            </a: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0 + w</a:t>
            </a:r>
            <a:r>
              <a:rPr baseline="-25000" lang="es" sz="1700">
                <a:solidFill>
                  <a:schemeClr val="dk1"/>
                </a:solidFill>
              </a:rPr>
              <a:t>s3</a:t>
            </a:r>
            <a:r>
              <a:rPr lang="es" sz="1700">
                <a:solidFill>
                  <a:schemeClr val="dk1"/>
                </a:solidFill>
              </a:rPr>
              <a:t>(0+1) = 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0(0+1)*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5270075" y="922225"/>
            <a:ext cx="1202700" cy="357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6715100" y="922225"/>
            <a:ext cx="897900" cy="357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347" name="Google Shape;347;p31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8" name="Google Shape;348;p31"/>
          <p:cNvSpPr txBox="1"/>
          <p:nvPr/>
        </p:nvSpPr>
        <p:spPr>
          <a:xfrm>
            <a:off x="4361300" y="167075"/>
            <a:ext cx="41868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Paso 3.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La expresion regular se obtiene a través de la unión de los términos correspondientes a los estados aceptadores.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λ = λ ⋅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(S + T) = R ⋅ S + R ⋅ 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3325000" y="1948050"/>
            <a:ext cx="5133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Sea F = {A,B,C}			ER = w</a:t>
            </a:r>
            <a:r>
              <a:rPr baseline="-25000" lang="es" sz="1700">
                <a:solidFill>
                  <a:schemeClr val="dk1"/>
                </a:solidFill>
              </a:rPr>
              <a:t>A</a:t>
            </a:r>
            <a:r>
              <a:rPr lang="es" sz="1700">
                <a:solidFill>
                  <a:schemeClr val="dk1"/>
                </a:solidFill>
              </a:rPr>
              <a:t> + w</a:t>
            </a:r>
            <a:r>
              <a:rPr baseline="-25000" lang="es" sz="1700">
                <a:solidFill>
                  <a:schemeClr val="dk1"/>
                </a:solidFill>
              </a:rPr>
              <a:t>B</a:t>
            </a:r>
            <a:r>
              <a:rPr lang="es" sz="1700">
                <a:solidFill>
                  <a:schemeClr val="dk1"/>
                </a:solidFill>
              </a:rPr>
              <a:t> + w</a:t>
            </a:r>
            <a:r>
              <a:rPr baseline="-25000" lang="es" sz="1700">
                <a:solidFill>
                  <a:schemeClr val="dk1"/>
                </a:solidFill>
              </a:rPr>
              <a:t>C</a:t>
            </a:r>
            <a:endParaRPr baseline="-25000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(Con todos sus </a:t>
            </a:r>
            <a:r>
              <a:rPr i="1" lang="es" sz="1700">
                <a:solidFill>
                  <a:schemeClr val="dk1"/>
                </a:solidFill>
              </a:rPr>
              <a:t>términos</a:t>
            </a:r>
            <a:r>
              <a:rPr i="1" lang="es" sz="1700">
                <a:solidFill>
                  <a:schemeClr val="dk1"/>
                </a:solidFill>
              </a:rPr>
              <a:t> despejados..)</a:t>
            </a:r>
            <a:endParaRPr i="1" sz="1700">
              <a:solidFill>
                <a:schemeClr val="dk1"/>
              </a:solidFill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3394600" y="3137875"/>
            <a:ext cx="49938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Ejemplo: 		</a:t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En nuestro caso 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 es el único estado aceptador, por lo tanto…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			ER = w</a:t>
            </a:r>
            <a:r>
              <a:rPr baseline="-25000" lang="es" sz="1700">
                <a:solidFill>
                  <a:schemeClr val="dk1"/>
                </a:solidFill>
              </a:rPr>
              <a:t>s3</a:t>
            </a:r>
            <a:r>
              <a:rPr lang="es" sz="1700">
                <a:solidFill>
                  <a:schemeClr val="dk1"/>
                </a:solidFill>
              </a:rPr>
              <a:t> = 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0(0+1)*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Tengo que despejar w</a:t>
            </a:r>
            <a:r>
              <a:rPr baseline="-25000" lang="es" sz="1700">
                <a:solidFill>
                  <a:schemeClr val="dk1"/>
                </a:solidFill>
              </a:rPr>
              <a:t>s2 </a:t>
            </a:r>
            <a:r>
              <a:rPr lang="es" sz="1700">
                <a:solidFill>
                  <a:schemeClr val="dk1"/>
                </a:solidFill>
              </a:rPr>
              <a:t>aun…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cxnSp>
        <p:nvCxnSpPr>
          <p:cNvPr id="352" name="Google Shape;352;p31"/>
          <p:cNvCxnSpPr/>
          <p:nvPr/>
        </p:nvCxnSpPr>
        <p:spPr>
          <a:xfrm>
            <a:off x="5054650" y="2165175"/>
            <a:ext cx="987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2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358" name="Google Shape;358;p32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9" name="Google Shape;359;p32"/>
          <p:cNvSpPr txBox="1"/>
          <p:nvPr/>
        </p:nvSpPr>
        <p:spPr>
          <a:xfrm>
            <a:off x="4354125" y="258825"/>
            <a:ext cx="4186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Paso 3.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La expresion regular se obtiene a través de la unión de los términos correspondientes a los estados aceptadores.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λ = λ ⋅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(S + T) = R ⋅ S + R ⋅ 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1" name="Google Shape;361;p32"/>
          <p:cNvSpPr txBox="1"/>
          <p:nvPr/>
        </p:nvSpPr>
        <p:spPr>
          <a:xfrm>
            <a:off x="3411700" y="1808975"/>
            <a:ext cx="5641800" cy="2493600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Siguiendo el ejercicio:</a:t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s3</a:t>
            </a:r>
            <a:r>
              <a:rPr lang="es" sz="1700">
                <a:solidFill>
                  <a:schemeClr val="dk1"/>
                </a:solidFill>
              </a:rPr>
              <a:t> = 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0 + w</a:t>
            </a:r>
            <a:r>
              <a:rPr baseline="-25000" lang="es" sz="1700">
                <a:solidFill>
                  <a:schemeClr val="dk1"/>
                </a:solidFill>
              </a:rPr>
              <a:t>s3</a:t>
            </a:r>
            <a:r>
              <a:rPr lang="es" sz="1700">
                <a:solidFill>
                  <a:schemeClr val="dk1"/>
                </a:solidFill>
              </a:rPr>
              <a:t>(0+1) = </a:t>
            </a:r>
            <a:r>
              <a:rPr b="1" lang="es" sz="1700">
                <a:solidFill>
                  <a:srgbClr val="A4C2F4"/>
                </a:solidFill>
              </a:rPr>
              <a:t>w</a:t>
            </a:r>
            <a:r>
              <a:rPr b="1" baseline="-25000" lang="es" sz="1700">
                <a:solidFill>
                  <a:srgbClr val="A4C2F4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0(0+1)*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s3</a:t>
            </a:r>
            <a:r>
              <a:rPr lang="es" sz="1700">
                <a:solidFill>
                  <a:schemeClr val="dk1"/>
                </a:solidFill>
              </a:rPr>
              <a:t>= </a:t>
            </a:r>
            <a:r>
              <a:rPr b="1" lang="es" sz="1700">
                <a:solidFill>
                  <a:srgbClr val="9FC5E8"/>
                </a:solidFill>
              </a:rPr>
              <a:t>w</a:t>
            </a:r>
            <a:r>
              <a:rPr b="1" baseline="-25000" lang="es" sz="1700">
                <a:solidFill>
                  <a:srgbClr val="9FC5E8"/>
                </a:solidFill>
              </a:rPr>
              <a:t>s1</a:t>
            </a:r>
            <a:r>
              <a:rPr lang="es" sz="1700">
                <a:solidFill>
                  <a:schemeClr val="dk1"/>
                </a:solidFill>
              </a:rPr>
              <a:t>10(0+1)*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s3</a:t>
            </a:r>
            <a:r>
              <a:rPr lang="es" sz="1700">
                <a:solidFill>
                  <a:schemeClr val="dk1"/>
                </a:solidFill>
              </a:rPr>
              <a:t>= (</a:t>
            </a:r>
            <a:r>
              <a:rPr lang="es" sz="1700">
                <a:solidFill>
                  <a:srgbClr val="A4C2F4"/>
                </a:solidFill>
              </a:rPr>
              <a:t>w</a:t>
            </a:r>
            <a:r>
              <a:rPr baseline="-25000" lang="es" sz="1700">
                <a:solidFill>
                  <a:srgbClr val="A4C2F4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1 + w</a:t>
            </a:r>
            <a:r>
              <a:rPr baseline="-25000" lang="es" sz="1700">
                <a:solidFill>
                  <a:schemeClr val="dk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1)0*10(0+1)*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62" name="Google Shape;362;p32"/>
          <p:cNvCxnSpPr/>
          <p:nvPr/>
        </p:nvCxnSpPr>
        <p:spPr>
          <a:xfrm>
            <a:off x="6467700" y="2780825"/>
            <a:ext cx="1205700" cy="69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32"/>
          <p:cNvCxnSpPr/>
          <p:nvPr/>
        </p:nvCxnSpPr>
        <p:spPr>
          <a:xfrm flipH="1" rot="10800000">
            <a:off x="6725575" y="3617225"/>
            <a:ext cx="927000" cy="3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32"/>
          <p:cNvSpPr/>
          <p:nvPr/>
        </p:nvSpPr>
        <p:spPr>
          <a:xfrm>
            <a:off x="7492225" y="3129300"/>
            <a:ext cx="1512600" cy="105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Ojo! Me </a:t>
            </a:r>
            <a:r>
              <a:rPr lang="es" sz="1100">
                <a:solidFill>
                  <a:schemeClr val="dk1"/>
                </a:solidFill>
              </a:rPr>
              <a:t>está</a:t>
            </a:r>
            <a:r>
              <a:rPr lang="es" sz="1100">
                <a:solidFill>
                  <a:schemeClr val="dk1"/>
                </a:solidFill>
              </a:rPr>
              <a:t> quedando un ciclo!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Tengo que despejar por otro lado.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370" name="Google Shape;370;p33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1" name="Google Shape;371;p33"/>
          <p:cNvSpPr txBox="1"/>
          <p:nvPr/>
        </p:nvSpPr>
        <p:spPr>
          <a:xfrm>
            <a:off x="4354125" y="258825"/>
            <a:ext cx="4186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Paso 3.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La expresion regular se obtiene a través de la unión de los términos correspondientes a los estados aceptadores.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λ = λ ⋅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(S + T) = R ⋅ S + R ⋅ 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3" name="Google Shape;373;p33"/>
          <p:cNvSpPr txBox="1"/>
          <p:nvPr/>
        </p:nvSpPr>
        <p:spPr>
          <a:xfrm>
            <a:off x="3411700" y="1808975"/>
            <a:ext cx="5509200" cy="1970100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Siguiendo el ejercicio:</a:t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 =  0*</a:t>
            </a:r>
            <a:endParaRPr sz="19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s1</a:t>
            </a:r>
            <a:r>
              <a:rPr lang="es" sz="1700">
                <a:solidFill>
                  <a:schemeClr val="dk1"/>
                </a:solidFill>
              </a:rPr>
              <a:t> = (w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1 + </a:t>
            </a:r>
            <a:r>
              <a:rPr lang="es" sz="1700">
                <a:solidFill>
                  <a:schemeClr val="accent1"/>
                </a:solidFill>
              </a:rPr>
              <a:t>w</a:t>
            </a:r>
            <a:r>
              <a:rPr baseline="-25000" lang="es" sz="1700">
                <a:solidFill>
                  <a:schemeClr val="accent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1)0* = </a:t>
            </a:r>
            <a:r>
              <a:rPr lang="es" sz="1700">
                <a:solidFill>
                  <a:schemeClr val="dk1"/>
                </a:solidFill>
              </a:rPr>
              <a:t> (w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1 + </a:t>
            </a:r>
            <a:r>
              <a:rPr lang="es" sz="1700">
                <a:solidFill>
                  <a:schemeClr val="accent1"/>
                </a:solidFill>
              </a:rPr>
              <a:t>0*</a:t>
            </a:r>
            <a:r>
              <a:rPr lang="es" sz="1700">
                <a:solidFill>
                  <a:schemeClr val="dk1"/>
                </a:solidFill>
              </a:rPr>
              <a:t>1)0*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4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379" name="Google Shape;379;p34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0" name="Google Shape;380;p34"/>
          <p:cNvSpPr txBox="1"/>
          <p:nvPr/>
        </p:nvSpPr>
        <p:spPr>
          <a:xfrm>
            <a:off x="4354125" y="258825"/>
            <a:ext cx="4186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Paso 3.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La expresion regular se obtiene a través de la unión de los términos correspondientes a los estados aceptadores.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λ = λ ⋅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(S + T) = R ⋅ S + R ⋅ 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2" name="Google Shape;382;p34"/>
          <p:cNvSpPr txBox="1"/>
          <p:nvPr/>
        </p:nvSpPr>
        <p:spPr>
          <a:xfrm>
            <a:off x="3411700" y="1808975"/>
            <a:ext cx="5509200" cy="2888400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Siguiendo el ejercicio:</a:t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 =  0*</a:t>
            </a:r>
            <a:endParaRPr sz="19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s1</a:t>
            </a:r>
            <a:r>
              <a:rPr lang="es" sz="1700">
                <a:solidFill>
                  <a:schemeClr val="dk1"/>
                </a:solidFill>
              </a:rPr>
              <a:t> = (w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1 + w</a:t>
            </a:r>
            <a:r>
              <a:rPr baseline="-25000" lang="es" sz="1700">
                <a:solidFill>
                  <a:schemeClr val="dk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1)0* =  (w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1 + 0*1)0*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 = </a:t>
            </a:r>
            <a:r>
              <a:rPr lang="es" sz="1700">
                <a:solidFill>
                  <a:schemeClr val="accent1"/>
                </a:solidFill>
              </a:rPr>
              <a:t>w</a:t>
            </a:r>
            <a:r>
              <a:rPr baseline="-25000" lang="es" sz="1700">
                <a:solidFill>
                  <a:schemeClr val="accent1"/>
                </a:solidFill>
              </a:rPr>
              <a:t>s1</a:t>
            </a:r>
            <a:r>
              <a:rPr lang="es" sz="1700">
                <a:solidFill>
                  <a:schemeClr val="dk1"/>
                </a:solidFill>
              </a:rPr>
              <a:t>1 = </a:t>
            </a:r>
            <a:r>
              <a:rPr lang="es" sz="1700">
                <a:solidFill>
                  <a:schemeClr val="accent1"/>
                </a:solidFill>
              </a:rPr>
              <a:t> (w</a:t>
            </a:r>
            <a:r>
              <a:rPr baseline="-25000" lang="es" sz="1700">
                <a:solidFill>
                  <a:schemeClr val="accent1"/>
                </a:solidFill>
              </a:rPr>
              <a:t>s2</a:t>
            </a:r>
            <a:r>
              <a:rPr lang="es" sz="1700">
                <a:solidFill>
                  <a:schemeClr val="accent1"/>
                </a:solidFill>
              </a:rPr>
              <a:t>1 + 0*1)0*</a:t>
            </a:r>
            <a:r>
              <a:rPr lang="es" sz="1700">
                <a:solidFill>
                  <a:schemeClr val="dk1"/>
                </a:solidFill>
              </a:rPr>
              <a:t>1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388" name="Google Shape;388;p35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9" name="Google Shape;389;p35"/>
          <p:cNvSpPr txBox="1"/>
          <p:nvPr/>
        </p:nvSpPr>
        <p:spPr>
          <a:xfrm>
            <a:off x="4354125" y="258825"/>
            <a:ext cx="4186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Paso 3.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La expresion regular se obtiene a través de la unión de los términos correspondientes a los estados aceptadores.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λ = λ ⋅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</a:rPr>
              <a:t>R ⋅ (S + T) = R ⋅ S + R ⋅ T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1" name="Google Shape;391;p35"/>
          <p:cNvSpPr txBox="1"/>
          <p:nvPr/>
        </p:nvSpPr>
        <p:spPr>
          <a:xfrm>
            <a:off x="3411700" y="1808975"/>
            <a:ext cx="5610600" cy="2888400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Siguiendo el ejercicio:</a:t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 =  0*</a:t>
            </a:r>
            <a:endParaRPr sz="19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s1</a:t>
            </a:r>
            <a:r>
              <a:rPr lang="es" sz="1700">
                <a:solidFill>
                  <a:schemeClr val="dk1"/>
                </a:solidFill>
              </a:rPr>
              <a:t> =  (w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1 + 0*1)0*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 = </a:t>
            </a:r>
            <a:r>
              <a:rPr lang="es" sz="1700">
                <a:solidFill>
                  <a:schemeClr val="accent1"/>
                </a:solidFill>
              </a:rPr>
              <a:t> </a:t>
            </a:r>
            <a:r>
              <a:rPr lang="es" sz="1700">
                <a:solidFill>
                  <a:schemeClr val="dk1"/>
                </a:solidFill>
              </a:rPr>
              <a:t>(w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1 + 0*1)0*1		</a:t>
            </a:r>
            <a:endParaRPr b="1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      = 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10*1 + 0*10*1</a:t>
            </a:r>
            <a:r>
              <a:rPr lang="es" sz="1700">
                <a:solidFill>
                  <a:schemeClr val="dk1"/>
                </a:solidFill>
              </a:rPr>
              <a:t>		(</a:t>
            </a:r>
            <a:r>
              <a:rPr b="1" lang="es">
                <a:solidFill>
                  <a:schemeClr val="dk1"/>
                </a:solidFill>
              </a:rPr>
              <a:t>Podemos aplicar Paso 2)</a:t>
            </a:r>
            <a:endParaRPr b="1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       = </a:t>
            </a:r>
            <a:r>
              <a:rPr lang="es" sz="1700">
                <a:solidFill>
                  <a:schemeClr val="dk1"/>
                </a:solidFill>
              </a:rPr>
              <a:t>0*10*1(10*1)*</a:t>
            </a:r>
            <a:endParaRPr b="1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/>
          <p:nvPr/>
        </p:nvSpPr>
        <p:spPr>
          <a:xfrm>
            <a:off x="2169975" y="114575"/>
            <a:ext cx="21126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S = {s</a:t>
            </a:r>
            <a:r>
              <a:rPr baseline="-25000" lang="es" sz="1700">
                <a:solidFill>
                  <a:schemeClr val="dk1"/>
                </a:solidFill>
              </a:rPr>
              <a:t>0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1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2</a:t>
            </a:r>
            <a:r>
              <a:rPr lang="es" sz="1700">
                <a:solidFill>
                  <a:schemeClr val="dk1"/>
                </a:solidFill>
              </a:rPr>
              <a:t>,s</a:t>
            </a:r>
            <a:r>
              <a:rPr baseline="-25000" lang="es" sz="1700">
                <a:solidFill>
                  <a:schemeClr val="dk1"/>
                </a:solidFill>
              </a:rPr>
              <a:t>3</a:t>
            </a:r>
            <a:r>
              <a:rPr lang="es" sz="1700">
                <a:solidFill>
                  <a:schemeClr val="dk1"/>
                </a:solidFill>
              </a:rPr>
              <a:t>}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Σ = {0,1}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F = {s</a:t>
            </a:r>
            <a:r>
              <a:rPr baseline="-25000" lang="es" sz="1500">
                <a:solidFill>
                  <a:schemeClr val="dk1"/>
                </a:solidFill>
              </a:rPr>
              <a:t>3</a:t>
            </a:r>
            <a:r>
              <a:rPr lang="es" sz="15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397" name="Google Shape;397;p36"/>
          <p:cNvGraphicFramePr/>
          <p:nvPr/>
        </p:nvGraphicFramePr>
        <p:xfrm>
          <a:off x="182675" y="1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{D6258262-8B09-410E-975E-8F85A8B49DA9}</a:tableStyleId>
              </a:tblPr>
              <a:tblGrid>
                <a:gridCol w="613275"/>
                <a:gridCol w="652150"/>
                <a:gridCol w="4306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solidFill>
                            <a:schemeClr val="dk1"/>
                          </a:solidFill>
                        </a:rPr>
                        <a:t>δ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-&gt;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0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1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* 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 baseline="-25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baseline="-25000" lang="es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36"/>
          <p:cNvSpPr txBox="1"/>
          <p:nvPr/>
        </p:nvSpPr>
        <p:spPr>
          <a:xfrm>
            <a:off x="4354125" y="258825"/>
            <a:ext cx="4186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</a:rPr>
              <a:t>Paso 3.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La expresion regular se obtiene a través de la unión de los términos correspondientes a los estados aceptadores.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99" name="Google Shape;399;p36"/>
          <p:cNvSpPr/>
          <p:nvPr/>
        </p:nvSpPr>
        <p:spPr>
          <a:xfrm>
            <a:off x="200525" y="2470775"/>
            <a:ext cx="2542500" cy="23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Reglas de conversión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</a:rPr>
              <a:t>(Siendo R y S ERs)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⋅ λ = λ ⋅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 + R = R + 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</a:rPr>
              <a:t>R ⋅ (S + T) = R ⋅ S + R ⋅ T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(S + T) ⋅ R = S ⋅ R + T ⋅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 + R = 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0" name="Google Shape;400;p36"/>
          <p:cNvSpPr txBox="1"/>
          <p:nvPr/>
        </p:nvSpPr>
        <p:spPr>
          <a:xfrm>
            <a:off x="3411700" y="1808975"/>
            <a:ext cx="5509200" cy="3232800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1"/>
                </a:solidFill>
              </a:rPr>
              <a:t>Siguiendo el ejercicio:</a:t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s0</a:t>
            </a:r>
            <a:r>
              <a:rPr lang="es" sz="1700">
                <a:solidFill>
                  <a:schemeClr val="dk1"/>
                </a:solidFill>
              </a:rPr>
              <a:t> =  0*</a:t>
            </a:r>
            <a:endParaRPr sz="19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s1</a:t>
            </a:r>
            <a:r>
              <a:rPr lang="es" sz="1700">
                <a:solidFill>
                  <a:schemeClr val="dk1"/>
                </a:solidFill>
              </a:rPr>
              <a:t> =  (w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1 + 0*1)0*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= </a:t>
            </a:r>
            <a:r>
              <a:rPr lang="es" sz="1700">
                <a:solidFill>
                  <a:schemeClr val="accent1"/>
                </a:solidFill>
              </a:rPr>
              <a:t>0*10*1(10*1)*</a:t>
            </a:r>
            <a:endParaRPr sz="1700">
              <a:solidFill>
                <a:schemeClr val="accen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w</a:t>
            </a:r>
            <a:r>
              <a:rPr baseline="-25000" lang="es" sz="1700">
                <a:solidFill>
                  <a:schemeClr val="dk1"/>
                </a:solidFill>
              </a:rPr>
              <a:t>s3</a:t>
            </a:r>
            <a:r>
              <a:rPr lang="es" sz="1700">
                <a:solidFill>
                  <a:schemeClr val="dk1"/>
                </a:solidFill>
              </a:rPr>
              <a:t> = </a:t>
            </a:r>
            <a:r>
              <a:rPr lang="es" sz="1700">
                <a:solidFill>
                  <a:schemeClr val="accent1"/>
                </a:solidFill>
              </a:rPr>
              <a:t>w</a:t>
            </a:r>
            <a:r>
              <a:rPr baseline="-25000" lang="es" sz="1700">
                <a:solidFill>
                  <a:schemeClr val="accent1"/>
                </a:solidFill>
              </a:rPr>
              <a:t>s2</a:t>
            </a:r>
            <a:r>
              <a:rPr lang="es" sz="1700">
                <a:solidFill>
                  <a:schemeClr val="dk1"/>
                </a:solidFill>
              </a:rPr>
              <a:t>0(0+1)* = </a:t>
            </a:r>
            <a:r>
              <a:rPr lang="es" sz="1700">
                <a:solidFill>
                  <a:schemeClr val="accent1"/>
                </a:solidFill>
              </a:rPr>
              <a:t>0*10*1(10*1)*</a:t>
            </a:r>
            <a:r>
              <a:rPr lang="es" sz="1700">
                <a:solidFill>
                  <a:schemeClr val="dk1"/>
                </a:solidFill>
              </a:rPr>
              <a:t>0(0+1)*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Luego, la ER </a:t>
            </a:r>
            <a:r>
              <a:rPr lang="es" sz="1700" u="sng">
                <a:solidFill>
                  <a:schemeClr val="dk1"/>
                </a:solidFill>
              </a:rPr>
              <a:t>E = 0*10*1(10*1)*0(0+1)*</a:t>
            </a:r>
            <a:endParaRPr sz="1700"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/>
          <p:cNvSpPr txBox="1"/>
          <p:nvPr>
            <p:ph type="ctrTitle"/>
          </p:nvPr>
        </p:nvSpPr>
        <p:spPr>
          <a:xfrm>
            <a:off x="311700" y="1059950"/>
            <a:ext cx="8520600" cy="163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/>
              <a:t>Muchas gracias por su atención</a:t>
            </a:r>
            <a:endParaRPr sz="4400"/>
          </a:p>
        </p:txBody>
      </p:sp>
      <p:sp>
        <p:nvSpPr>
          <p:cNvPr id="406" name="Google Shape;406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Preguntas?</a:t>
            </a:r>
            <a:endParaRPr/>
          </a:p>
        </p:txBody>
      </p:sp>
      <p:cxnSp>
        <p:nvCxnSpPr>
          <p:cNvPr id="407" name="Google Shape;407;p37"/>
          <p:cNvCxnSpPr/>
          <p:nvPr/>
        </p:nvCxnSpPr>
        <p:spPr>
          <a:xfrm>
            <a:off x="310925" y="2748850"/>
            <a:ext cx="85293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