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BCFEC0-04D5-4ED6-BBFC-88157E00BC00}">
  <a:tblStyle styleId="{01BCFEC0-04D5-4ED6-BBFC-88157E00BC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5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ProximaNov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bcc28ce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dbcc28ce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bcc28ce2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bcc28ce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bcc28ce2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dbcc28ce2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bcc28ce2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dbcc28ce2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bcc28ce2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dbcc28ce2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bcc28ce2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dbcc28ce2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bcc28ce2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dbcc28ce2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bcc28ce2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dbcc28ce2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bcc28ce2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dbcc28ce2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dbcc28ce2f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dbcc28ce2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bcc28ce2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dbcc28ce2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bcc28ce2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dbcc28ce2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bcc28ce2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dbcc28ce2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dbcc28ce2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dbcc28ce2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Minimización</a:t>
            </a:r>
            <a:r>
              <a:rPr lang="es"/>
              <a:t> de </a:t>
            </a:r>
            <a:r>
              <a:rPr lang="es"/>
              <a:t>Autómatas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Lenguajes Formales y </a:t>
            </a:r>
            <a:r>
              <a:rPr lang="es"/>
              <a:t>Autómatas - Diego Orbe.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Dado un </a:t>
            </a:r>
            <a:r>
              <a:rPr lang="es"/>
              <a:t>autómata</a:t>
            </a:r>
            <a:r>
              <a:rPr lang="es"/>
              <a:t> finito </a:t>
            </a:r>
            <a:r>
              <a:rPr b="1" lang="es"/>
              <a:t>M</a:t>
            </a:r>
            <a:r>
              <a:rPr lang="es"/>
              <a:t>, queremos encontrar un </a:t>
            </a:r>
            <a:r>
              <a:rPr b="1" lang="es"/>
              <a:t>M’</a:t>
            </a:r>
            <a:r>
              <a:rPr lang="es"/>
              <a:t> </a:t>
            </a:r>
            <a:r>
              <a:rPr b="1" lang="es"/>
              <a:t>que se comporte como M</a:t>
            </a:r>
            <a:r>
              <a:rPr lang="es"/>
              <a:t> y que tenga </a:t>
            </a:r>
            <a:r>
              <a:rPr lang="es" u="sng"/>
              <a:t>menos estados (si es posible).</a:t>
            </a:r>
            <a:endParaRPr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Es decir: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Si M es un AFR → queremos que L(M) = L(M’)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Si M es un AFT → queremos que para las mismas entradas, M y M’ generen las mismas salidas.</a:t>
            </a:r>
            <a:endParaRPr sz="18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s"/>
              <a:t>Importante: </a:t>
            </a:r>
            <a:r>
              <a:rPr lang="es"/>
              <a:t>dado dos estados s</a:t>
            </a:r>
            <a:r>
              <a:rPr baseline="-25000" lang="es"/>
              <a:t>i</a:t>
            </a:r>
            <a:r>
              <a:rPr lang="es"/>
              <a:t>, s</a:t>
            </a:r>
            <a:r>
              <a:rPr baseline="-25000" lang="es"/>
              <a:t>j</a:t>
            </a:r>
            <a:r>
              <a:rPr lang="es"/>
              <a:t> y una cadena w, se dice que				δ(s</a:t>
            </a:r>
            <a:r>
              <a:rPr baseline="-25000" lang="es"/>
              <a:t>i</a:t>
            </a:r>
            <a:r>
              <a:rPr lang="es"/>
              <a:t>, w) = s</a:t>
            </a:r>
            <a:r>
              <a:rPr baseline="-25000" lang="es"/>
              <a:t>j</a:t>
            </a:r>
            <a:r>
              <a:rPr lang="es"/>
              <a:t> </a:t>
            </a:r>
            <a:r>
              <a:rPr lang="es" sz="2100"/>
              <a:t>→</a:t>
            </a:r>
            <a:r>
              <a:rPr lang="es"/>
              <a:t> Si desde s</a:t>
            </a:r>
            <a:r>
              <a:rPr baseline="-25000" lang="es"/>
              <a:t>i</a:t>
            </a:r>
            <a:r>
              <a:rPr lang="es"/>
              <a:t> leyendo la </a:t>
            </a:r>
            <a:r>
              <a:rPr b="1" lang="es"/>
              <a:t>cadena w</a:t>
            </a:r>
            <a:r>
              <a:rPr lang="es"/>
              <a:t> termino en el estado s</a:t>
            </a:r>
            <a:r>
              <a:rPr baseline="-25000" lang="es"/>
              <a:t>j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 de </a:t>
            </a:r>
            <a:r>
              <a:rPr lang="es"/>
              <a:t>minimización</a:t>
            </a:r>
            <a:r>
              <a:rPr lang="es"/>
              <a:t> (Augusto)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6706800" y="1256675"/>
            <a:ext cx="1923000" cy="764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Eliminar estados inalcanzables.</a:t>
            </a:r>
            <a:endParaRPr/>
          </a:p>
        </p:txBody>
      </p:sp>
      <p:grpSp>
        <p:nvGrpSpPr>
          <p:cNvPr id="73" name="Google Shape;73;p15"/>
          <p:cNvGrpSpPr/>
          <p:nvPr/>
        </p:nvGrpSpPr>
        <p:grpSpPr>
          <a:xfrm>
            <a:off x="199600" y="1152476"/>
            <a:ext cx="5255750" cy="3544374"/>
            <a:chOff x="199600" y="1152476"/>
            <a:chExt cx="5255750" cy="3544374"/>
          </a:xfrm>
        </p:grpSpPr>
        <p:pic>
          <p:nvPicPr>
            <p:cNvPr id="74" name="Google Shape;74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9600" y="1152476"/>
              <a:ext cx="5255750" cy="163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4388" y="2644501"/>
              <a:ext cx="5186175" cy="20523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6706800" y="2455275"/>
            <a:ext cx="1923000" cy="764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Conseguir estados 0-equivalentes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6706800" y="3417038"/>
            <a:ext cx="1923000" cy="764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Refinar clases k+1 equivalentes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6921350" y="4378800"/>
            <a:ext cx="1708500" cy="485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Definir M’</a:t>
            </a:r>
            <a:endParaRPr/>
          </a:p>
        </p:txBody>
      </p:sp>
      <p:cxnSp>
        <p:nvCxnSpPr>
          <p:cNvPr id="79" name="Google Shape;79;p15"/>
          <p:cNvCxnSpPr>
            <a:stCxn id="74" idx="3"/>
            <a:endCxn id="72" idx="1"/>
          </p:cNvCxnSpPr>
          <p:nvPr/>
        </p:nvCxnSpPr>
        <p:spPr>
          <a:xfrm flipH="1" rot="10800000">
            <a:off x="5455350" y="1639113"/>
            <a:ext cx="1251600" cy="33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5"/>
          <p:cNvCxnSpPr>
            <a:endCxn id="76" idx="1"/>
          </p:cNvCxnSpPr>
          <p:nvPr/>
        </p:nvCxnSpPr>
        <p:spPr>
          <a:xfrm>
            <a:off x="5217000" y="2432025"/>
            <a:ext cx="1489800" cy="40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5"/>
          <p:cNvCxnSpPr>
            <a:endCxn id="77" idx="1"/>
          </p:cNvCxnSpPr>
          <p:nvPr/>
        </p:nvCxnSpPr>
        <p:spPr>
          <a:xfrm>
            <a:off x="5420700" y="3670688"/>
            <a:ext cx="1286100" cy="12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5"/>
          <p:cNvCxnSpPr/>
          <p:nvPr/>
        </p:nvCxnSpPr>
        <p:spPr>
          <a:xfrm>
            <a:off x="5284550" y="4491850"/>
            <a:ext cx="1636800" cy="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Consideremos a M = ({s</a:t>
            </a:r>
            <a:r>
              <a:rPr baseline="-25000" lang="es"/>
              <a:t>0</a:t>
            </a:r>
            <a:r>
              <a:rPr lang="es"/>
              <a:t>,</a:t>
            </a:r>
            <a:r>
              <a:rPr lang="es"/>
              <a:t>s</a:t>
            </a:r>
            <a:r>
              <a:rPr baseline="-25000" lang="es"/>
              <a:t>1</a:t>
            </a:r>
            <a:r>
              <a:rPr lang="es"/>
              <a:t>,s</a:t>
            </a:r>
            <a:r>
              <a:rPr baseline="-25000" lang="es"/>
              <a:t>2</a:t>
            </a:r>
            <a:r>
              <a:rPr lang="es"/>
              <a:t>,s</a:t>
            </a:r>
            <a:r>
              <a:rPr baseline="-25000" lang="es"/>
              <a:t>3</a:t>
            </a:r>
            <a:r>
              <a:rPr lang="es"/>
              <a:t>,s</a:t>
            </a:r>
            <a:r>
              <a:rPr baseline="-25000" lang="es"/>
              <a:t>4</a:t>
            </a:r>
            <a:r>
              <a:rPr lang="es"/>
              <a:t>,s</a:t>
            </a:r>
            <a:r>
              <a:rPr baseline="-25000" lang="es"/>
              <a:t>5</a:t>
            </a:r>
            <a:r>
              <a:rPr lang="es"/>
              <a:t>,s</a:t>
            </a:r>
            <a:r>
              <a:rPr baseline="-25000" lang="es"/>
              <a:t>6</a:t>
            </a:r>
            <a:r>
              <a:rPr lang="es"/>
              <a:t>}, {0,1}, δ, s</a:t>
            </a:r>
            <a:r>
              <a:rPr baseline="-25000" lang="es"/>
              <a:t>0</a:t>
            </a:r>
            <a:r>
              <a:rPr lang="es"/>
              <a:t>, {s</a:t>
            </a:r>
            <a:r>
              <a:rPr baseline="-25000" lang="es"/>
              <a:t>0</a:t>
            </a:r>
            <a:r>
              <a:rPr lang="es"/>
              <a:t>,s</a:t>
            </a:r>
            <a:r>
              <a:rPr baseline="-25000" lang="es"/>
              <a:t>1</a:t>
            </a:r>
            <a:r>
              <a:rPr lang="es"/>
              <a:t>,s</a:t>
            </a:r>
            <a:r>
              <a:rPr baseline="-25000" lang="es"/>
              <a:t>3</a:t>
            </a:r>
            <a:r>
              <a:rPr lang="es"/>
              <a:t>}</a:t>
            </a:r>
            <a:r>
              <a:rPr lang="es"/>
              <a:t>) tal que:</a:t>
            </a:r>
            <a:endParaRPr/>
          </a:p>
        </p:txBody>
      </p:sp>
      <p:graphicFrame>
        <p:nvGraphicFramePr>
          <p:cNvPr id="89" name="Google Shape;89;p16"/>
          <p:cNvGraphicFramePr/>
          <p:nvPr/>
        </p:nvGraphicFramePr>
        <p:xfrm>
          <a:off x="406875" y="171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{01BCFEC0-04D5-4ED6-BBFC-88157E00BC00}</a:tableStyleId>
              </a:tblPr>
              <a:tblGrid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→ *s</a:t>
                      </a:r>
                      <a:r>
                        <a:rPr baseline="-25000" lang="es"/>
                        <a:t>0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2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1</a:t>
                      </a:r>
                      <a:endParaRPr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*s</a:t>
                      </a:r>
                      <a:r>
                        <a:rPr baseline="-25000"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2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0</a:t>
                      </a:r>
                      <a:endParaRPr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4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3</a:t>
                      </a:r>
                      <a:endParaRPr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2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3</a:t>
                      </a:r>
                      <a:endParaRPr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0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1</a:t>
                      </a:r>
                      <a:endParaRPr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5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6</a:t>
                      </a:r>
                      <a:endParaRPr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6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5</a:t>
                      </a:r>
                      <a:endParaRPr baseline="-25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0" name="Google Shape;90;p16"/>
          <p:cNvSpPr txBox="1"/>
          <p:nvPr/>
        </p:nvSpPr>
        <p:spPr>
          <a:xfrm>
            <a:off x="6394150" y="2996000"/>
            <a:ext cx="23235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Minimicemos M!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Eliminación</a:t>
            </a:r>
            <a:r>
              <a:rPr lang="es"/>
              <a:t> de estados inalcanzables.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5439600" y="3288400"/>
            <a:ext cx="3498600" cy="1643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¿Cómo lo hago?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400"/>
              <a:t>Miro el grafo, </a:t>
            </a:r>
            <a:r>
              <a:rPr i="1" lang="es" sz="1400"/>
              <a:t>detectando</a:t>
            </a:r>
            <a:r>
              <a:rPr i="1" lang="es" sz="1400"/>
              <a:t> los estados a los que no puedo llegar con ninguna cadena.</a:t>
            </a:r>
            <a:endParaRPr i="1" sz="1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 sz="1400"/>
              <a:t>Luego, en M’ </a:t>
            </a:r>
            <a:r>
              <a:rPr b="1" i="1" lang="es" sz="1400"/>
              <a:t>no </a:t>
            </a:r>
            <a:r>
              <a:rPr i="1" lang="es" sz="1400"/>
              <a:t>incluyo dichos estados.</a:t>
            </a:r>
            <a:endParaRPr i="1" sz="1400"/>
          </a:p>
        </p:txBody>
      </p:sp>
      <p:grpSp>
        <p:nvGrpSpPr>
          <p:cNvPr id="97" name="Google Shape;97;p17"/>
          <p:cNvGrpSpPr/>
          <p:nvPr/>
        </p:nvGrpSpPr>
        <p:grpSpPr>
          <a:xfrm>
            <a:off x="107650" y="1152476"/>
            <a:ext cx="5255750" cy="3544374"/>
            <a:chOff x="199600" y="1152476"/>
            <a:chExt cx="5255750" cy="3544374"/>
          </a:xfrm>
        </p:grpSpPr>
        <p:pic>
          <p:nvPicPr>
            <p:cNvPr id="98" name="Google Shape;98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9600" y="1152476"/>
              <a:ext cx="5255750" cy="163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4388" y="2644501"/>
              <a:ext cx="5186175" cy="20523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" name="Google Shape;100;p17"/>
          <p:cNvSpPr/>
          <p:nvPr/>
        </p:nvSpPr>
        <p:spPr>
          <a:xfrm>
            <a:off x="29700" y="2088700"/>
            <a:ext cx="5333700" cy="2648400"/>
          </a:xfrm>
          <a:prstGeom prst="rect">
            <a:avLst/>
          </a:prstGeom>
          <a:solidFill>
            <a:srgbClr val="EEEEEE">
              <a:alpha val="7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500" y="2155629"/>
            <a:ext cx="8011501" cy="97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1017725"/>
            <a:ext cx="4260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Hago el grafo de M: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4425300" y="1017725"/>
            <a:ext cx="4568100" cy="3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Verificó</a:t>
            </a:r>
            <a:r>
              <a:rPr lang="es"/>
              <a:t> estados inalcanzables: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</a:t>
            </a:r>
            <a:r>
              <a:rPr baseline="-25000" lang="es"/>
              <a:t>0</a:t>
            </a:r>
            <a:r>
              <a:rPr lang="es"/>
              <a:t> → Puedo llegar con λ, o con 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</a:t>
            </a:r>
            <a:r>
              <a:rPr baseline="-25000" lang="es"/>
              <a:t>1</a:t>
            </a:r>
            <a:r>
              <a:rPr lang="es"/>
              <a:t> → Puedo llegar con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</a:t>
            </a:r>
            <a:r>
              <a:rPr baseline="-25000" lang="es"/>
              <a:t>2</a:t>
            </a:r>
            <a:r>
              <a:rPr lang="es"/>
              <a:t> → Puedo llegar con 0, o con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</a:t>
            </a:r>
            <a:r>
              <a:rPr baseline="-25000" lang="es"/>
              <a:t>3</a:t>
            </a:r>
            <a:r>
              <a:rPr lang="es"/>
              <a:t> → Puedo llegar con 01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</a:t>
            </a:r>
            <a:r>
              <a:rPr baseline="-25000" lang="es"/>
              <a:t>4</a:t>
            </a:r>
            <a:r>
              <a:rPr lang="es"/>
              <a:t> → Puedo llegar con 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 s</a:t>
            </a:r>
            <a:r>
              <a:rPr baseline="-25000" lang="es"/>
              <a:t>5</a:t>
            </a:r>
            <a:r>
              <a:rPr lang="es"/>
              <a:t> y s</a:t>
            </a:r>
            <a:r>
              <a:rPr baseline="-25000" lang="es"/>
              <a:t>6</a:t>
            </a:r>
            <a:r>
              <a:rPr lang="es"/>
              <a:t> no puedo llegar con ninguna cadena, </a:t>
            </a:r>
            <a:r>
              <a:rPr b="1" lang="es"/>
              <a:t>son estados inalcanzables!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450" y="1579075"/>
            <a:ext cx="3862299" cy="26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4642650" y="2702725"/>
            <a:ext cx="3899400" cy="21531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¿Cómo lo hago?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400"/>
          </a:p>
        </p:txBody>
      </p:sp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Definición</a:t>
            </a:r>
            <a:r>
              <a:rPr lang="es"/>
              <a:t> de </a:t>
            </a:r>
            <a:r>
              <a:rPr lang="es" u="sng"/>
              <a:t>clases 0-equivalentes</a:t>
            </a:r>
            <a:endParaRPr u="sng"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38" y="1139475"/>
            <a:ext cx="8010525" cy="72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19"/>
          <p:cNvSpPr txBox="1"/>
          <p:nvPr/>
        </p:nvSpPr>
        <p:spPr>
          <a:xfrm>
            <a:off x="814063" y="1863375"/>
            <a:ext cx="75159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Dos estados s</a:t>
            </a:r>
            <a:r>
              <a:rPr baseline="-25000" lang="es" sz="1800">
                <a:solidFill>
                  <a:schemeClr val="dk1"/>
                </a:solidFill>
              </a:rPr>
              <a:t>i</a:t>
            </a:r>
            <a:r>
              <a:rPr lang="es" sz="1800">
                <a:solidFill>
                  <a:schemeClr val="dk1"/>
                </a:solidFill>
              </a:rPr>
              <a:t>, s</a:t>
            </a:r>
            <a:r>
              <a:rPr baseline="-25000" lang="es" sz="1800">
                <a:solidFill>
                  <a:schemeClr val="dk1"/>
                </a:solidFill>
              </a:rPr>
              <a:t>j</a:t>
            </a:r>
            <a:r>
              <a:rPr lang="es" sz="1800">
                <a:solidFill>
                  <a:schemeClr val="dk1"/>
                </a:solidFill>
              </a:rPr>
              <a:t> son k-equivalentes si para las cadenas de longitud k, llevan a un estado con la misma salida.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429150" y="3132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En esta primera instancia (0-equivalentes), solo miramos los estados que tengan la misma “salida”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4725250" y="3237150"/>
            <a:ext cx="373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600">
                <a:solidFill>
                  <a:schemeClr val="dk1"/>
                </a:solidFill>
              </a:rPr>
              <a:t>En AFR</a:t>
            </a:r>
            <a:r>
              <a:rPr i="1" lang="es" sz="1600">
                <a:solidFill>
                  <a:schemeClr val="dk1"/>
                </a:solidFill>
              </a:rPr>
              <a:t> → </a:t>
            </a:r>
            <a:r>
              <a:rPr i="1" lang="es" sz="1600">
                <a:solidFill>
                  <a:schemeClr val="dk1"/>
                </a:solidFill>
              </a:rPr>
              <a:t>Agrupo</a:t>
            </a:r>
            <a:r>
              <a:rPr i="1" lang="es" sz="1600">
                <a:solidFill>
                  <a:schemeClr val="dk1"/>
                </a:solidFill>
              </a:rPr>
              <a:t> los estados en “estados que aceptan” y los que no. </a:t>
            </a:r>
            <a:endParaRPr i="1" sz="1600">
              <a:solidFill>
                <a:schemeClr val="dk1"/>
              </a:solidFill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4725250" y="3882650"/>
            <a:ext cx="373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600">
                <a:solidFill>
                  <a:schemeClr val="dk1"/>
                </a:solidFill>
              </a:rPr>
              <a:t>En AFT</a:t>
            </a:r>
            <a:r>
              <a:rPr i="1" lang="es" sz="1600">
                <a:solidFill>
                  <a:schemeClr val="dk1"/>
                </a:solidFill>
              </a:rPr>
              <a:t> → </a:t>
            </a:r>
            <a:r>
              <a:rPr i="1" lang="es" sz="1600">
                <a:solidFill>
                  <a:schemeClr val="dk1"/>
                </a:solidFill>
              </a:rPr>
              <a:t>Agrupo los estados en</a:t>
            </a:r>
            <a:r>
              <a:rPr i="1" lang="es" sz="1600">
                <a:solidFill>
                  <a:schemeClr val="dk1"/>
                </a:solidFill>
              </a:rPr>
              <a:t> “estados que imprimen la misma salida”  </a:t>
            </a:r>
            <a:endParaRPr i="1" sz="1600">
              <a:solidFill>
                <a:schemeClr val="dk1"/>
              </a:solidFill>
            </a:endParaRPr>
          </a:p>
        </p:txBody>
      </p:sp>
      <p:cxnSp>
        <p:nvCxnSpPr>
          <p:cNvPr id="121" name="Google Shape;121;p19"/>
          <p:cNvCxnSpPr>
            <a:stCxn id="118" idx="3"/>
            <a:endCxn id="114" idx="1"/>
          </p:cNvCxnSpPr>
          <p:nvPr/>
        </p:nvCxnSpPr>
        <p:spPr>
          <a:xfrm>
            <a:off x="3429150" y="3779275"/>
            <a:ext cx="121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1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1152475"/>
            <a:ext cx="8520600" cy="25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Agrupamos a los </a:t>
            </a:r>
            <a:r>
              <a:rPr b="1" lang="es"/>
              <a:t>estados alcanzables</a:t>
            </a:r>
            <a:r>
              <a:rPr lang="es"/>
              <a:t> dependiendo si son aceptadores o no…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 = S \ {s</a:t>
            </a:r>
            <a:r>
              <a:rPr baseline="-25000" lang="es"/>
              <a:t>5</a:t>
            </a:r>
            <a:r>
              <a:rPr lang="es"/>
              <a:t>,s</a:t>
            </a:r>
            <a:r>
              <a:rPr baseline="-25000" lang="es"/>
              <a:t>6</a:t>
            </a:r>
            <a:r>
              <a:rPr lang="es"/>
              <a:t>} = {s</a:t>
            </a:r>
            <a:r>
              <a:rPr baseline="-25000" lang="es"/>
              <a:t>0</a:t>
            </a:r>
            <a:r>
              <a:rPr lang="es"/>
              <a:t>,s</a:t>
            </a:r>
            <a:r>
              <a:rPr baseline="-25000" lang="es"/>
              <a:t>1</a:t>
            </a:r>
            <a:r>
              <a:rPr lang="es"/>
              <a:t>,s</a:t>
            </a:r>
            <a:r>
              <a:rPr baseline="-25000" lang="es"/>
              <a:t>2</a:t>
            </a:r>
            <a:r>
              <a:rPr lang="es"/>
              <a:t>,s</a:t>
            </a:r>
            <a:r>
              <a:rPr baseline="-25000" lang="es"/>
              <a:t>3</a:t>
            </a:r>
            <a:r>
              <a:rPr lang="es"/>
              <a:t>,s</a:t>
            </a:r>
            <a:r>
              <a:rPr baseline="-25000" lang="es"/>
              <a:t>4</a:t>
            </a:r>
            <a:r>
              <a:rPr lang="es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→ </a:t>
            </a:r>
            <a:r>
              <a:rPr lang="es"/>
              <a:t>s</a:t>
            </a:r>
            <a:r>
              <a:rPr baseline="-25000" lang="es"/>
              <a:t>0</a:t>
            </a:r>
            <a:r>
              <a:rPr lang="es"/>
              <a:t>, s</a:t>
            </a:r>
            <a:r>
              <a:rPr baseline="-25000" lang="es"/>
              <a:t>1</a:t>
            </a:r>
            <a:r>
              <a:rPr lang="es"/>
              <a:t>, s</a:t>
            </a:r>
            <a:r>
              <a:rPr baseline="-25000" lang="es"/>
              <a:t>3</a:t>
            </a:r>
            <a:r>
              <a:rPr lang="es"/>
              <a:t> son estados aceptadores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→ s</a:t>
            </a:r>
            <a:r>
              <a:rPr baseline="-25000" lang="es"/>
              <a:t>2</a:t>
            </a:r>
            <a:r>
              <a:rPr lang="es"/>
              <a:t>, s</a:t>
            </a:r>
            <a:r>
              <a:rPr baseline="-25000" lang="es"/>
              <a:t>4</a:t>
            </a:r>
            <a:r>
              <a:rPr lang="es"/>
              <a:t> no lo 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Luego, la clase de equivalencia |0| = {s</a:t>
            </a:r>
            <a:r>
              <a:rPr baseline="-25000" lang="es"/>
              <a:t>0</a:t>
            </a:r>
            <a:r>
              <a:rPr lang="es"/>
              <a:t>,s</a:t>
            </a:r>
            <a:r>
              <a:rPr baseline="-25000" lang="es"/>
              <a:t>1</a:t>
            </a:r>
            <a:r>
              <a:rPr lang="es"/>
              <a:t>,s</a:t>
            </a:r>
            <a:r>
              <a:rPr baseline="-25000" lang="es"/>
              <a:t>3</a:t>
            </a:r>
            <a:r>
              <a:rPr lang="es"/>
              <a:t>},	{s</a:t>
            </a:r>
            <a:r>
              <a:rPr baseline="-25000" lang="es"/>
              <a:t>2</a:t>
            </a:r>
            <a:r>
              <a:rPr lang="es"/>
              <a:t>, s</a:t>
            </a:r>
            <a:r>
              <a:rPr baseline="-25000" lang="es"/>
              <a:t>4</a:t>
            </a:r>
            <a:r>
              <a:rPr lang="es"/>
              <a:t>}.</a:t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 rot="-5400000">
            <a:off x="4360475" y="3178475"/>
            <a:ext cx="220800" cy="750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 rot="-5400000">
            <a:off x="5186075" y="3223175"/>
            <a:ext cx="220800" cy="661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4282475" y="3627475"/>
            <a:ext cx="4536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1800">
                <a:solidFill>
                  <a:srgbClr val="FF0000"/>
                </a:solidFill>
              </a:rPr>
              <a:t>A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5069675" y="3627475"/>
            <a:ext cx="4536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1800">
                <a:solidFill>
                  <a:srgbClr val="4A86E8"/>
                </a:solidFill>
              </a:rPr>
              <a:t>B</a:t>
            </a:r>
            <a:endParaRPr b="1" sz="1800">
              <a:solidFill>
                <a:srgbClr val="4A86E8"/>
              </a:solidFill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962525" y="3627475"/>
            <a:ext cx="3132900" cy="131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Consejo: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Yo suelo ponerle nombre a los conjuntos de estados para guiarme en los siguientes pasos del algoritmo.</a:t>
            </a:r>
            <a:endParaRPr i="1"/>
          </a:p>
        </p:txBody>
      </p:sp>
      <p:cxnSp>
        <p:nvCxnSpPr>
          <p:cNvPr id="133" name="Google Shape;133;p20"/>
          <p:cNvCxnSpPr>
            <a:stCxn id="132" idx="3"/>
            <a:endCxn id="130" idx="2"/>
          </p:cNvCxnSpPr>
          <p:nvPr/>
        </p:nvCxnSpPr>
        <p:spPr>
          <a:xfrm flipH="1" rot="10800000">
            <a:off x="4095425" y="4004275"/>
            <a:ext cx="414000" cy="28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0"/>
          <p:cNvCxnSpPr>
            <a:stCxn id="132" idx="3"/>
            <a:endCxn id="131" idx="2"/>
          </p:cNvCxnSpPr>
          <p:nvPr/>
        </p:nvCxnSpPr>
        <p:spPr>
          <a:xfrm flipH="1" rot="10800000">
            <a:off x="4095425" y="4004275"/>
            <a:ext cx="1201200" cy="28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173175" y="23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Refinar estados k+1-equivalentes.</a:t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58625" y="1152476"/>
            <a:ext cx="5255750" cy="3544374"/>
            <a:chOff x="199600" y="1152476"/>
            <a:chExt cx="5255750" cy="3544374"/>
          </a:xfrm>
        </p:grpSpPr>
        <p:pic>
          <p:nvPicPr>
            <p:cNvPr id="141" name="Google Shape;14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9600" y="1152476"/>
              <a:ext cx="5255750" cy="163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4388" y="2644501"/>
              <a:ext cx="5186175" cy="20523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21"/>
          <p:cNvSpPr/>
          <p:nvPr/>
        </p:nvSpPr>
        <p:spPr>
          <a:xfrm>
            <a:off x="39150" y="1152475"/>
            <a:ext cx="5294700" cy="1770000"/>
          </a:xfrm>
          <a:prstGeom prst="rect">
            <a:avLst/>
          </a:prstGeom>
          <a:solidFill>
            <a:srgbClr val="EEEEEE">
              <a:alpha val="7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173175" y="4271150"/>
            <a:ext cx="4933500" cy="674400"/>
          </a:xfrm>
          <a:prstGeom prst="rect">
            <a:avLst/>
          </a:prstGeom>
          <a:solidFill>
            <a:srgbClr val="EEEEEE">
              <a:alpha val="7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5333850" y="1057075"/>
            <a:ext cx="3744900" cy="22779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¿Cómo lo hago?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250"/>
              <a:t>Verificó</a:t>
            </a:r>
            <a:r>
              <a:rPr i="1" lang="es" sz="1250"/>
              <a:t> que los estados de una misma clase lleven a la misma clase para cada </a:t>
            </a:r>
            <a:r>
              <a:rPr i="1" lang="es" sz="1250"/>
              <a:t>símbolo</a:t>
            </a:r>
            <a:r>
              <a:rPr i="1" lang="es" sz="1250"/>
              <a:t> de Σ. Es decir:</a:t>
            </a:r>
            <a:endParaRPr i="1"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50"/>
              <a:t>Si s</a:t>
            </a:r>
            <a:r>
              <a:rPr baseline="-25000" lang="es" sz="1250"/>
              <a:t>i</a:t>
            </a:r>
            <a:r>
              <a:rPr lang="es" sz="1250"/>
              <a:t>, s</a:t>
            </a:r>
            <a:r>
              <a:rPr baseline="-25000" lang="es" sz="1250"/>
              <a:t>j</a:t>
            </a:r>
            <a:r>
              <a:rPr lang="es" sz="1250"/>
              <a:t> pertenecen a la misma clase X, entonces si  s</a:t>
            </a:r>
            <a:r>
              <a:rPr baseline="-25000" lang="es" sz="1250"/>
              <a:t>i</a:t>
            </a:r>
            <a:r>
              <a:rPr lang="es" sz="1250"/>
              <a:t> con el </a:t>
            </a:r>
            <a:r>
              <a:rPr lang="es" sz="1250"/>
              <a:t>símbolo</a:t>
            </a:r>
            <a:r>
              <a:rPr lang="es" sz="1250"/>
              <a:t> a me lleva a s</a:t>
            </a:r>
            <a:r>
              <a:rPr baseline="-25000" lang="es" sz="1250"/>
              <a:t>k</a:t>
            </a:r>
            <a:r>
              <a:rPr lang="es" sz="1250"/>
              <a:t> (en la clase Y), s</a:t>
            </a:r>
            <a:r>
              <a:rPr baseline="-25000" lang="es" sz="1250"/>
              <a:t>j </a:t>
            </a:r>
            <a:r>
              <a:rPr lang="es" sz="1250"/>
              <a:t> deberia tambien llevarme a un estado de la misma clase Y.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 sz="1250"/>
              <a:t>Si esto no se cumple, los separo en clases diferentes (dependiendo a donde llevan)</a:t>
            </a:r>
            <a:r>
              <a:rPr lang="es" sz="1250"/>
              <a:t>.</a:t>
            </a:r>
            <a:endParaRPr i="1" sz="1400"/>
          </a:p>
        </p:txBody>
      </p:sp>
      <p:sp>
        <p:nvSpPr>
          <p:cNvPr id="146" name="Google Shape;146;p21"/>
          <p:cNvSpPr txBox="1"/>
          <p:nvPr/>
        </p:nvSpPr>
        <p:spPr>
          <a:xfrm>
            <a:off x="5705500" y="3556850"/>
            <a:ext cx="3000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Esto lo hacemos hasta que no pueda dividir más → |k+1| = |k|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11700" y="1032946"/>
            <a:ext cx="4537500" cy="4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Dado |0| = </a:t>
            </a:r>
            <a:r>
              <a:rPr lang="es"/>
              <a:t>{s</a:t>
            </a:r>
            <a:r>
              <a:rPr baseline="-25000" lang="es"/>
              <a:t>0</a:t>
            </a:r>
            <a:r>
              <a:rPr lang="es"/>
              <a:t>,s</a:t>
            </a:r>
            <a:r>
              <a:rPr baseline="-25000" lang="es"/>
              <a:t>1</a:t>
            </a:r>
            <a:r>
              <a:rPr lang="es"/>
              <a:t>,s</a:t>
            </a:r>
            <a:r>
              <a:rPr baseline="-25000" lang="es"/>
              <a:t>3</a:t>
            </a:r>
            <a:r>
              <a:rPr lang="es"/>
              <a:t>}, {s</a:t>
            </a:r>
            <a:r>
              <a:rPr baseline="-25000" lang="es"/>
              <a:t>2</a:t>
            </a:r>
            <a:r>
              <a:rPr lang="es"/>
              <a:t>,s</a:t>
            </a:r>
            <a:r>
              <a:rPr baseline="-25000" lang="es"/>
              <a:t>4</a:t>
            </a:r>
            <a:r>
              <a:rPr lang="es"/>
              <a:t>} busco |1|...</a:t>
            </a:r>
            <a:endParaRPr/>
          </a:p>
        </p:txBody>
      </p:sp>
      <p:sp>
        <p:nvSpPr>
          <p:cNvPr id="153" name="Google Shape;153;p22"/>
          <p:cNvSpPr/>
          <p:nvPr/>
        </p:nvSpPr>
        <p:spPr>
          <a:xfrm rot="-5400000">
            <a:off x="1745075" y="1137600"/>
            <a:ext cx="220800" cy="827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/>
          <p:cNvSpPr/>
          <p:nvPr/>
        </p:nvSpPr>
        <p:spPr>
          <a:xfrm rot="-5400000">
            <a:off x="2521150" y="1297050"/>
            <a:ext cx="220800" cy="508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1628675" y="1661850"/>
            <a:ext cx="45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00"/>
                </a:solidFill>
              </a:rPr>
              <a:t>A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2404750" y="1691175"/>
            <a:ext cx="45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A86E8"/>
                </a:solidFill>
              </a:rPr>
              <a:t>B</a:t>
            </a:r>
            <a:endParaRPr b="1" sz="1800">
              <a:solidFill>
                <a:srgbClr val="4A86E8"/>
              </a:solidFill>
            </a:endParaRPr>
          </a:p>
        </p:txBody>
      </p:sp>
      <p:graphicFrame>
        <p:nvGraphicFramePr>
          <p:cNvPr id="157" name="Google Shape;157;p22"/>
          <p:cNvGraphicFramePr/>
          <p:nvPr/>
        </p:nvGraphicFramePr>
        <p:xfrm>
          <a:off x="541750" y="221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{01BCFEC0-04D5-4ED6-BBFC-88157E00BC00}</a:tableStyleId>
              </a:tblPr>
              <a:tblGrid>
                <a:gridCol w="825175"/>
                <a:gridCol w="825175"/>
                <a:gridCol w="825175"/>
                <a:gridCol w="825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700">
                          <a:solidFill>
                            <a:schemeClr val="dk1"/>
                          </a:solidFill>
                        </a:rPr>
                        <a:t>δ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chemeClr val="dk1"/>
                          </a:solidFill>
                        </a:rPr>
                        <a:t>En </a:t>
                      </a:r>
                      <a:r>
                        <a:rPr lang="es" sz="900">
                          <a:solidFill>
                            <a:schemeClr val="dk1"/>
                          </a:solidFill>
                        </a:rPr>
                        <a:t>qué</a:t>
                      </a:r>
                      <a:r>
                        <a:rPr lang="es" sz="900">
                          <a:solidFill>
                            <a:schemeClr val="dk1"/>
                          </a:solidFill>
                        </a:rPr>
                        <a:t> clase esta?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</a:rPr>
                        <a:t>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→ *s</a:t>
                      </a:r>
                      <a:r>
                        <a:rPr baseline="-25000" lang="es" sz="1300"/>
                        <a:t>0</a:t>
                      </a:r>
                      <a:endParaRPr baseline="-25000"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700">
                          <a:solidFill>
                            <a:srgbClr val="FF0000"/>
                          </a:solidFill>
                        </a:rPr>
                        <a:t>A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s</a:t>
                      </a:r>
                      <a:r>
                        <a:rPr baseline="-25000" lang="es" sz="1300"/>
                        <a:t>2</a:t>
                      </a:r>
                      <a:r>
                        <a:rPr lang="es" sz="1300"/>
                        <a:t>     </a:t>
                      </a:r>
                      <a:r>
                        <a:rPr b="1" lang="es">
                          <a:solidFill>
                            <a:srgbClr val="4A86E8"/>
                          </a:solidFill>
                        </a:rPr>
                        <a:t>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s</a:t>
                      </a:r>
                      <a:r>
                        <a:rPr baseline="-25000" lang="es" sz="1300"/>
                        <a:t>1</a:t>
                      </a:r>
                      <a:r>
                        <a:rPr lang="es" sz="1300"/>
                        <a:t>     </a:t>
                      </a:r>
                      <a:r>
                        <a:rPr b="1" lang="es">
                          <a:solidFill>
                            <a:srgbClr val="FF0000"/>
                          </a:solidFill>
                        </a:rPr>
                        <a:t>A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*s</a:t>
                      </a:r>
                      <a:r>
                        <a:rPr baseline="-25000" lang="es" sz="1300"/>
                        <a:t>1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700">
                          <a:solidFill>
                            <a:srgbClr val="FF0000"/>
                          </a:solidFill>
                        </a:rPr>
                        <a:t>A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s</a:t>
                      </a:r>
                      <a:r>
                        <a:rPr baseline="-25000" lang="es" sz="1300"/>
                        <a:t>2</a:t>
                      </a:r>
                      <a:r>
                        <a:rPr baseline="-25000" lang="es" sz="1300"/>
                        <a:t>        </a:t>
                      </a:r>
                      <a:r>
                        <a:rPr b="1" lang="es">
                          <a:solidFill>
                            <a:srgbClr val="4A86E8"/>
                          </a:solidFill>
                        </a:rPr>
                        <a:t>B</a:t>
                      </a:r>
                      <a:endParaRPr baseline="-25000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s</a:t>
                      </a:r>
                      <a:r>
                        <a:rPr baseline="-25000" lang="es" sz="1300"/>
                        <a:t>0         </a:t>
                      </a:r>
                      <a:r>
                        <a:rPr b="1" lang="es">
                          <a:solidFill>
                            <a:srgbClr val="FF0000"/>
                          </a:solidFill>
                        </a:rPr>
                        <a:t>A</a:t>
                      </a:r>
                      <a:endParaRPr baseline="-25000"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 sz="1300">
                          <a:solidFill>
                            <a:schemeClr val="dk1"/>
                          </a:solidFill>
                        </a:rPr>
                        <a:t>2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700">
                          <a:solidFill>
                            <a:srgbClr val="4A86E8"/>
                          </a:solidFill>
                        </a:rPr>
                        <a:t>B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s</a:t>
                      </a:r>
                      <a:r>
                        <a:rPr baseline="-25000" lang="es" sz="1300"/>
                        <a:t>4</a:t>
                      </a:r>
                      <a:r>
                        <a:rPr baseline="-25000" lang="es" sz="1300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b="1" lang="es">
                          <a:solidFill>
                            <a:srgbClr val="4A86E8"/>
                          </a:solidFill>
                        </a:rPr>
                        <a:t>B</a:t>
                      </a:r>
                      <a:endParaRPr baseline="-25000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s</a:t>
                      </a:r>
                      <a:r>
                        <a:rPr baseline="-25000" lang="es" sz="1300"/>
                        <a:t>3</a:t>
                      </a:r>
                      <a:r>
                        <a:rPr baseline="-25000" lang="es" sz="1300">
                          <a:solidFill>
                            <a:schemeClr val="dk1"/>
                          </a:solidFill>
                        </a:rPr>
                        <a:t>         </a:t>
                      </a:r>
                      <a:r>
                        <a:rPr b="1" lang="es">
                          <a:solidFill>
                            <a:srgbClr val="FF0000"/>
                          </a:solidFill>
                        </a:rPr>
                        <a:t>A</a:t>
                      </a:r>
                      <a:endParaRPr baseline="-25000" sz="13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</a:rPr>
                        <a:t>*s</a:t>
                      </a:r>
                      <a:r>
                        <a:rPr baseline="-25000" lang="es" sz="1300">
                          <a:solidFill>
                            <a:schemeClr val="dk1"/>
                          </a:solidFill>
                        </a:rPr>
                        <a:t>3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700">
                          <a:solidFill>
                            <a:srgbClr val="FF0000"/>
                          </a:solidFill>
                        </a:rPr>
                        <a:t>A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s</a:t>
                      </a:r>
                      <a:r>
                        <a:rPr baseline="-25000" lang="es" sz="1300"/>
                        <a:t>2        </a:t>
                      </a:r>
                      <a:r>
                        <a:rPr b="1" lang="es">
                          <a:solidFill>
                            <a:srgbClr val="4A86E8"/>
                          </a:solidFill>
                        </a:rPr>
                        <a:t>B</a:t>
                      </a:r>
                      <a:endParaRPr baseline="-25000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s</a:t>
                      </a:r>
                      <a:r>
                        <a:rPr baseline="-25000" lang="es" sz="1300"/>
                        <a:t>3        </a:t>
                      </a:r>
                      <a:r>
                        <a:rPr b="1" lang="es">
                          <a:solidFill>
                            <a:srgbClr val="FF0000"/>
                          </a:solidFill>
                        </a:rPr>
                        <a:t>A</a:t>
                      </a:r>
                      <a:endParaRPr baseline="-25000"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 sz="1300">
                          <a:solidFill>
                            <a:schemeClr val="dk1"/>
                          </a:solidFill>
                        </a:rPr>
                        <a:t>4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700">
                          <a:solidFill>
                            <a:srgbClr val="4A86E8"/>
                          </a:solidFill>
                        </a:rPr>
                        <a:t>B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s</a:t>
                      </a:r>
                      <a:r>
                        <a:rPr baseline="-25000" lang="es" sz="1300"/>
                        <a:t>0</a:t>
                      </a:r>
                      <a:r>
                        <a:rPr baseline="-25000" lang="es" sz="1300">
                          <a:solidFill>
                            <a:schemeClr val="dk1"/>
                          </a:solidFill>
                        </a:rPr>
                        <a:t>         </a:t>
                      </a:r>
                      <a:r>
                        <a:rPr b="1" lang="es">
                          <a:solidFill>
                            <a:srgbClr val="FF0000"/>
                          </a:solidFill>
                        </a:rPr>
                        <a:t>A</a:t>
                      </a:r>
                      <a:endParaRPr baseline="-25000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s</a:t>
                      </a:r>
                      <a:r>
                        <a:rPr baseline="-25000" lang="es" sz="1300"/>
                        <a:t>1</a:t>
                      </a:r>
                      <a:r>
                        <a:rPr baseline="-25000" lang="es" sz="1300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b="1" lang="es">
                          <a:solidFill>
                            <a:srgbClr val="FF0000"/>
                          </a:solidFill>
                        </a:rPr>
                        <a:t>A</a:t>
                      </a:r>
                      <a:endParaRPr baseline="-25000" sz="13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cxnSp>
        <p:nvCxnSpPr>
          <p:cNvPr id="158" name="Google Shape;158;p22"/>
          <p:cNvCxnSpPr/>
          <p:nvPr/>
        </p:nvCxnSpPr>
        <p:spPr>
          <a:xfrm flipH="1" rot="10800000">
            <a:off x="4058450" y="1385775"/>
            <a:ext cx="1397700" cy="243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2"/>
          <p:cNvCxnSpPr/>
          <p:nvPr/>
        </p:nvCxnSpPr>
        <p:spPr>
          <a:xfrm flipH="1" rot="10800000">
            <a:off x="4021650" y="1441050"/>
            <a:ext cx="1489800" cy="3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22"/>
          <p:cNvSpPr txBox="1"/>
          <p:nvPr/>
        </p:nvSpPr>
        <p:spPr>
          <a:xfrm>
            <a:off x="5486825" y="1152475"/>
            <a:ext cx="3243000" cy="3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Ojo! s</a:t>
            </a:r>
            <a:r>
              <a:rPr baseline="-25000" lang="es" sz="1800">
                <a:solidFill>
                  <a:schemeClr val="dk1"/>
                </a:solidFill>
              </a:rPr>
              <a:t>2</a:t>
            </a:r>
            <a:r>
              <a:rPr lang="es" sz="1800">
                <a:solidFill>
                  <a:schemeClr val="dk1"/>
                </a:solidFill>
              </a:rPr>
              <a:t> y s</a:t>
            </a:r>
            <a:r>
              <a:rPr baseline="-25000" lang="es" sz="1800">
                <a:solidFill>
                  <a:schemeClr val="dk1"/>
                </a:solidFill>
              </a:rPr>
              <a:t>4</a:t>
            </a:r>
            <a:r>
              <a:rPr lang="es" sz="1800">
                <a:solidFill>
                  <a:schemeClr val="dk1"/>
                </a:solidFill>
              </a:rPr>
              <a:t> </a:t>
            </a:r>
            <a:r>
              <a:rPr lang="es" sz="1800">
                <a:solidFill>
                  <a:schemeClr val="dk1"/>
                </a:solidFill>
              </a:rPr>
              <a:t>pertenecían</a:t>
            </a:r>
            <a:r>
              <a:rPr lang="es" sz="1800">
                <a:solidFill>
                  <a:schemeClr val="dk1"/>
                </a:solidFill>
              </a:rPr>
              <a:t> a </a:t>
            </a:r>
            <a:r>
              <a:rPr b="1" lang="es" sz="1800">
                <a:solidFill>
                  <a:srgbClr val="3C78D8"/>
                </a:solidFill>
              </a:rPr>
              <a:t>B</a:t>
            </a:r>
            <a:r>
              <a:rPr b="1" baseline="-25000" lang="es" sz="1800">
                <a:solidFill>
                  <a:schemeClr val="dk1"/>
                </a:solidFill>
              </a:rPr>
              <a:t> </a:t>
            </a:r>
            <a:r>
              <a:rPr lang="es" sz="1800">
                <a:solidFill>
                  <a:schemeClr val="dk1"/>
                </a:solidFill>
              </a:rPr>
              <a:t>pero con 0 llevan a clases distintas… Los tengo que separar!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|1| = </a:t>
            </a:r>
            <a:r>
              <a:rPr lang="es" sz="1800">
                <a:solidFill>
                  <a:schemeClr val="dk1"/>
                </a:solidFill>
              </a:rPr>
              <a:t>{s</a:t>
            </a:r>
            <a:r>
              <a:rPr baseline="-25000" lang="es" sz="1800">
                <a:solidFill>
                  <a:schemeClr val="dk1"/>
                </a:solidFill>
              </a:rPr>
              <a:t>0</a:t>
            </a:r>
            <a:r>
              <a:rPr lang="es" sz="1800">
                <a:solidFill>
                  <a:schemeClr val="dk1"/>
                </a:solidFill>
              </a:rPr>
              <a:t>,s</a:t>
            </a:r>
            <a:r>
              <a:rPr baseline="-25000" lang="es" sz="1800">
                <a:solidFill>
                  <a:schemeClr val="dk1"/>
                </a:solidFill>
              </a:rPr>
              <a:t>1</a:t>
            </a:r>
            <a:r>
              <a:rPr lang="es" sz="1800">
                <a:solidFill>
                  <a:schemeClr val="dk1"/>
                </a:solidFill>
              </a:rPr>
              <a:t>,s</a:t>
            </a:r>
            <a:r>
              <a:rPr baseline="-25000" lang="es" sz="1800">
                <a:solidFill>
                  <a:schemeClr val="dk1"/>
                </a:solidFill>
              </a:rPr>
              <a:t>3</a:t>
            </a:r>
            <a:r>
              <a:rPr lang="es" sz="1800">
                <a:solidFill>
                  <a:schemeClr val="dk1"/>
                </a:solidFill>
              </a:rPr>
              <a:t>},  {s</a:t>
            </a:r>
            <a:r>
              <a:rPr baseline="-25000" lang="es" sz="1800">
                <a:solidFill>
                  <a:schemeClr val="dk1"/>
                </a:solidFill>
              </a:rPr>
              <a:t>2</a:t>
            </a:r>
            <a:r>
              <a:rPr lang="es" sz="1800">
                <a:solidFill>
                  <a:schemeClr val="dk1"/>
                </a:solidFill>
              </a:rPr>
              <a:t>},  {s</a:t>
            </a:r>
            <a:r>
              <a:rPr baseline="-25000" lang="es" sz="1800">
                <a:solidFill>
                  <a:schemeClr val="dk1"/>
                </a:solidFill>
              </a:rPr>
              <a:t>4</a:t>
            </a:r>
            <a:r>
              <a:rPr lang="es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Como |1| ≠ |0| tengo que seguir..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6295250" y="3326200"/>
            <a:ext cx="45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00"/>
                </a:solidFill>
              </a:rPr>
              <a:t>A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7091350" y="3326200"/>
            <a:ext cx="45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3C78D8"/>
                </a:solidFill>
              </a:rPr>
              <a:t>B</a:t>
            </a:r>
            <a:endParaRPr b="1" sz="1800">
              <a:solidFill>
                <a:srgbClr val="3C78D8"/>
              </a:solidFill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7648375" y="3326200"/>
            <a:ext cx="45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FF"/>
                </a:solidFill>
              </a:rPr>
              <a:t>C</a:t>
            </a:r>
            <a:endParaRPr b="1" sz="1800">
              <a:solidFill>
                <a:srgbClr val="FF00FF"/>
              </a:solidFill>
            </a:endParaRPr>
          </a:p>
        </p:txBody>
      </p:sp>
      <p:sp>
        <p:nvSpPr>
          <p:cNvPr id="164" name="Google Shape;164;p22"/>
          <p:cNvSpPr/>
          <p:nvPr/>
        </p:nvSpPr>
        <p:spPr>
          <a:xfrm rot="-5400000">
            <a:off x="6411650" y="2882925"/>
            <a:ext cx="220800" cy="833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 rot="-5400000">
            <a:off x="7207750" y="3103575"/>
            <a:ext cx="220800" cy="392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/>
          <p:nvPr/>
        </p:nvSpPr>
        <p:spPr>
          <a:xfrm rot="-5400000">
            <a:off x="7734175" y="3103575"/>
            <a:ext cx="220800" cy="392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311700" y="1152475"/>
            <a:ext cx="4537500" cy="7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Dado </a:t>
            </a:r>
            <a:r>
              <a:rPr lang="es"/>
              <a:t>|1| = {s</a:t>
            </a:r>
            <a:r>
              <a:rPr baseline="-25000" lang="es"/>
              <a:t>0</a:t>
            </a:r>
            <a:r>
              <a:rPr lang="es"/>
              <a:t>,s</a:t>
            </a:r>
            <a:r>
              <a:rPr baseline="-25000" lang="es"/>
              <a:t>1</a:t>
            </a:r>
            <a:r>
              <a:rPr lang="es"/>
              <a:t>,s</a:t>
            </a:r>
            <a:r>
              <a:rPr baseline="-25000" lang="es"/>
              <a:t>3</a:t>
            </a:r>
            <a:r>
              <a:rPr lang="es"/>
              <a:t>},  {s</a:t>
            </a:r>
            <a:r>
              <a:rPr baseline="-25000" lang="es"/>
              <a:t>2</a:t>
            </a:r>
            <a:r>
              <a:rPr lang="es"/>
              <a:t>},  {s</a:t>
            </a:r>
            <a:r>
              <a:rPr baseline="-25000" lang="es"/>
              <a:t>4</a:t>
            </a:r>
            <a:r>
              <a:rPr lang="es"/>
              <a:t>}</a:t>
            </a:r>
            <a:r>
              <a:rPr lang="es"/>
              <a:t> busco |2|...</a:t>
            </a:r>
            <a:endParaRPr/>
          </a:p>
        </p:txBody>
      </p:sp>
      <p:graphicFrame>
        <p:nvGraphicFramePr>
          <p:cNvPr id="173" name="Google Shape;173;p23"/>
          <p:cNvGraphicFramePr/>
          <p:nvPr/>
        </p:nvGraphicFramePr>
        <p:xfrm>
          <a:off x="541750" y="218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{01BCFEC0-04D5-4ED6-BBFC-88157E00BC00}</a:tableStyleId>
              </a:tblPr>
              <a:tblGrid>
                <a:gridCol w="987625"/>
                <a:gridCol w="987625"/>
                <a:gridCol w="987625"/>
                <a:gridCol w="987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</a:rPr>
                        <a:t>δ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En </a:t>
                      </a:r>
                      <a:r>
                        <a:rPr lang="es" sz="900"/>
                        <a:t>qué</a:t>
                      </a:r>
                      <a:r>
                        <a:rPr lang="es" sz="900"/>
                        <a:t> conjunto esta?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→ *s</a:t>
                      </a:r>
                      <a:r>
                        <a:rPr baseline="-25000" lang="es" sz="1200"/>
                        <a:t>0</a:t>
                      </a:r>
                      <a:endParaRPr baseline="-25000"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FF0000"/>
                          </a:solidFill>
                        </a:rPr>
                        <a:t>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baseline="-25000" lang="es" sz="1200"/>
                        <a:t>2</a:t>
                      </a:r>
                      <a:r>
                        <a:rPr lang="es" sz="1200"/>
                        <a:t>     </a:t>
                      </a:r>
                      <a:r>
                        <a:rPr b="1" lang="es" sz="1300">
                          <a:solidFill>
                            <a:srgbClr val="4A86E8"/>
                          </a:solidFill>
                        </a:rPr>
                        <a:t>B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baseline="-25000" lang="es" sz="1200"/>
                        <a:t>1</a:t>
                      </a:r>
                      <a:r>
                        <a:rPr lang="es" sz="1200"/>
                        <a:t>     </a:t>
                      </a:r>
                      <a:r>
                        <a:rPr b="1" lang="es" sz="1300">
                          <a:solidFill>
                            <a:srgbClr val="FF0000"/>
                          </a:solidFill>
                        </a:rPr>
                        <a:t>A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*s</a:t>
                      </a:r>
                      <a:r>
                        <a:rPr baseline="-25000" lang="es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FF0000"/>
                          </a:solidFill>
                        </a:rPr>
                        <a:t>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baseline="-25000" lang="es" sz="1200"/>
                        <a:t>2        </a:t>
                      </a:r>
                      <a:r>
                        <a:rPr b="1" lang="es" sz="1300">
                          <a:solidFill>
                            <a:srgbClr val="4A86E8"/>
                          </a:solidFill>
                        </a:rPr>
                        <a:t>B</a:t>
                      </a:r>
                      <a:endParaRPr baseline="-25000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baseline="-25000" lang="es" sz="1200"/>
                        <a:t>0         </a:t>
                      </a:r>
                      <a:r>
                        <a:rPr b="1" lang="es" sz="1300">
                          <a:solidFill>
                            <a:srgbClr val="FF0000"/>
                          </a:solidFill>
                        </a:rPr>
                        <a:t>A</a:t>
                      </a:r>
                      <a:endParaRPr baseline="-25000"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A86E8"/>
                          </a:solidFill>
                        </a:rPr>
                        <a:t>B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baseline="-25000" lang="es" sz="1200"/>
                        <a:t>4</a:t>
                      </a:r>
                      <a:r>
                        <a:rPr baseline="-25000" lang="es" sz="1200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b="1" lang="es" sz="1500">
                          <a:solidFill>
                            <a:srgbClr val="FF00FF"/>
                          </a:solidFill>
                        </a:rPr>
                        <a:t>C</a:t>
                      </a:r>
                      <a:endParaRPr baseline="-25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baseline="-25000" lang="es" sz="1200"/>
                        <a:t>3</a:t>
                      </a:r>
                      <a:r>
                        <a:rPr baseline="-25000" lang="es" sz="1200">
                          <a:solidFill>
                            <a:schemeClr val="dk1"/>
                          </a:solidFill>
                        </a:rPr>
                        <a:t>         </a:t>
                      </a:r>
                      <a:r>
                        <a:rPr b="1" lang="es" sz="1300">
                          <a:solidFill>
                            <a:srgbClr val="FF0000"/>
                          </a:solidFill>
                        </a:rPr>
                        <a:t>A</a:t>
                      </a:r>
                      <a:endParaRPr baseline="-25000" sz="10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*s</a:t>
                      </a:r>
                      <a:r>
                        <a:rPr baseline="-25000" lang="es" sz="1200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FF0000"/>
                          </a:solidFill>
                        </a:rPr>
                        <a:t>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baseline="-25000" lang="es" sz="1200"/>
                        <a:t>2        </a:t>
                      </a:r>
                      <a:r>
                        <a:rPr b="1" lang="es" sz="1300">
                          <a:solidFill>
                            <a:srgbClr val="4A86E8"/>
                          </a:solidFill>
                        </a:rPr>
                        <a:t>B</a:t>
                      </a:r>
                      <a:endParaRPr baseline="-25000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baseline="-25000" lang="es" sz="1200"/>
                        <a:t>3        </a:t>
                      </a:r>
                      <a:r>
                        <a:rPr b="1" lang="es" sz="1300">
                          <a:solidFill>
                            <a:srgbClr val="FF0000"/>
                          </a:solidFill>
                        </a:rPr>
                        <a:t>A</a:t>
                      </a:r>
                      <a:endParaRPr baseline="-25000"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800">
                          <a:solidFill>
                            <a:srgbClr val="FF00FF"/>
                          </a:solidFill>
                        </a:rPr>
                        <a:t>C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baseline="-25000" lang="es" sz="1200"/>
                        <a:t>0</a:t>
                      </a:r>
                      <a:r>
                        <a:rPr baseline="-25000" lang="es" sz="1200">
                          <a:solidFill>
                            <a:schemeClr val="dk1"/>
                          </a:solidFill>
                        </a:rPr>
                        <a:t>         </a:t>
                      </a:r>
                      <a:r>
                        <a:rPr b="1" lang="es" sz="1300">
                          <a:solidFill>
                            <a:srgbClr val="FF0000"/>
                          </a:solidFill>
                        </a:rPr>
                        <a:t>A</a:t>
                      </a:r>
                      <a:endParaRPr baseline="-25000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</a:t>
                      </a:r>
                      <a:r>
                        <a:rPr baseline="-25000" lang="es" sz="1200"/>
                        <a:t>1</a:t>
                      </a:r>
                      <a:r>
                        <a:rPr baseline="-25000" lang="es" sz="1200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b="1" lang="es" sz="1300">
                          <a:solidFill>
                            <a:srgbClr val="FF0000"/>
                          </a:solidFill>
                        </a:rPr>
                        <a:t>A</a:t>
                      </a:r>
                      <a:endParaRPr baseline="-25000"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23"/>
          <p:cNvSpPr txBox="1"/>
          <p:nvPr/>
        </p:nvSpPr>
        <p:spPr>
          <a:xfrm>
            <a:off x="1601908" y="1695475"/>
            <a:ext cx="45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00"/>
                </a:solidFill>
              </a:rPr>
              <a:t>A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2299267" y="1695475"/>
            <a:ext cx="45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A86E8"/>
                </a:solidFill>
              </a:rPr>
              <a:t>B</a:t>
            </a:r>
            <a:endParaRPr b="1" sz="1800">
              <a:solidFill>
                <a:srgbClr val="4A86E8"/>
              </a:solidFill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2784480" y="1695475"/>
            <a:ext cx="45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FF"/>
                </a:solidFill>
              </a:rPr>
              <a:t>C</a:t>
            </a:r>
            <a:endParaRPr b="1" sz="1800">
              <a:solidFill>
                <a:srgbClr val="FF00FF"/>
              </a:solidFill>
            </a:endParaRPr>
          </a:p>
        </p:txBody>
      </p:sp>
      <p:sp>
        <p:nvSpPr>
          <p:cNvPr id="177" name="Google Shape;177;p23"/>
          <p:cNvSpPr/>
          <p:nvPr/>
        </p:nvSpPr>
        <p:spPr>
          <a:xfrm rot="-5400000">
            <a:off x="1695966" y="1252200"/>
            <a:ext cx="220800" cy="833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3"/>
          <p:cNvSpPr/>
          <p:nvPr/>
        </p:nvSpPr>
        <p:spPr>
          <a:xfrm rot="-5400000">
            <a:off x="2406690" y="1472850"/>
            <a:ext cx="220800" cy="392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 rot="-5400000">
            <a:off x="2879257" y="1472850"/>
            <a:ext cx="220800" cy="392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 txBox="1"/>
          <p:nvPr/>
        </p:nvSpPr>
        <p:spPr>
          <a:xfrm>
            <a:off x="5241625" y="1622775"/>
            <a:ext cx="3549600" cy="19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No tuve que hacer separaciones, por lo tanto: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|2| = |1|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Ahora tengo que obtener M’.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Definir M’ en base a M</a:t>
            </a:r>
            <a:endParaRPr/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Utilizamos las clases obtenidas como nuevos estados en S’.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Luego, podemos usar las transiciones del proceso anterior para obtener 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Importante: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Si s</a:t>
            </a:r>
            <a:r>
              <a:rPr baseline="-25000" lang="es"/>
              <a:t>i</a:t>
            </a:r>
            <a:r>
              <a:rPr lang="es"/>
              <a:t> es un estado aceptador y s</a:t>
            </a:r>
            <a:r>
              <a:rPr baseline="-25000" lang="es"/>
              <a:t>i</a:t>
            </a:r>
            <a:r>
              <a:rPr lang="es"/>
              <a:t> </a:t>
            </a:r>
            <a:r>
              <a:rPr lang="es"/>
              <a:t>está</a:t>
            </a:r>
            <a:r>
              <a:rPr lang="es"/>
              <a:t> en la clase de equivalencia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s"/>
              <a:t>Entonces A pasa a ser aceptador en M’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Si s</a:t>
            </a:r>
            <a:r>
              <a:rPr baseline="-25000" lang="es"/>
              <a:t>0</a:t>
            </a:r>
            <a:r>
              <a:rPr lang="es"/>
              <a:t> </a:t>
            </a:r>
            <a:r>
              <a:rPr lang="es"/>
              <a:t>está</a:t>
            </a:r>
            <a:r>
              <a:rPr lang="es"/>
              <a:t> en la clase de equivalencia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s"/>
              <a:t>Entonces el </a:t>
            </a:r>
            <a:r>
              <a:rPr b="1" lang="es"/>
              <a:t>autómata</a:t>
            </a:r>
            <a:r>
              <a:rPr b="1" lang="es"/>
              <a:t> M’ comienza en A.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311700" y="1152475"/>
            <a:ext cx="4323000" cy="36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Definimos M’ = (S’,Σ,δ,A,F)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S’ tiene las clases que definimos anteriormente → </a:t>
            </a:r>
            <a:r>
              <a:rPr lang="es"/>
              <a:t>S’ = {A,B,C}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Σ se mantiene igual → </a:t>
            </a:r>
            <a:r>
              <a:rPr lang="es"/>
              <a:t>Σ = {0,1}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El estado inicial será la clase donde está s</a:t>
            </a:r>
            <a:r>
              <a:rPr baseline="-25000" lang="es"/>
              <a:t>0</a:t>
            </a:r>
            <a:r>
              <a:rPr lang="es"/>
              <a:t> → 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F será el conjunto de clases que contenga estados finalizadores 	→ F = {A}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Definimos δ siguiendo la tabla obtenida anteriormente:</a:t>
            </a:r>
            <a:endParaRPr/>
          </a:p>
        </p:txBody>
      </p:sp>
      <p:graphicFrame>
        <p:nvGraphicFramePr>
          <p:cNvPr id="193" name="Google Shape;193;p25"/>
          <p:cNvGraphicFramePr/>
          <p:nvPr/>
        </p:nvGraphicFramePr>
        <p:xfrm>
          <a:off x="5139525" y="65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{01BCFEC0-04D5-4ED6-BBFC-88157E00BC00}</a:tableStyleId>
              </a:tblPr>
              <a:tblGrid>
                <a:gridCol w="1185600"/>
                <a:gridCol w="1185600"/>
                <a:gridCol w="1185600"/>
              </a:tblGrid>
              <a:tr h="417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</a:rPr>
                        <a:t>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→ *A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94" name="Google Shape;19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325" y="2420500"/>
            <a:ext cx="2787205" cy="24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Actividad!</a:t>
            </a:r>
            <a:endParaRPr/>
          </a:p>
        </p:txBody>
      </p:sp>
      <p:sp>
        <p:nvSpPr>
          <p:cNvPr id="200" name="Google Shape;200;p26"/>
          <p:cNvSpPr txBox="1"/>
          <p:nvPr>
            <p:ph idx="1" type="body"/>
          </p:nvPr>
        </p:nvSpPr>
        <p:spPr>
          <a:xfrm>
            <a:off x="311700" y="1152475"/>
            <a:ext cx="8670300" cy="37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Minimicemos el siguiente </a:t>
            </a:r>
            <a:r>
              <a:rPr lang="es" sz="1700"/>
              <a:t>autómata de Moore M = ({s</a:t>
            </a:r>
            <a:r>
              <a:rPr baseline="-25000" lang="es" sz="1700"/>
              <a:t>0</a:t>
            </a:r>
            <a:r>
              <a:rPr lang="es" sz="1700"/>
              <a:t>, s</a:t>
            </a:r>
            <a:r>
              <a:rPr baseline="-25000" lang="es" sz="1700"/>
              <a:t>1</a:t>
            </a:r>
            <a:r>
              <a:rPr lang="es" sz="1700"/>
              <a:t>, s</a:t>
            </a:r>
            <a:r>
              <a:rPr baseline="-25000" lang="es" sz="1700"/>
              <a:t>2</a:t>
            </a:r>
            <a:r>
              <a:rPr lang="es" sz="1700"/>
              <a:t>, s</a:t>
            </a:r>
            <a:r>
              <a:rPr baseline="-25000" lang="es" sz="1700"/>
              <a:t>3</a:t>
            </a:r>
            <a:r>
              <a:rPr lang="es" sz="1700"/>
              <a:t>}, {0,1}, {0,1}, δ, s</a:t>
            </a:r>
            <a:r>
              <a:rPr baseline="-25000" lang="es" sz="1700"/>
              <a:t>0</a:t>
            </a:r>
            <a:r>
              <a:rPr lang="es" sz="1700"/>
              <a:t>, f</a:t>
            </a:r>
            <a:r>
              <a:rPr baseline="-25000" lang="es" sz="1700"/>
              <a:t>0</a:t>
            </a:r>
            <a:r>
              <a:rPr lang="es" sz="1700"/>
              <a:t>)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1" name="Google Shape;201;p26"/>
          <p:cNvGraphicFramePr/>
          <p:nvPr/>
        </p:nvGraphicFramePr>
        <p:xfrm>
          <a:off x="952500" y="184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{01BCFEC0-04D5-4ED6-BBFC-88157E00BC00}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700">
                          <a:solidFill>
                            <a:schemeClr val="dk2"/>
                          </a:solidFill>
                        </a:rPr>
                        <a:t>δ y </a:t>
                      </a:r>
                      <a:r>
                        <a:rPr lang="es" sz="1700">
                          <a:solidFill>
                            <a:schemeClr val="dk2"/>
                          </a:solidFill>
                        </a:rPr>
                        <a:t>f</a:t>
                      </a:r>
                      <a:r>
                        <a:rPr baseline="-25000" lang="es" sz="1700">
                          <a:solidFill>
                            <a:schemeClr val="dk2"/>
                          </a:solidFill>
                        </a:rPr>
                        <a:t>0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Salida (</a:t>
                      </a:r>
                      <a:r>
                        <a:rPr lang="es" sz="1700">
                          <a:solidFill>
                            <a:schemeClr val="dk2"/>
                          </a:solidFill>
                        </a:rPr>
                        <a:t>f</a:t>
                      </a:r>
                      <a:r>
                        <a:rPr baseline="-25000" lang="es" sz="1700">
                          <a:solidFill>
                            <a:schemeClr val="dk2"/>
                          </a:solidFill>
                        </a:rPr>
                        <a:t>0</a:t>
                      </a:r>
                      <a:r>
                        <a:rPr lang="es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→ s</a:t>
                      </a:r>
                      <a:r>
                        <a:rPr baseline="-25000" lang="es"/>
                        <a:t>0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1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3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7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1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3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0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2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1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3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3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0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baseline="-25000" lang="es"/>
                        <a:t>1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type="ctrTitle"/>
          </p:nvPr>
        </p:nvSpPr>
        <p:spPr>
          <a:xfrm>
            <a:off x="311708" y="8684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 :)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