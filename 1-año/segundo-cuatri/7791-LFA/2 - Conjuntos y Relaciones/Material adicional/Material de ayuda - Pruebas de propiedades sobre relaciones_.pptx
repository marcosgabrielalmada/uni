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c1a91a13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c1a91a13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c1a91a13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c1a91a13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c1a91a13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c1a91a13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c1a91a13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c1a91a13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c1a91a13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c1a91a13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c1a91a13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c1a91a13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c1a91a13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c1a91a13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c1a91a13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c1a91a13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/>
              <a:t>Pruebas de propiedades sobre relaciones.</a:t>
            </a:r>
            <a:endParaRPr sz="39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37"/>
            <a:ext cx="8123100" cy="1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Formales y </a:t>
            </a:r>
            <a:r>
              <a:rPr lang="es"/>
              <a:t>Autómatas</a:t>
            </a:r>
            <a:r>
              <a:rPr lang="es"/>
              <a:t> - 2023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Diego Orbe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Ejercicio a resolver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Indicar si las siguientes relaciones son efectivamente relaciones de equivalencia. En el caso de serlo, demostrarlo </a:t>
            </a:r>
            <a:r>
              <a:rPr lang="es">
                <a:solidFill>
                  <a:schemeClr val="lt1"/>
                </a:solidFill>
              </a:rPr>
              <a:t>formalmente</a:t>
            </a:r>
            <a:r>
              <a:rPr lang="es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s">
                <a:solidFill>
                  <a:schemeClr val="lt1"/>
                </a:solidFill>
              </a:rPr>
              <a:t>R</a:t>
            </a:r>
            <a:r>
              <a:rPr baseline="-25000" lang="es">
                <a:solidFill>
                  <a:schemeClr val="lt1"/>
                </a:solidFill>
              </a:rPr>
              <a:t>1</a:t>
            </a:r>
            <a:r>
              <a:rPr lang="es">
                <a:solidFill>
                  <a:schemeClr val="lt1"/>
                </a:solidFill>
              </a:rPr>
              <a:t> = {(x,y) : x+y es impar} definida sobre</a:t>
            </a:r>
            <a:r>
              <a:rPr lang="es" sz="14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5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ℕ</a:t>
            </a:r>
            <a:r>
              <a:rPr lang="es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s">
                <a:solidFill>
                  <a:schemeClr val="lt1"/>
                </a:solidFill>
              </a:rPr>
              <a:t>R</a:t>
            </a:r>
            <a:r>
              <a:rPr baseline="-25000" lang="es">
                <a:solidFill>
                  <a:schemeClr val="lt1"/>
                </a:solidFill>
              </a:rPr>
              <a:t>2</a:t>
            </a:r>
            <a:r>
              <a:rPr lang="es">
                <a:solidFill>
                  <a:schemeClr val="lt1"/>
                </a:solidFill>
              </a:rPr>
              <a:t> = {(x,y) : x tiene la misma cantidad de </a:t>
            </a:r>
            <a:r>
              <a:rPr lang="es">
                <a:solidFill>
                  <a:schemeClr val="lt1"/>
                </a:solidFill>
              </a:rPr>
              <a:t>símbolos</a:t>
            </a:r>
            <a:r>
              <a:rPr lang="es">
                <a:solidFill>
                  <a:schemeClr val="lt1"/>
                </a:solidFill>
              </a:rPr>
              <a:t> que y} definida sobre el conjunto de palabras del </a:t>
            </a:r>
            <a:r>
              <a:rPr lang="es">
                <a:solidFill>
                  <a:schemeClr val="lt1"/>
                </a:solidFill>
              </a:rPr>
              <a:t>abecedario</a:t>
            </a:r>
            <a:r>
              <a:rPr lang="es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>
                <a:solidFill>
                  <a:schemeClr val="lt1"/>
                </a:solidFill>
              </a:rPr>
              <a:t>Comenzamos?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Antes de comenzar, un repaso: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Recordemos que significa que una </a:t>
            </a:r>
            <a:r>
              <a:rPr lang="es">
                <a:solidFill>
                  <a:schemeClr val="lt1"/>
                </a:solidFill>
              </a:rPr>
              <a:t>relación</a:t>
            </a:r>
            <a:r>
              <a:rPr lang="es">
                <a:solidFill>
                  <a:schemeClr val="lt1"/>
                </a:solidFill>
              </a:rPr>
              <a:t> sea de equivalencia: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lt1"/>
                </a:solidFill>
              </a:rPr>
              <a:t>“Una </a:t>
            </a:r>
            <a:r>
              <a:rPr i="1" lang="es" sz="1700">
                <a:solidFill>
                  <a:schemeClr val="lt1"/>
                </a:solidFill>
              </a:rPr>
              <a:t>relación</a:t>
            </a:r>
            <a:r>
              <a:rPr i="1" lang="es" sz="1700">
                <a:solidFill>
                  <a:schemeClr val="lt1"/>
                </a:solidFill>
              </a:rPr>
              <a:t> sobre un conjunto S se dice de equivalencia si la misma es </a:t>
            </a:r>
            <a:r>
              <a:rPr i="1" lang="es" sz="1700" u="sng">
                <a:solidFill>
                  <a:schemeClr val="lt1"/>
                </a:solidFill>
              </a:rPr>
              <a:t>reflexiva</a:t>
            </a:r>
            <a:r>
              <a:rPr i="1" lang="es" sz="1700">
                <a:solidFill>
                  <a:schemeClr val="lt1"/>
                </a:solidFill>
              </a:rPr>
              <a:t>, </a:t>
            </a:r>
            <a:r>
              <a:rPr i="1" lang="es" sz="1700" u="sng">
                <a:solidFill>
                  <a:schemeClr val="lt1"/>
                </a:solidFill>
              </a:rPr>
              <a:t>simétrica</a:t>
            </a:r>
            <a:r>
              <a:rPr i="1" lang="es" sz="1700">
                <a:solidFill>
                  <a:schemeClr val="lt1"/>
                </a:solidFill>
              </a:rPr>
              <a:t> y </a:t>
            </a:r>
            <a:r>
              <a:rPr i="1" lang="es" sz="1700" u="sng">
                <a:solidFill>
                  <a:schemeClr val="lt1"/>
                </a:solidFill>
              </a:rPr>
              <a:t>transitiva</a:t>
            </a:r>
            <a:r>
              <a:rPr i="1" lang="es" sz="1700">
                <a:solidFill>
                  <a:schemeClr val="lt1"/>
                </a:solidFill>
              </a:rPr>
              <a:t>”</a:t>
            </a:r>
            <a:endParaRPr i="1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</a:rPr>
              <a:t>Donde: 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</a:rPr>
              <a:t>(D</a:t>
            </a:r>
            <a:r>
              <a:rPr baseline="-25000" lang="es" sz="1700">
                <a:solidFill>
                  <a:schemeClr val="lt1"/>
                </a:solidFill>
              </a:rPr>
              <a:t>1</a:t>
            </a:r>
            <a:r>
              <a:rPr lang="es" sz="1700">
                <a:solidFill>
                  <a:schemeClr val="lt1"/>
                </a:solidFill>
              </a:rPr>
              <a:t>) R es </a:t>
            </a:r>
            <a:r>
              <a:rPr lang="es" sz="1700" u="sng">
                <a:solidFill>
                  <a:schemeClr val="lt1"/>
                </a:solidFill>
              </a:rPr>
              <a:t>reflexiva</a:t>
            </a:r>
            <a:r>
              <a:rPr lang="es" sz="1700">
                <a:solidFill>
                  <a:schemeClr val="lt1"/>
                </a:solidFill>
              </a:rPr>
              <a:t> si:  (∀x) (x ∈ S → (x,x) ∈ R)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</a:rPr>
              <a:t>(D</a:t>
            </a:r>
            <a:r>
              <a:rPr baseline="-25000" lang="es" sz="1700">
                <a:solidFill>
                  <a:schemeClr val="lt1"/>
                </a:solidFill>
              </a:rPr>
              <a:t>2</a:t>
            </a:r>
            <a:r>
              <a:rPr lang="es" sz="1700">
                <a:solidFill>
                  <a:schemeClr val="lt1"/>
                </a:solidFill>
              </a:rPr>
              <a:t>) R es </a:t>
            </a:r>
            <a:r>
              <a:rPr lang="es" sz="1700" u="sng">
                <a:solidFill>
                  <a:schemeClr val="lt1"/>
                </a:solidFill>
              </a:rPr>
              <a:t>simétrica</a:t>
            </a:r>
            <a:r>
              <a:rPr lang="es" sz="1700">
                <a:solidFill>
                  <a:schemeClr val="lt1"/>
                </a:solidFill>
              </a:rPr>
              <a:t> si:  (∀x) (∀y) (x ∈ S ⋀ y ∈ S ⋀  (x,y) ∈ R → (y,x) ∈ R)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</a:rPr>
              <a:t>(D</a:t>
            </a:r>
            <a:r>
              <a:rPr baseline="-25000" lang="es" sz="1700">
                <a:solidFill>
                  <a:schemeClr val="lt1"/>
                </a:solidFill>
              </a:rPr>
              <a:t>3</a:t>
            </a:r>
            <a:r>
              <a:rPr lang="es" sz="1700">
                <a:solidFill>
                  <a:schemeClr val="lt1"/>
                </a:solidFill>
              </a:rPr>
              <a:t>) R es </a:t>
            </a:r>
            <a:r>
              <a:rPr lang="es" sz="1700" u="sng">
                <a:solidFill>
                  <a:schemeClr val="lt1"/>
                </a:solidFill>
              </a:rPr>
              <a:t>transitiva</a:t>
            </a:r>
            <a:r>
              <a:rPr lang="es" sz="1700">
                <a:solidFill>
                  <a:schemeClr val="lt1"/>
                </a:solidFill>
              </a:rPr>
              <a:t> si:  (∀x)(∀y)(∀z)(x ∈ S ⋀ y ∈ S ⋀ z ∈ S ⋀ (x,y) ∈ R ⋀ (y,z) ∈ R → (x,z) ∈ R)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700">
                <a:solidFill>
                  <a:schemeClr val="lt1"/>
                </a:solidFill>
              </a:rPr>
              <a:t>Ahora si, comencemos!</a:t>
            </a:r>
            <a:endParaRPr i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s" sz="2220">
                <a:solidFill>
                  <a:schemeClr val="lt1"/>
                </a:solidFill>
              </a:rPr>
              <a:t>R</a:t>
            </a:r>
            <a:r>
              <a:rPr b="1" baseline="-25000" lang="es" sz="2220">
                <a:solidFill>
                  <a:schemeClr val="lt1"/>
                </a:solidFill>
              </a:rPr>
              <a:t>1</a:t>
            </a:r>
            <a:r>
              <a:rPr b="1" lang="es" sz="2220">
                <a:solidFill>
                  <a:schemeClr val="lt1"/>
                </a:solidFill>
              </a:rPr>
              <a:t> = {(x,y) : x+y es impar} definida sobre</a:t>
            </a:r>
            <a:r>
              <a:rPr b="1" lang="es" sz="1904">
                <a:solidFill>
                  <a:schemeClr val="lt1"/>
                </a:solidFill>
              </a:rPr>
              <a:t> </a:t>
            </a:r>
            <a:r>
              <a:rPr b="1" lang="es" sz="1995">
                <a:solidFill>
                  <a:schemeClr val="lt1"/>
                </a:solidFill>
              </a:rPr>
              <a:t>ℕ</a:t>
            </a:r>
            <a:r>
              <a:rPr b="1" lang="es" sz="2220">
                <a:solidFill>
                  <a:schemeClr val="lt1"/>
                </a:solidFill>
              </a:rPr>
              <a:t>.</a:t>
            </a:r>
            <a:endParaRPr b="1" sz="3120">
              <a:solidFill>
                <a:schemeClr val="lt1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Lo primero que debemos hacer es entender la </a:t>
            </a:r>
            <a:r>
              <a:rPr lang="es">
                <a:solidFill>
                  <a:schemeClr val="lt1"/>
                </a:solidFill>
              </a:rPr>
              <a:t>relación</a:t>
            </a:r>
            <a:r>
              <a:rPr lang="es">
                <a:solidFill>
                  <a:schemeClr val="lt1"/>
                </a:solidFill>
              </a:rPr>
              <a:t> que nos proponen en el ejercicio: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Comenzamos pensando que pares son parte de R</a:t>
            </a:r>
            <a:r>
              <a:rPr baseline="-25000" lang="es">
                <a:solidFill>
                  <a:schemeClr val="lt1"/>
                </a:solidFill>
              </a:rPr>
              <a:t>1</a:t>
            </a:r>
            <a:r>
              <a:rPr lang="es">
                <a:solidFill>
                  <a:schemeClr val="lt1"/>
                </a:solidFill>
              </a:rPr>
              <a:t>…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Claramente (1,2) es parte de R</a:t>
            </a:r>
            <a:r>
              <a:rPr baseline="-25000" lang="es">
                <a:solidFill>
                  <a:schemeClr val="lt1"/>
                </a:solidFill>
              </a:rPr>
              <a:t>1</a:t>
            </a:r>
            <a:r>
              <a:rPr lang="es">
                <a:solidFill>
                  <a:schemeClr val="lt1"/>
                </a:solidFill>
              </a:rPr>
              <a:t>, porque </a:t>
            </a:r>
            <a:r>
              <a:rPr lang="es" u="sng">
                <a:solidFill>
                  <a:schemeClr val="lt1"/>
                </a:solidFill>
              </a:rPr>
              <a:t>1 + 2 = 3 y 3 es impar.</a:t>
            </a:r>
            <a:endParaRPr u="sng">
              <a:solidFill>
                <a:schemeClr val="lt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Notemos que lo mismo ocurre con (2,1)...	👀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Podemos observar </a:t>
            </a:r>
            <a:r>
              <a:rPr lang="es">
                <a:solidFill>
                  <a:schemeClr val="lt1"/>
                </a:solidFill>
              </a:rPr>
              <a:t>también</a:t>
            </a:r>
            <a:r>
              <a:rPr lang="es">
                <a:solidFill>
                  <a:schemeClr val="lt1"/>
                </a:solidFill>
              </a:rPr>
              <a:t> que (1,3) </a:t>
            </a:r>
            <a:r>
              <a:rPr b="1" lang="es">
                <a:solidFill>
                  <a:schemeClr val="lt1"/>
                </a:solidFill>
              </a:rPr>
              <a:t>no </a:t>
            </a:r>
            <a:r>
              <a:rPr lang="es">
                <a:solidFill>
                  <a:schemeClr val="lt1"/>
                </a:solidFill>
              </a:rPr>
              <a:t>es parte de R</a:t>
            </a:r>
            <a:r>
              <a:rPr baseline="-25000" lang="es">
                <a:solidFill>
                  <a:schemeClr val="lt1"/>
                </a:solidFill>
              </a:rPr>
              <a:t>1</a:t>
            </a:r>
            <a:r>
              <a:rPr lang="es">
                <a:solidFill>
                  <a:schemeClr val="lt1"/>
                </a:solidFill>
              </a:rPr>
              <a:t> dado que la suma da resultado par.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Lo mismo ocurre con (2,4)...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lt1"/>
                </a:solidFill>
              </a:rPr>
              <a:t>Encuentran </a:t>
            </a:r>
            <a:r>
              <a:rPr lang="es">
                <a:solidFill>
                  <a:schemeClr val="lt1"/>
                </a:solidFill>
              </a:rPr>
              <a:t>algún</a:t>
            </a:r>
            <a:r>
              <a:rPr lang="es">
                <a:solidFill>
                  <a:schemeClr val="lt1"/>
                </a:solidFill>
              </a:rPr>
              <a:t> patrón?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s" sz="2220">
                <a:solidFill>
                  <a:schemeClr val="lt1"/>
                </a:solidFill>
              </a:rPr>
              <a:t>R</a:t>
            </a:r>
            <a:r>
              <a:rPr b="1" baseline="-25000" lang="es" sz="2220">
                <a:solidFill>
                  <a:schemeClr val="lt1"/>
                </a:solidFill>
              </a:rPr>
              <a:t>1</a:t>
            </a:r>
            <a:r>
              <a:rPr b="1" lang="es" sz="2220">
                <a:solidFill>
                  <a:schemeClr val="lt1"/>
                </a:solidFill>
              </a:rPr>
              <a:t> = {(x,y) : x+y es impar} definida sobre</a:t>
            </a:r>
            <a:r>
              <a:rPr b="1" lang="es" sz="1904">
                <a:solidFill>
                  <a:schemeClr val="lt1"/>
                </a:solidFill>
              </a:rPr>
              <a:t> </a:t>
            </a:r>
            <a:r>
              <a:rPr b="1" lang="es" sz="1995">
                <a:solidFill>
                  <a:schemeClr val="lt1"/>
                </a:solidFill>
              </a:rPr>
              <a:t>ℕ</a:t>
            </a:r>
            <a:r>
              <a:rPr b="1" lang="es" sz="2220">
                <a:solidFill>
                  <a:schemeClr val="lt1"/>
                </a:solidFill>
              </a:rPr>
              <a:t>.</a:t>
            </a:r>
            <a:endParaRPr b="1" sz="3120">
              <a:solidFill>
                <a:schemeClr val="lt1"/>
              </a:solidFill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Claramente se puede observar lo siguiente: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Si un par de </a:t>
            </a:r>
            <a:r>
              <a:rPr lang="es">
                <a:solidFill>
                  <a:schemeClr val="lt1"/>
                </a:solidFill>
              </a:rPr>
              <a:t>números</a:t>
            </a:r>
            <a:r>
              <a:rPr lang="es">
                <a:solidFill>
                  <a:schemeClr val="lt1"/>
                </a:solidFill>
              </a:rPr>
              <a:t> x, y es tal que x + y es impar, lo mismo </a:t>
            </a:r>
            <a:r>
              <a:rPr lang="es">
                <a:solidFill>
                  <a:schemeClr val="lt1"/>
                </a:solidFill>
              </a:rPr>
              <a:t>ocurrirá</a:t>
            </a:r>
            <a:r>
              <a:rPr lang="es">
                <a:solidFill>
                  <a:schemeClr val="lt1"/>
                </a:solidFill>
              </a:rPr>
              <a:t> si sumamos y + x (dado que la suma es conmutativa)...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i="1" lang="es">
                <a:solidFill>
                  <a:schemeClr val="lt1"/>
                </a:solidFill>
              </a:rPr>
              <a:t>Esto nos ayuda a demostrar que R</a:t>
            </a:r>
            <a:r>
              <a:rPr baseline="-25000" i="1" lang="es">
                <a:solidFill>
                  <a:schemeClr val="lt1"/>
                </a:solidFill>
              </a:rPr>
              <a:t>1</a:t>
            </a:r>
            <a:r>
              <a:rPr i="1" lang="es">
                <a:solidFill>
                  <a:schemeClr val="lt1"/>
                </a:solidFill>
              </a:rPr>
              <a:t> verifica alguna propiedad?</a:t>
            </a:r>
            <a:endParaRPr i="1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Por otro lado, notemos que para obtener un </a:t>
            </a:r>
            <a:r>
              <a:rPr lang="es">
                <a:solidFill>
                  <a:schemeClr val="lt1"/>
                </a:solidFill>
              </a:rPr>
              <a:t>número</a:t>
            </a:r>
            <a:r>
              <a:rPr lang="es">
                <a:solidFill>
                  <a:schemeClr val="lt1"/>
                </a:solidFill>
              </a:rPr>
              <a:t> impar, si o si debemos sumar un </a:t>
            </a:r>
            <a:r>
              <a:rPr lang="es">
                <a:solidFill>
                  <a:schemeClr val="lt1"/>
                </a:solidFill>
              </a:rPr>
              <a:t>número</a:t>
            </a:r>
            <a:r>
              <a:rPr lang="es">
                <a:solidFill>
                  <a:schemeClr val="lt1"/>
                </a:solidFill>
              </a:rPr>
              <a:t> </a:t>
            </a:r>
            <a:r>
              <a:rPr lang="es">
                <a:solidFill>
                  <a:srgbClr val="FF0000"/>
                </a:solidFill>
              </a:rPr>
              <a:t>par</a:t>
            </a:r>
            <a:r>
              <a:rPr lang="es">
                <a:solidFill>
                  <a:schemeClr val="lt1"/>
                </a:solidFill>
              </a:rPr>
              <a:t> y uno </a:t>
            </a:r>
            <a:r>
              <a:rPr lang="es">
                <a:solidFill>
                  <a:srgbClr val="6FA8DC"/>
                </a:solidFill>
              </a:rPr>
              <a:t>impar</a:t>
            </a:r>
            <a:r>
              <a:rPr lang="es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rgbClr val="FF0000"/>
                </a:solidFill>
              </a:rPr>
              <a:t>2</a:t>
            </a:r>
            <a:r>
              <a:rPr lang="es">
                <a:solidFill>
                  <a:schemeClr val="lt1"/>
                </a:solidFill>
              </a:rPr>
              <a:t> + </a:t>
            </a:r>
            <a:r>
              <a:rPr lang="es">
                <a:solidFill>
                  <a:srgbClr val="6FA8DC"/>
                </a:solidFill>
              </a:rPr>
              <a:t>5</a:t>
            </a:r>
            <a:r>
              <a:rPr lang="es">
                <a:solidFill>
                  <a:schemeClr val="lt1"/>
                </a:solidFill>
              </a:rPr>
              <a:t> = 7,	</a:t>
            </a:r>
            <a:r>
              <a:rPr lang="es">
                <a:solidFill>
                  <a:srgbClr val="FF0000"/>
                </a:solidFill>
              </a:rPr>
              <a:t>4</a:t>
            </a:r>
            <a:r>
              <a:rPr lang="es">
                <a:solidFill>
                  <a:schemeClr val="lt1"/>
                </a:solidFill>
              </a:rPr>
              <a:t> + </a:t>
            </a:r>
            <a:r>
              <a:rPr lang="es">
                <a:solidFill>
                  <a:srgbClr val="6FA8DC"/>
                </a:solidFill>
              </a:rPr>
              <a:t>1 </a:t>
            </a:r>
            <a:r>
              <a:rPr lang="es">
                <a:solidFill>
                  <a:schemeClr val="lt1"/>
                </a:solidFill>
              </a:rPr>
              <a:t>= 5. ✅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rgbClr val="FF0000"/>
                </a:solidFill>
              </a:rPr>
              <a:t>2</a:t>
            </a:r>
            <a:r>
              <a:rPr lang="es">
                <a:solidFill>
                  <a:schemeClr val="lt1"/>
                </a:solidFill>
              </a:rPr>
              <a:t> + </a:t>
            </a:r>
            <a:r>
              <a:rPr lang="es">
                <a:solidFill>
                  <a:srgbClr val="FF0000"/>
                </a:solidFill>
              </a:rPr>
              <a:t>6</a:t>
            </a:r>
            <a:r>
              <a:rPr lang="es">
                <a:solidFill>
                  <a:schemeClr val="lt1"/>
                </a:solidFill>
              </a:rPr>
              <a:t> = 4,	</a:t>
            </a:r>
            <a:r>
              <a:rPr lang="es">
                <a:solidFill>
                  <a:srgbClr val="6FA8DC"/>
                </a:solidFill>
              </a:rPr>
              <a:t>1</a:t>
            </a:r>
            <a:r>
              <a:rPr lang="es">
                <a:solidFill>
                  <a:schemeClr val="lt1"/>
                </a:solidFill>
              </a:rPr>
              <a:t> + </a:t>
            </a:r>
            <a:r>
              <a:rPr lang="es">
                <a:solidFill>
                  <a:srgbClr val="6FA8DC"/>
                </a:solidFill>
              </a:rPr>
              <a:t>3</a:t>
            </a:r>
            <a:r>
              <a:rPr lang="es">
                <a:solidFill>
                  <a:schemeClr val="lt1"/>
                </a:solidFill>
              </a:rPr>
              <a:t> = 2 ❌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600">
                <a:solidFill>
                  <a:schemeClr val="lt1"/>
                </a:solidFill>
              </a:rPr>
              <a:t>	¿</a:t>
            </a:r>
            <a:r>
              <a:rPr i="1" lang="es" sz="1600">
                <a:solidFill>
                  <a:schemeClr val="lt1"/>
                </a:solidFill>
              </a:rPr>
              <a:t>Qué</a:t>
            </a:r>
            <a:r>
              <a:rPr i="1" lang="es" sz="1600">
                <a:solidFill>
                  <a:schemeClr val="lt1"/>
                </a:solidFill>
              </a:rPr>
              <a:t> ocurre entonces con los pares (x,x)? Claramente la </a:t>
            </a:r>
            <a:r>
              <a:rPr i="1" lang="es" sz="1600">
                <a:solidFill>
                  <a:schemeClr val="lt1"/>
                </a:solidFill>
              </a:rPr>
              <a:t>relación</a:t>
            </a:r>
            <a:r>
              <a:rPr i="1" lang="es" sz="1600">
                <a:solidFill>
                  <a:schemeClr val="lt1"/>
                </a:solidFill>
              </a:rPr>
              <a:t> R</a:t>
            </a:r>
            <a:r>
              <a:rPr baseline="-25000" i="1" lang="es" sz="1600">
                <a:solidFill>
                  <a:schemeClr val="lt1"/>
                </a:solidFill>
              </a:rPr>
              <a:t>1</a:t>
            </a:r>
            <a:r>
              <a:rPr i="1" lang="es" sz="1600">
                <a:solidFill>
                  <a:schemeClr val="lt1"/>
                </a:solidFill>
              </a:rPr>
              <a:t> no es reflexiva…</a:t>
            </a:r>
            <a:endParaRPr i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s" sz="2220">
                <a:solidFill>
                  <a:schemeClr val="lt1"/>
                </a:solidFill>
              </a:rPr>
              <a:t>R</a:t>
            </a:r>
            <a:r>
              <a:rPr b="1" baseline="-25000" lang="es" sz="2220">
                <a:solidFill>
                  <a:schemeClr val="lt1"/>
                </a:solidFill>
              </a:rPr>
              <a:t>1</a:t>
            </a:r>
            <a:r>
              <a:rPr b="1" lang="es" sz="2220">
                <a:solidFill>
                  <a:schemeClr val="lt1"/>
                </a:solidFill>
              </a:rPr>
              <a:t> = {(x,y) : x+y es impar} definida sobre</a:t>
            </a:r>
            <a:r>
              <a:rPr b="1" lang="es" sz="1904">
                <a:solidFill>
                  <a:schemeClr val="lt1"/>
                </a:solidFill>
              </a:rPr>
              <a:t> </a:t>
            </a:r>
            <a:r>
              <a:rPr b="1" lang="es" sz="1995">
                <a:solidFill>
                  <a:schemeClr val="lt1"/>
                </a:solidFill>
              </a:rPr>
              <a:t>ℕ</a:t>
            </a:r>
            <a:r>
              <a:rPr b="1" lang="es" sz="2220">
                <a:solidFill>
                  <a:schemeClr val="lt1"/>
                </a:solidFill>
              </a:rPr>
              <a:t>.</a:t>
            </a:r>
            <a:endParaRPr b="1" sz="3120">
              <a:solidFill>
                <a:schemeClr val="lt1"/>
              </a:solidFill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 este punto, tenemos la idea de que R</a:t>
            </a:r>
            <a:r>
              <a:rPr baseline="-25000" lang="es">
                <a:solidFill>
                  <a:schemeClr val="lt1"/>
                </a:solidFill>
              </a:rPr>
              <a:t>1</a:t>
            </a:r>
            <a:r>
              <a:rPr lang="es">
                <a:solidFill>
                  <a:schemeClr val="lt1"/>
                </a:solidFill>
              </a:rPr>
              <a:t> no es reflexiva. Ahora hay que demostrarlo, para ello, simplemente tenemos que proponer un </a:t>
            </a:r>
            <a:r>
              <a:rPr b="1" lang="es">
                <a:solidFill>
                  <a:schemeClr val="lt1"/>
                </a:solidFill>
              </a:rPr>
              <a:t>contraejemplo.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def. reflexividad: </a:t>
            </a:r>
            <a:r>
              <a:rPr lang="es" sz="1700">
                <a:solidFill>
                  <a:schemeClr val="lt1"/>
                </a:solidFill>
              </a:rPr>
              <a:t>(∀x) (x ∈ S → (x,x) ∈ R)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</a:rPr>
              <a:t>Busquemos un elemento x que pertenezca a S (en este caso </a:t>
            </a:r>
            <a:r>
              <a:rPr b="1" lang="es" sz="1695">
                <a:solidFill>
                  <a:schemeClr val="lt1"/>
                </a:solidFill>
              </a:rPr>
              <a:t>ℕ</a:t>
            </a:r>
            <a:r>
              <a:rPr lang="es" sz="1700">
                <a:solidFill>
                  <a:schemeClr val="lt1"/>
                </a:solidFill>
              </a:rPr>
              <a:t>) y mostremos que no pertenece a R</a:t>
            </a:r>
            <a:r>
              <a:rPr baseline="-25000" lang="es" sz="1700">
                <a:solidFill>
                  <a:schemeClr val="lt1"/>
                </a:solidFill>
              </a:rPr>
              <a:t>1</a:t>
            </a:r>
            <a:r>
              <a:rPr lang="es" sz="1700">
                <a:solidFill>
                  <a:schemeClr val="lt1"/>
                </a:solidFill>
              </a:rPr>
              <a:t>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s" sz="1400">
                <a:solidFill>
                  <a:schemeClr val="lt1"/>
                </a:solidFill>
              </a:rPr>
              <a:t>El número 2 pertenece a </a:t>
            </a:r>
            <a:r>
              <a:rPr b="1" lang="es" sz="1395">
                <a:solidFill>
                  <a:schemeClr val="lt1"/>
                </a:solidFill>
              </a:rPr>
              <a:t>ℕ.</a:t>
            </a:r>
            <a:endParaRPr b="1"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AutoNum type="arabicPeriod"/>
            </a:pPr>
            <a:r>
              <a:rPr lang="es" sz="1395">
                <a:solidFill>
                  <a:schemeClr val="lt1"/>
                </a:solidFill>
              </a:rPr>
              <a:t>Luego, 2 + 2 = 4, el cual </a:t>
            </a:r>
            <a:r>
              <a:rPr b="1" lang="es" sz="1395">
                <a:solidFill>
                  <a:schemeClr val="lt1"/>
                </a:solidFill>
              </a:rPr>
              <a:t>no es impar.</a:t>
            </a:r>
            <a:endParaRPr b="1"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AutoNum type="arabicPeriod"/>
            </a:pPr>
            <a:r>
              <a:rPr lang="es" sz="1395">
                <a:solidFill>
                  <a:schemeClr val="lt1"/>
                </a:solidFill>
              </a:rPr>
              <a:t>Como 2 + 2 no es impar, entonces </a:t>
            </a:r>
            <a:r>
              <a:rPr b="1" lang="es" sz="1395">
                <a:solidFill>
                  <a:schemeClr val="lt1"/>
                </a:solidFill>
              </a:rPr>
              <a:t>(2,2) ∉ R</a:t>
            </a:r>
            <a:r>
              <a:rPr b="1" baseline="-25000" lang="es" sz="1395">
                <a:solidFill>
                  <a:schemeClr val="lt1"/>
                </a:solidFill>
              </a:rPr>
              <a:t>1</a:t>
            </a:r>
            <a:endParaRPr b="1"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AutoNum type="arabicPeriod"/>
            </a:pPr>
            <a:r>
              <a:rPr lang="es" sz="1395">
                <a:solidFill>
                  <a:schemeClr val="lt1"/>
                </a:solidFill>
              </a:rPr>
              <a:t>Luego, existe al menos un par (x,x) que no pertenece a R</a:t>
            </a:r>
            <a:r>
              <a:rPr baseline="-25000" lang="es" sz="1395">
                <a:solidFill>
                  <a:schemeClr val="lt1"/>
                </a:solidFill>
              </a:rPr>
              <a:t>1</a:t>
            </a:r>
            <a:r>
              <a:rPr lang="es" sz="1395">
                <a:solidFill>
                  <a:schemeClr val="lt1"/>
                </a:solidFill>
              </a:rPr>
              <a:t> y por lo tanto, </a:t>
            </a:r>
            <a:r>
              <a:rPr b="1" lang="es" sz="1395">
                <a:solidFill>
                  <a:schemeClr val="lt1"/>
                </a:solidFill>
              </a:rPr>
              <a:t>R</a:t>
            </a:r>
            <a:r>
              <a:rPr b="1" baseline="-25000" lang="es" sz="1395">
                <a:solidFill>
                  <a:schemeClr val="lt1"/>
                </a:solidFill>
              </a:rPr>
              <a:t>1</a:t>
            </a:r>
            <a:r>
              <a:rPr b="1" lang="es" sz="1395">
                <a:solidFill>
                  <a:schemeClr val="lt1"/>
                </a:solidFill>
              </a:rPr>
              <a:t> no es reflexiva.	CQD</a:t>
            </a:r>
            <a:endParaRPr b="1" sz="13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1395">
              <a:solidFill>
                <a:schemeClr val="lt1"/>
              </a:solidFill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714300" y="4464925"/>
            <a:ext cx="7715400" cy="36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Tarea para pensar: </a:t>
            </a:r>
            <a:r>
              <a:rPr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Existe algún par (x,x) que </a:t>
            </a: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sí</a:t>
            </a:r>
            <a:r>
              <a:rPr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pertenezca a R</a:t>
            </a:r>
            <a:r>
              <a:rPr baseline="-25000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¿Qué propiedad cumple R</a:t>
            </a:r>
            <a:r>
              <a:rPr b="1" baseline="-25000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1" i="1" sz="1395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s" sz="2220">
                <a:solidFill>
                  <a:schemeClr val="lt1"/>
                </a:solidFill>
              </a:rPr>
              <a:t>R</a:t>
            </a:r>
            <a:r>
              <a:rPr b="1" baseline="-25000" lang="es" sz="2220">
                <a:solidFill>
                  <a:schemeClr val="lt1"/>
                </a:solidFill>
              </a:rPr>
              <a:t>1</a:t>
            </a:r>
            <a:r>
              <a:rPr b="1" lang="es" sz="2220">
                <a:solidFill>
                  <a:schemeClr val="lt1"/>
                </a:solidFill>
              </a:rPr>
              <a:t> = {(x,y) : x+y es impar} definida sobre</a:t>
            </a:r>
            <a:r>
              <a:rPr b="1" lang="es" sz="1904">
                <a:solidFill>
                  <a:schemeClr val="lt1"/>
                </a:solidFill>
              </a:rPr>
              <a:t> </a:t>
            </a:r>
            <a:r>
              <a:rPr b="1" lang="es" sz="1995">
                <a:solidFill>
                  <a:schemeClr val="lt1"/>
                </a:solidFill>
              </a:rPr>
              <a:t>ℕ</a:t>
            </a:r>
            <a:r>
              <a:rPr b="1" lang="es" sz="2220">
                <a:solidFill>
                  <a:schemeClr val="lt1"/>
                </a:solidFill>
              </a:rPr>
              <a:t>.</a:t>
            </a:r>
            <a:endParaRPr b="1" sz="3120"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95">
                <a:solidFill>
                  <a:schemeClr val="lt1"/>
                </a:solidFill>
              </a:rPr>
              <a:t>Por </a:t>
            </a:r>
            <a:r>
              <a:rPr lang="es" sz="1395">
                <a:solidFill>
                  <a:schemeClr val="lt1"/>
                </a:solidFill>
              </a:rPr>
              <a:t>último</a:t>
            </a:r>
            <a:r>
              <a:rPr lang="es" sz="1395">
                <a:solidFill>
                  <a:schemeClr val="lt1"/>
                </a:solidFill>
              </a:rPr>
              <a:t>, recordemos que buscamos probar si R</a:t>
            </a:r>
            <a:r>
              <a:rPr baseline="-25000" lang="es" sz="1395">
                <a:solidFill>
                  <a:schemeClr val="lt1"/>
                </a:solidFill>
              </a:rPr>
              <a:t>1</a:t>
            </a:r>
            <a:r>
              <a:rPr lang="es" sz="1395">
                <a:solidFill>
                  <a:schemeClr val="lt1"/>
                </a:solidFill>
              </a:rPr>
              <a:t> es una </a:t>
            </a:r>
            <a:r>
              <a:rPr lang="es" sz="1395">
                <a:solidFill>
                  <a:schemeClr val="lt1"/>
                </a:solidFill>
              </a:rPr>
              <a:t>relación</a:t>
            </a:r>
            <a:r>
              <a:rPr lang="es" sz="1395">
                <a:solidFill>
                  <a:schemeClr val="lt1"/>
                </a:solidFill>
              </a:rPr>
              <a:t> de equivalencia.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R</a:t>
            </a:r>
            <a:r>
              <a:rPr baseline="-25000" lang="es" sz="1395">
                <a:solidFill>
                  <a:schemeClr val="lt1"/>
                </a:solidFill>
              </a:rPr>
              <a:t>1</a:t>
            </a:r>
            <a:r>
              <a:rPr lang="es" sz="1395">
                <a:solidFill>
                  <a:schemeClr val="lt1"/>
                </a:solidFill>
              </a:rPr>
              <a:t> no es reflexiva.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Para que una </a:t>
            </a:r>
            <a:r>
              <a:rPr lang="es" sz="1395">
                <a:solidFill>
                  <a:schemeClr val="lt1"/>
                </a:solidFill>
              </a:rPr>
              <a:t>relación</a:t>
            </a:r>
            <a:r>
              <a:rPr lang="es" sz="1395">
                <a:solidFill>
                  <a:schemeClr val="lt1"/>
                </a:solidFill>
              </a:rPr>
              <a:t> R sea de equivalencia, debe ser reflexiva, </a:t>
            </a:r>
            <a:r>
              <a:rPr lang="es" sz="1395">
                <a:solidFill>
                  <a:schemeClr val="lt1"/>
                </a:solidFill>
              </a:rPr>
              <a:t>simétrica</a:t>
            </a:r>
            <a:r>
              <a:rPr lang="es" sz="1395">
                <a:solidFill>
                  <a:schemeClr val="lt1"/>
                </a:solidFill>
              </a:rPr>
              <a:t> y transitiva.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b="1" lang="es" sz="1395">
                <a:solidFill>
                  <a:schemeClr val="lt1"/>
                </a:solidFill>
              </a:rPr>
              <a:t>Luego, R</a:t>
            </a:r>
            <a:r>
              <a:rPr b="1" baseline="-25000" lang="es" sz="1395">
                <a:solidFill>
                  <a:schemeClr val="lt1"/>
                </a:solidFill>
              </a:rPr>
              <a:t>1</a:t>
            </a:r>
            <a:r>
              <a:rPr b="1" lang="es" sz="1395">
                <a:solidFill>
                  <a:schemeClr val="lt1"/>
                </a:solidFill>
              </a:rPr>
              <a:t> no es una </a:t>
            </a:r>
            <a:r>
              <a:rPr b="1" lang="es" sz="1395">
                <a:solidFill>
                  <a:schemeClr val="lt1"/>
                </a:solidFill>
              </a:rPr>
              <a:t>relación</a:t>
            </a:r>
            <a:r>
              <a:rPr b="1" lang="es" sz="1395">
                <a:solidFill>
                  <a:schemeClr val="lt1"/>
                </a:solidFill>
              </a:rPr>
              <a:t> de equivalencia.</a:t>
            </a:r>
            <a:endParaRPr b="1" sz="13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395">
                <a:solidFill>
                  <a:schemeClr val="lt1"/>
                </a:solidFill>
              </a:rPr>
              <a:t>Sigamos con la siguiente </a:t>
            </a:r>
            <a:r>
              <a:rPr i="1" lang="es" sz="1395">
                <a:solidFill>
                  <a:schemeClr val="lt1"/>
                </a:solidFill>
              </a:rPr>
              <a:t>relación</a:t>
            </a:r>
            <a:r>
              <a:rPr i="1" lang="es" sz="1395">
                <a:solidFill>
                  <a:schemeClr val="lt1"/>
                </a:solidFill>
              </a:rPr>
              <a:t> del enunciado….</a:t>
            </a:r>
            <a:endParaRPr i="1" sz="1395">
              <a:solidFill>
                <a:schemeClr val="lt1"/>
              </a:solidFill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2757750" y="2605675"/>
            <a:ext cx="3628500" cy="36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¿Es R</a:t>
            </a:r>
            <a:r>
              <a:rPr b="1" baseline="-25000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una </a:t>
            </a: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relación</a:t>
            </a: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de orden parcial?</a:t>
            </a:r>
            <a:endParaRPr b="1" i="1" sz="1395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6859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920">
                <a:solidFill>
                  <a:schemeClr val="lt1"/>
                </a:solidFill>
              </a:rPr>
              <a:t>R</a:t>
            </a:r>
            <a:r>
              <a:rPr b="1" baseline="-25000" lang="es" sz="1920">
                <a:solidFill>
                  <a:schemeClr val="lt1"/>
                </a:solidFill>
              </a:rPr>
              <a:t>2</a:t>
            </a:r>
            <a:r>
              <a:rPr b="1" lang="es" sz="1920">
                <a:solidFill>
                  <a:schemeClr val="lt1"/>
                </a:solidFill>
              </a:rPr>
              <a:t> = {(x,y) : x tiene la misma cantidad de letras que y}</a:t>
            </a:r>
            <a:endParaRPr b="1" sz="19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91"/>
              <a:buNone/>
            </a:pPr>
            <a:r>
              <a:t/>
            </a:r>
            <a:endParaRPr b="1" sz="1998">
              <a:solidFill>
                <a:schemeClr val="lt1"/>
              </a:solidFill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031425"/>
            <a:ext cx="8520600" cy="3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95">
                <a:solidFill>
                  <a:schemeClr val="lt1"/>
                </a:solidFill>
              </a:rPr>
              <a:t>Al igual que el ejercicio anterior, lo primero que debemos hacer es mirar que pares son parte de R</a:t>
            </a:r>
            <a:r>
              <a:rPr baseline="-25000" lang="es" sz="1395">
                <a:solidFill>
                  <a:schemeClr val="lt1"/>
                </a:solidFill>
              </a:rPr>
              <a:t>2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(hola, chau) tienen la misma cantidad de letras, por lo tanto es parte de R</a:t>
            </a:r>
            <a:r>
              <a:rPr baseline="-25000" lang="es" sz="1395">
                <a:solidFill>
                  <a:schemeClr val="lt1"/>
                </a:solidFill>
              </a:rPr>
              <a:t>2</a:t>
            </a:r>
            <a:r>
              <a:rPr lang="es" sz="1395">
                <a:solidFill>
                  <a:schemeClr val="lt1"/>
                </a:solidFill>
              </a:rPr>
              <a:t>.</a:t>
            </a:r>
            <a:endParaRPr sz="1395">
              <a:solidFill>
                <a:schemeClr val="lt1"/>
              </a:solidFill>
            </a:endParaRPr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i="1" lang="es" sz="1395">
                <a:solidFill>
                  <a:schemeClr val="lt1"/>
                </a:solidFill>
              </a:rPr>
              <a:t>¿</a:t>
            </a:r>
            <a:r>
              <a:rPr i="1" lang="es" sz="1395">
                <a:solidFill>
                  <a:schemeClr val="lt1"/>
                </a:solidFill>
              </a:rPr>
              <a:t>Qué</a:t>
            </a:r>
            <a:r>
              <a:rPr i="1" lang="es" sz="1395">
                <a:solidFill>
                  <a:schemeClr val="lt1"/>
                </a:solidFill>
              </a:rPr>
              <a:t> ocurre entonces con (chau, hola)?</a:t>
            </a:r>
            <a:endParaRPr i="1"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(chau, </a:t>
            </a:r>
            <a:r>
              <a:rPr lang="es" sz="1395">
                <a:solidFill>
                  <a:schemeClr val="lt1"/>
                </a:solidFill>
              </a:rPr>
              <a:t>adiós</a:t>
            </a:r>
            <a:r>
              <a:rPr lang="es" sz="1395">
                <a:solidFill>
                  <a:schemeClr val="lt1"/>
                </a:solidFill>
              </a:rPr>
              <a:t>) no es parte de R</a:t>
            </a:r>
            <a:r>
              <a:rPr baseline="-25000" lang="es" sz="1395">
                <a:solidFill>
                  <a:schemeClr val="lt1"/>
                </a:solidFill>
              </a:rPr>
              <a:t>2</a:t>
            </a:r>
            <a:r>
              <a:rPr lang="es" sz="1395">
                <a:solidFill>
                  <a:schemeClr val="lt1"/>
                </a:solidFill>
              </a:rPr>
              <a:t> ya que tienen distinta cantidad de letras.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Notemos que para cualquier par de palabras x, y de n letras, (x, y) ∈ R</a:t>
            </a:r>
            <a:r>
              <a:rPr baseline="-25000" lang="es" sz="1395">
                <a:solidFill>
                  <a:schemeClr val="lt1"/>
                </a:solidFill>
              </a:rPr>
              <a:t>2</a:t>
            </a:r>
            <a:endParaRPr sz="13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95">
                <a:solidFill>
                  <a:schemeClr val="lt1"/>
                </a:solidFill>
              </a:rPr>
              <a:t>En base a esta </a:t>
            </a:r>
            <a:r>
              <a:rPr lang="es" sz="1395">
                <a:solidFill>
                  <a:schemeClr val="lt1"/>
                </a:solidFill>
              </a:rPr>
              <a:t>información</a:t>
            </a:r>
            <a:r>
              <a:rPr lang="es" sz="1395">
                <a:solidFill>
                  <a:schemeClr val="lt1"/>
                </a:solidFill>
              </a:rPr>
              <a:t>, tenemos una idea de que la </a:t>
            </a:r>
            <a:r>
              <a:rPr lang="es" sz="1395">
                <a:solidFill>
                  <a:schemeClr val="lt1"/>
                </a:solidFill>
              </a:rPr>
              <a:t>relación</a:t>
            </a:r>
            <a:r>
              <a:rPr lang="es" sz="1395">
                <a:solidFill>
                  <a:schemeClr val="lt1"/>
                </a:solidFill>
              </a:rPr>
              <a:t> R</a:t>
            </a:r>
            <a:r>
              <a:rPr baseline="-25000" lang="es" sz="1395">
                <a:solidFill>
                  <a:schemeClr val="lt1"/>
                </a:solidFill>
              </a:rPr>
              <a:t>2</a:t>
            </a:r>
            <a:r>
              <a:rPr lang="es" sz="1395">
                <a:solidFill>
                  <a:schemeClr val="lt1"/>
                </a:solidFill>
              </a:rPr>
              <a:t> es de equivalencia… demostremoslo: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95"/>
              <a:buAutoNum type="arabicPeriod"/>
            </a:pPr>
            <a:r>
              <a:rPr b="1" lang="es" sz="1395">
                <a:solidFill>
                  <a:schemeClr val="lt1"/>
                </a:solidFill>
              </a:rPr>
              <a:t>Es R</a:t>
            </a:r>
            <a:r>
              <a:rPr b="1" baseline="-25000" lang="es" sz="1395">
                <a:solidFill>
                  <a:schemeClr val="lt1"/>
                </a:solidFill>
              </a:rPr>
              <a:t>2</a:t>
            </a:r>
            <a:r>
              <a:rPr b="1" lang="es" sz="1395">
                <a:solidFill>
                  <a:schemeClr val="lt1"/>
                </a:solidFill>
              </a:rPr>
              <a:t> reflexiva?</a:t>
            </a:r>
            <a:endParaRPr b="1"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Sea x cualquier palabra en S (siendo S el conjunto de todas las palabras del abecedario), tal que </a:t>
            </a:r>
            <a:r>
              <a:rPr b="1" lang="es" sz="1395">
                <a:solidFill>
                  <a:schemeClr val="lt1"/>
                </a:solidFill>
              </a:rPr>
              <a:t>cantidad_letras(x) = n.</a:t>
            </a:r>
            <a:endParaRPr b="1"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Trivialmente, cantidad_letras(x) = cantidad_letras(x).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Luego, (x,x) ∈ R</a:t>
            </a:r>
            <a:r>
              <a:rPr baseline="-25000" lang="es" sz="1395">
                <a:solidFill>
                  <a:schemeClr val="lt1"/>
                </a:solidFill>
              </a:rPr>
              <a:t>2</a:t>
            </a:r>
            <a:r>
              <a:rPr lang="es" sz="1395">
                <a:solidFill>
                  <a:schemeClr val="lt1"/>
                </a:solidFill>
              </a:rPr>
              <a:t> para cualquier palabra x en S.</a:t>
            </a:r>
            <a:endParaRPr sz="1395">
              <a:solidFill>
                <a:schemeClr val="lt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5"/>
              <a:buChar char="-"/>
            </a:pPr>
            <a:r>
              <a:rPr lang="es" sz="1395">
                <a:solidFill>
                  <a:schemeClr val="lt1"/>
                </a:solidFill>
              </a:rPr>
              <a:t>Por lo tanto, siguiendo la </a:t>
            </a:r>
            <a:r>
              <a:rPr lang="es" sz="1395">
                <a:solidFill>
                  <a:schemeClr val="lt1"/>
                </a:solidFill>
              </a:rPr>
              <a:t>definición</a:t>
            </a:r>
            <a:r>
              <a:rPr lang="es" sz="1395">
                <a:solidFill>
                  <a:schemeClr val="lt1"/>
                </a:solidFill>
              </a:rPr>
              <a:t> (D</a:t>
            </a:r>
            <a:r>
              <a:rPr baseline="-25000" lang="es" sz="1395">
                <a:solidFill>
                  <a:schemeClr val="lt1"/>
                </a:solidFill>
              </a:rPr>
              <a:t>1</a:t>
            </a:r>
            <a:r>
              <a:rPr lang="es" sz="1395">
                <a:solidFill>
                  <a:schemeClr val="lt1"/>
                </a:solidFill>
              </a:rPr>
              <a:t>) </a:t>
            </a:r>
            <a:r>
              <a:rPr b="1" lang="es" sz="1395">
                <a:solidFill>
                  <a:schemeClr val="lt1"/>
                </a:solidFill>
              </a:rPr>
              <a:t>R</a:t>
            </a:r>
            <a:r>
              <a:rPr b="1" baseline="-25000" lang="es" sz="1395">
                <a:solidFill>
                  <a:schemeClr val="lt1"/>
                </a:solidFill>
              </a:rPr>
              <a:t>2</a:t>
            </a:r>
            <a:r>
              <a:rPr b="1" lang="es" sz="1395">
                <a:solidFill>
                  <a:schemeClr val="lt1"/>
                </a:solidFill>
              </a:rPr>
              <a:t> es reflexiva, </a:t>
            </a:r>
            <a:r>
              <a:rPr lang="es" sz="1395">
                <a:solidFill>
                  <a:schemeClr val="lt1"/>
                </a:solidFill>
              </a:rPr>
              <a:t>CQD.</a:t>
            </a:r>
            <a:endParaRPr sz="1395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368825"/>
            <a:ext cx="86859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920">
                <a:solidFill>
                  <a:schemeClr val="lt1"/>
                </a:solidFill>
              </a:rPr>
              <a:t>R</a:t>
            </a:r>
            <a:r>
              <a:rPr b="1" baseline="-25000" lang="es" sz="1920">
                <a:solidFill>
                  <a:schemeClr val="lt1"/>
                </a:solidFill>
              </a:rPr>
              <a:t>2</a:t>
            </a:r>
            <a:r>
              <a:rPr b="1" lang="es" sz="1920">
                <a:solidFill>
                  <a:schemeClr val="lt1"/>
                </a:solidFill>
              </a:rPr>
              <a:t> = {(x,y) : x tiene la misma cantidad de letras que y}</a:t>
            </a:r>
            <a:endParaRPr b="1" sz="192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91"/>
              <a:buNone/>
            </a:pPr>
            <a:r>
              <a:t/>
            </a:r>
            <a:endParaRPr b="1" sz="1998">
              <a:solidFill>
                <a:schemeClr val="lt1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955225"/>
            <a:ext cx="8520600" cy="39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95">
                <a:solidFill>
                  <a:schemeClr val="lt1"/>
                </a:solidFill>
              </a:rPr>
              <a:t> 2. </a:t>
            </a:r>
            <a:r>
              <a:rPr b="1" lang="es" sz="1395">
                <a:solidFill>
                  <a:schemeClr val="lt1"/>
                </a:solidFill>
              </a:rPr>
              <a:t>Es R</a:t>
            </a:r>
            <a:r>
              <a:rPr b="1" baseline="-25000" lang="es" sz="1395">
                <a:solidFill>
                  <a:schemeClr val="lt1"/>
                </a:solidFill>
              </a:rPr>
              <a:t>2</a:t>
            </a:r>
            <a:r>
              <a:rPr b="1" lang="es" sz="1395">
                <a:solidFill>
                  <a:schemeClr val="lt1"/>
                </a:solidFill>
              </a:rPr>
              <a:t> </a:t>
            </a:r>
            <a:r>
              <a:rPr b="1" lang="es" sz="1395">
                <a:solidFill>
                  <a:schemeClr val="lt1"/>
                </a:solidFill>
              </a:rPr>
              <a:t>simétrica</a:t>
            </a:r>
            <a:r>
              <a:rPr b="1" lang="es" sz="1395">
                <a:solidFill>
                  <a:schemeClr val="lt1"/>
                </a:solidFill>
              </a:rPr>
              <a:t>?</a:t>
            </a:r>
            <a:endParaRPr b="1" sz="13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Sean x, y dos palabras en S tal que </a:t>
            </a:r>
            <a:r>
              <a:rPr lang="es" sz="1195">
                <a:solidFill>
                  <a:schemeClr val="lt1"/>
                </a:solidFill>
              </a:rPr>
              <a:t>(x,y) ∈ R2.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Luego, </a:t>
            </a:r>
            <a:r>
              <a:rPr lang="es" sz="1195">
                <a:solidFill>
                  <a:schemeClr val="lt1"/>
                </a:solidFill>
              </a:rPr>
              <a:t>cantidad_letras(x) = cantidad_letras(y).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Consideremos u = y, v = x, claramente cantidad_letras(u) = cantidad_letras(v).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Por lo tanto (u, v) ∈ R2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Luego, por </a:t>
            </a:r>
            <a:r>
              <a:rPr lang="es" sz="1195">
                <a:solidFill>
                  <a:schemeClr val="lt1"/>
                </a:solidFill>
              </a:rPr>
              <a:t>cómo</a:t>
            </a:r>
            <a:r>
              <a:rPr lang="es" sz="1195">
                <a:solidFill>
                  <a:schemeClr val="lt1"/>
                </a:solidFill>
              </a:rPr>
              <a:t> definimos u, v: (y, x) </a:t>
            </a:r>
            <a:r>
              <a:rPr lang="es" sz="1195">
                <a:solidFill>
                  <a:schemeClr val="lt1"/>
                </a:solidFill>
              </a:rPr>
              <a:t>∈ R2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Entonces, Si (x, y) ∈ R2 entonces (y, x) ∈ R2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Por lo tanto, 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r>
              <a:rPr lang="es" sz="1195">
                <a:solidFill>
                  <a:schemeClr val="lt1"/>
                </a:solidFill>
              </a:rPr>
              <a:t> es simétrica bajo la definición (D2) CQD.</a:t>
            </a:r>
            <a:endParaRPr sz="11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95">
                <a:solidFill>
                  <a:schemeClr val="lt1"/>
                </a:solidFill>
              </a:rPr>
              <a:t>3. </a:t>
            </a:r>
            <a:r>
              <a:rPr b="1" lang="es" sz="1395">
                <a:solidFill>
                  <a:schemeClr val="lt1"/>
                </a:solidFill>
              </a:rPr>
              <a:t>Es R</a:t>
            </a:r>
            <a:r>
              <a:rPr b="1" baseline="-25000" lang="es" sz="1395">
                <a:solidFill>
                  <a:schemeClr val="lt1"/>
                </a:solidFill>
              </a:rPr>
              <a:t>2</a:t>
            </a:r>
            <a:r>
              <a:rPr b="1" lang="es" sz="1395">
                <a:solidFill>
                  <a:schemeClr val="lt1"/>
                </a:solidFill>
              </a:rPr>
              <a:t> transitiva?</a:t>
            </a:r>
            <a:endParaRPr b="1" sz="13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Sean x, y, z tres palabras en S tal que (x, y) ∈</a:t>
            </a:r>
            <a:r>
              <a:rPr lang="es" sz="1395">
                <a:solidFill>
                  <a:schemeClr val="lt1"/>
                </a:solidFill>
              </a:rPr>
              <a:t> </a:t>
            </a:r>
            <a:r>
              <a:rPr lang="es" sz="1195">
                <a:solidFill>
                  <a:schemeClr val="lt1"/>
                </a:solidFill>
              </a:rPr>
              <a:t>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r>
              <a:rPr lang="es" sz="1195">
                <a:solidFill>
                  <a:schemeClr val="lt1"/>
                </a:solidFill>
              </a:rPr>
              <a:t>, (y, z) ∈ 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r>
              <a:rPr lang="es" sz="1195">
                <a:solidFill>
                  <a:schemeClr val="lt1"/>
                </a:solidFill>
              </a:rPr>
              <a:t>.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Luego, cantidad_letras(x) = cantidad_letras(y), y ademas cantidad_letras(y) = cantidad_letras(z)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Por propiedad de igualdad en números naturales, cantidad_letras(x) = cantidad_letras(z).</a:t>
            </a:r>
            <a:endParaRPr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Luego, (x, z) ∈</a:t>
            </a:r>
            <a:r>
              <a:rPr lang="es" sz="1395">
                <a:solidFill>
                  <a:schemeClr val="lt1"/>
                </a:solidFill>
              </a:rPr>
              <a:t> </a:t>
            </a:r>
            <a:r>
              <a:rPr lang="es" sz="1195">
                <a:solidFill>
                  <a:schemeClr val="lt1"/>
                </a:solidFill>
              </a:rPr>
              <a:t>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endParaRPr baseline="-25000"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Entonces, si (x, y) ∈</a:t>
            </a:r>
            <a:r>
              <a:rPr lang="es" sz="1395">
                <a:solidFill>
                  <a:schemeClr val="lt1"/>
                </a:solidFill>
              </a:rPr>
              <a:t> </a:t>
            </a:r>
            <a:r>
              <a:rPr lang="es" sz="1195">
                <a:solidFill>
                  <a:schemeClr val="lt1"/>
                </a:solidFill>
              </a:rPr>
              <a:t>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r>
              <a:rPr lang="es" sz="1195">
                <a:solidFill>
                  <a:schemeClr val="lt1"/>
                </a:solidFill>
              </a:rPr>
              <a:t>, (y, z) ∈ 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r>
              <a:rPr lang="es" sz="1195">
                <a:solidFill>
                  <a:schemeClr val="lt1"/>
                </a:solidFill>
              </a:rPr>
              <a:t> entonces (x, z) ∈</a:t>
            </a:r>
            <a:r>
              <a:rPr lang="es" sz="1395">
                <a:solidFill>
                  <a:schemeClr val="lt1"/>
                </a:solidFill>
              </a:rPr>
              <a:t> </a:t>
            </a:r>
            <a:r>
              <a:rPr lang="es" sz="1195">
                <a:solidFill>
                  <a:schemeClr val="lt1"/>
                </a:solidFill>
              </a:rPr>
              <a:t>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endParaRPr baseline="-25000" sz="1195">
              <a:solidFill>
                <a:schemeClr val="lt1"/>
              </a:solidFill>
            </a:endParaRPr>
          </a:p>
          <a:p>
            <a:pPr indent="-30448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5"/>
              <a:buChar char="-"/>
            </a:pPr>
            <a:r>
              <a:rPr lang="es" sz="1195">
                <a:solidFill>
                  <a:schemeClr val="lt1"/>
                </a:solidFill>
              </a:rPr>
              <a:t>Por lo tanto, R</a:t>
            </a:r>
            <a:r>
              <a:rPr baseline="-25000" lang="es" sz="1195">
                <a:solidFill>
                  <a:schemeClr val="lt1"/>
                </a:solidFill>
              </a:rPr>
              <a:t>2 </a:t>
            </a:r>
            <a:r>
              <a:rPr lang="es" sz="1195">
                <a:solidFill>
                  <a:schemeClr val="lt1"/>
                </a:solidFill>
              </a:rPr>
              <a:t> es transitiva bajo la definición (D3) CQD.</a:t>
            </a:r>
            <a:endParaRPr sz="11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95">
                <a:solidFill>
                  <a:schemeClr val="lt1"/>
                </a:solidFill>
              </a:rPr>
              <a:t>Dado que probamos que R</a:t>
            </a:r>
            <a:r>
              <a:rPr baseline="-25000" lang="es" sz="1195">
                <a:solidFill>
                  <a:schemeClr val="lt1"/>
                </a:solidFill>
              </a:rPr>
              <a:t>2</a:t>
            </a:r>
            <a:r>
              <a:rPr lang="es" sz="1195">
                <a:solidFill>
                  <a:schemeClr val="lt1"/>
                </a:solidFill>
              </a:rPr>
              <a:t> es reflexiva, simétrica y transitiva, podemos concluir que </a:t>
            </a:r>
            <a:r>
              <a:rPr b="1" lang="es" sz="1195">
                <a:solidFill>
                  <a:schemeClr val="lt1"/>
                </a:solidFill>
              </a:rPr>
              <a:t>R</a:t>
            </a:r>
            <a:r>
              <a:rPr b="1" baseline="-25000" lang="es" sz="1195">
                <a:solidFill>
                  <a:schemeClr val="lt1"/>
                </a:solidFill>
              </a:rPr>
              <a:t>2</a:t>
            </a:r>
            <a:r>
              <a:rPr b="1" lang="es" sz="1195">
                <a:solidFill>
                  <a:schemeClr val="lt1"/>
                </a:solidFill>
              </a:rPr>
              <a:t> es una relación de equivalencia.</a:t>
            </a:r>
            <a:endParaRPr b="1" sz="1195">
              <a:solidFill>
                <a:schemeClr val="lt1"/>
              </a:solidFill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2089350" y="4634575"/>
            <a:ext cx="4965300" cy="36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Tarea para pensar: ¿</a:t>
            </a:r>
            <a:r>
              <a:rPr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 R</a:t>
            </a:r>
            <a:r>
              <a:rPr baseline="-25000"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i="1" lang="es" sz="1395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una relación de orden parcial?</a:t>
            </a:r>
            <a:endParaRPr b="1" i="1" sz="1395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