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T Sans Narrow"/>
      <p:regular r:id="rId16"/>
      <p:bold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bold.fntdata"/><Relationship Id="rId16" Type="http://schemas.openxmlformats.org/officeDocument/2006/relationships/font" Target="fonts/PTSansNarrow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1726aaca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1726aaca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e1726aaca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e1726aaca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32daf2d17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32daf2d17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32daf2d17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32daf2d17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e1726aaca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e1726aaca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32daf2d17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32daf2d17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e1726aaca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e1726aaca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e1726aaca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e1726aaca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e1726aaca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e1726aaca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Clausuras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Relaciones Binarias</a:t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2658300" y="4205575"/>
            <a:ext cx="382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CE93D8"/>
                </a:solidFill>
                <a:latin typeface="Open Sans"/>
                <a:ea typeface="Open Sans"/>
                <a:cs typeface="Open Sans"/>
                <a:sym typeface="Open Sans"/>
              </a:rPr>
              <a:t>Explicación hecha por Valentina Cambiaso :)</a:t>
            </a:r>
            <a:endParaRPr>
              <a:solidFill>
                <a:srgbClr val="CE93D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cada una de las siguientes relaciones binarias, hallar la </a:t>
            </a:r>
            <a:r>
              <a:rPr b="1" lang="es-419"/>
              <a:t>clausura reflexiva</a:t>
            </a:r>
            <a:r>
              <a:rPr lang="es-419"/>
              <a:t> </a:t>
            </a:r>
            <a:r>
              <a:rPr b="1" lang="es-419"/>
              <a:t>r(.)</a:t>
            </a:r>
            <a:r>
              <a:rPr lang="es-419"/>
              <a:t>, la </a:t>
            </a:r>
            <a:r>
              <a:rPr b="1" lang="es-419"/>
              <a:t>clausura simétrica s(.)</a:t>
            </a:r>
            <a:r>
              <a:rPr lang="es-419"/>
              <a:t> y la </a:t>
            </a:r>
            <a:r>
              <a:rPr b="1" lang="es-419"/>
              <a:t>clausura transitiva t(.)</a:t>
            </a:r>
            <a:r>
              <a:rPr lang="es-419"/>
              <a:t>. Considerar que son relaciones binarias definidas sobre el conjunto de elementos </a:t>
            </a:r>
            <a:r>
              <a:rPr b="1" lang="es-419"/>
              <a:t>{a, b, c}</a:t>
            </a:r>
            <a:r>
              <a:rPr lang="es-419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</a:t>
            </a:r>
            <a:r>
              <a:rPr lang="es-419" sz="1200"/>
              <a:t>1</a:t>
            </a:r>
            <a:r>
              <a:rPr lang="es-419"/>
              <a:t> = {(a, a),(a, b),(b, a),(b, c)}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R</a:t>
            </a:r>
            <a:r>
              <a:rPr lang="es-419" sz="1200"/>
              <a:t>3</a:t>
            </a:r>
            <a:r>
              <a:rPr lang="es-419"/>
              <a:t> = {(a, b),(b, c),(c, a)}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</a:t>
            </a:r>
            <a:r>
              <a:rPr lang="es-419" sz="1200"/>
              <a:t>1</a:t>
            </a:r>
            <a:r>
              <a:rPr lang="es-419"/>
              <a:t> = {(a, a),(a, b),(b, a),(b, c)} definida sobre el conjunto {a, b, c}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Lo primero que podemos preguntarnos es, </a:t>
            </a:r>
            <a:r>
              <a:rPr lang="es-419"/>
              <a:t>¿cumple</a:t>
            </a:r>
            <a:r>
              <a:rPr lang="es-419"/>
              <a:t> R</a:t>
            </a:r>
            <a:r>
              <a:rPr baseline="-25000" lang="es-419"/>
              <a:t>1</a:t>
            </a:r>
            <a:r>
              <a:rPr lang="es-419"/>
              <a:t> con la propiedad </a:t>
            </a:r>
            <a:r>
              <a:rPr b="1" lang="es-419"/>
              <a:t>reflexiva?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Claramente, R</a:t>
            </a:r>
            <a:r>
              <a:rPr baseline="-25000" lang="es-419"/>
              <a:t>1</a:t>
            </a:r>
            <a:r>
              <a:rPr lang="es-419"/>
              <a:t> </a:t>
            </a:r>
            <a:r>
              <a:rPr lang="es-419" u="sng"/>
              <a:t>no es reflexiva</a:t>
            </a:r>
            <a:r>
              <a:rPr lang="es-419"/>
              <a:t> (notemos que (b,b) no pertenece a R</a:t>
            </a:r>
            <a:r>
              <a:rPr baseline="-25000" lang="es-419"/>
              <a:t>1</a:t>
            </a:r>
            <a:r>
              <a:rPr lang="es-419"/>
              <a:t>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Luego, lo que debemos hacer es agregar </a:t>
            </a:r>
            <a:r>
              <a:rPr lang="es-419" u="sng"/>
              <a:t>la menor cantidad de pares a la </a:t>
            </a:r>
            <a:r>
              <a:rPr lang="es-419" u="sng"/>
              <a:t>relación</a:t>
            </a:r>
            <a:r>
              <a:rPr lang="es-419" u="sng"/>
              <a:t> de tal manera que se cumpla la reflexividad.</a:t>
            </a:r>
            <a:r>
              <a:rPr lang="es-419"/>
              <a:t> Luego: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r(R</a:t>
            </a:r>
            <a:r>
              <a:rPr baseline="-25000" lang="es-419"/>
              <a:t>1</a:t>
            </a:r>
            <a:r>
              <a:rPr lang="es-419"/>
              <a:t>) =  {(a, a),(a, b),(b, a),(b, c),</a:t>
            </a:r>
            <a:r>
              <a:rPr lang="es-419">
                <a:highlight>
                  <a:schemeClr val="accent2"/>
                </a:highlight>
              </a:rPr>
              <a:t>(b, b),(c, c)</a:t>
            </a:r>
            <a:r>
              <a:rPr lang="es-419"/>
              <a:t>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</a:t>
            </a:r>
            <a:r>
              <a:rPr lang="es-419" sz="1200"/>
              <a:t>1</a:t>
            </a:r>
            <a:r>
              <a:rPr lang="es-419"/>
              <a:t> = {(a, a),(a, b),(b, a),(b, c)} definida sobre el conjunto {a, b, c}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Usando la misma </a:t>
            </a:r>
            <a:r>
              <a:rPr lang="es-419"/>
              <a:t>lógica</a:t>
            </a:r>
            <a:r>
              <a:rPr lang="es-419"/>
              <a:t>, calculamos la clausura </a:t>
            </a:r>
            <a:r>
              <a:rPr lang="es-419"/>
              <a:t>simétrica</a:t>
            </a:r>
            <a:r>
              <a:rPr lang="es-419"/>
              <a:t> de R</a:t>
            </a:r>
            <a:r>
              <a:rPr baseline="-25000" lang="es-419"/>
              <a:t>1</a:t>
            </a:r>
            <a:r>
              <a:rPr lang="es-419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¿Es R</a:t>
            </a:r>
            <a:r>
              <a:rPr baseline="-25000" lang="es-419"/>
              <a:t>1</a:t>
            </a:r>
            <a:r>
              <a:rPr lang="es-419"/>
              <a:t> simétrica? </a:t>
            </a:r>
            <a:r>
              <a:rPr b="1" lang="es-419"/>
              <a:t>No!</a:t>
            </a:r>
            <a:r>
              <a:rPr lang="es-419"/>
              <a:t> (b, c) pertenece a R</a:t>
            </a:r>
            <a:r>
              <a:rPr baseline="-25000" lang="es-419"/>
              <a:t>1</a:t>
            </a:r>
            <a:r>
              <a:rPr lang="es-419"/>
              <a:t> pero (c, b) no…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Entonces, para calcular la clausura, agrego la menor cantidad de pares que haga que R</a:t>
            </a:r>
            <a:r>
              <a:rPr baseline="-25000" lang="es-419"/>
              <a:t>1</a:t>
            </a:r>
            <a:r>
              <a:rPr lang="es-419"/>
              <a:t> sea simétrica. Luego: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s(R</a:t>
            </a:r>
            <a:r>
              <a:rPr lang="es-419" sz="1200"/>
              <a:t>1</a:t>
            </a:r>
            <a:r>
              <a:rPr lang="es-419"/>
              <a:t>) = {(a, a),(a, b),(b, a),(b, c),</a:t>
            </a:r>
            <a:r>
              <a:rPr lang="es-419">
                <a:highlight>
                  <a:schemeClr val="accent4"/>
                </a:highlight>
              </a:rPr>
              <a:t>(c, b)</a:t>
            </a:r>
            <a:r>
              <a:rPr lang="es-419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266325"/>
            <a:ext cx="8520600" cy="21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</a:t>
            </a:r>
            <a:r>
              <a:rPr lang="es-419" sz="1200"/>
              <a:t>1</a:t>
            </a:r>
            <a:r>
              <a:rPr lang="es-419"/>
              <a:t> = {(a, a),(a, b),(b, a),(b, c)} definida sobre el conjunto {a, b, c}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Por ultimo, calculamos la clausura transitiva de R</a:t>
            </a:r>
            <a:r>
              <a:rPr baseline="-25000" lang="es-419"/>
              <a:t>1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¿Es R</a:t>
            </a:r>
            <a:r>
              <a:rPr baseline="-25000" lang="es-419"/>
              <a:t>1</a:t>
            </a:r>
            <a:r>
              <a:rPr lang="es-419"/>
              <a:t> </a:t>
            </a:r>
            <a:r>
              <a:rPr lang="es-419"/>
              <a:t>transitiva</a:t>
            </a:r>
            <a:r>
              <a:rPr lang="es-419"/>
              <a:t>? </a:t>
            </a:r>
            <a:r>
              <a:rPr b="1" lang="es-419"/>
              <a:t>¡No</a:t>
            </a:r>
            <a:r>
              <a:rPr b="1" lang="es-419"/>
              <a:t>!</a:t>
            </a:r>
            <a:r>
              <a:rPr lang="es-419"/>
              <a:t> (a, b) y (b, c) pertenecen a R</a:t>
            </a:r>
            <a:r>
              <a:rPr baseline="-25000" lang="es-419"/>
              <a:t>1</a:t>
            </a:r>
            <a:r>
              <a:rPr lang="es-419"/>
              <a:t> pero (a, c) no…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-419"/>
              <a:t>Entonces, para calcular la clausura, agrego la menor cantidad de pares que haga que R</a:t>
            </a:r>
            <a:r>
              <a:rPr baseline="-25000" lang="es-419"/>
              <a:t>1</a:t>
            </a:r>
            <a:r>
              <a:rPr lang="es-419"/>
              <a:t> sea transitiva. Luego: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288" y="3417925"/>
            <a:ext cx="5557424" cy="11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</a:t>
            </a:r>
            <a:r>
              <a:rPr lang="es-419" sz="1200"/>
              <a:t>3</a:t>
            </a:r>
            <a:r>
              <a:rPr lang="es-419"/>
              <a:t> = {(a, b),(b, c),(c, a)}</a:t>
            </a:r>
            <a:r>
              <a:rPr lang="es-419"/>
              <a:t> definida sobre el conjunto {a, b, c}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r(R</a:t>
            </a:r>
            <a:r>
              <a:rPr lang="es-419" sz="1200"/>
              <a:t>3</a:t>
            </a:r>
            <a:r>
              <a:rPr lang="es-419"/>
              <a:t>) = {(a, b),(b, c),(c, a),</a:t>
            </a:r>
            <a:r>
              <a:rPr lang="es-419">
                <a:highlight>
                  <a:schemeClr val="accent2"/>
                </a:highlight>
              </a:rPr>
              <a:t>(a, a),(b, b),(c, c)</a:t>
            </a:r>
            <a:r>
              <a:rPr lang="es-419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s(R</a:t>
            </a:r>
            <a:r>
              <a:rPr lang="es-419" sz="1200"/>
              <a:t>3</a:t>
            </a:r>
            <a:r>
              <a:rPr lang="es-419"/>
              <a:t>) = {(a, b),(b, c),(c, a),</a:t>
            </a:r>
            <a:r>
              <a:rPr lang="es-419">
                <a:highlight>
                  <a:schemeClr val="accent4"/>
                </a:highlight>
              </a:rPr>
              <a:t>(b, a),(c, b),(a, c)</a:t>
            </a:r>
            <a:r>
              <a:rPr lang="es-419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t(R</a:t>
            </a:r>
            <a:r>
              <a:rPr lang="es-419" sz="1200"/>
              <a:t>3</a:t>
            </a:r>
            <a:r>
              <a:rPr lang="es-419"/>
              <a:t>) = {(a, b),(b, c),(c, a),</a:t>
            </a:r>
            <a:r>
              <a:rPr lang="es-419">
                <a:highlight>
                  <a:schemeClr val="accent3"/>
                </a:highlight>
              </a:rPr>
              <a:t>(a, c),(b, a),(a, a),(b, b),(c, c),(c, b)</a:t>
            </a:r>
            <a:r>
              <a:rPr lang="es-419"/>
              <a:t>}</a:t>
            </a:r>
            <a:endParaRPr/>
          </a:p>
        </p:txBody>
      </p:sp>
      <p:cxnSp>
        <p:nvCxnSpPr>
          <p:cNvPr id="100" name="Google Shape;100;p18"/>
          <p:cNvCxnSpPr/>
          <p:nvPr/>
        </p:nvCxnSpPr>
        <p:spPr>
          <a:xfrm>
            <a:off x="1262825" y="3063525"/>
            <a:ext cx="376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8"/>
          <p:cNvCxnSpPr/>
          <p:nvPr/>
        </p:nvCxnSpPr>
        <p:spPr>
          <a:xfrm>
            <a:off x="1872425" y="3063525"/>
            <a:ext cx="376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8"/>
          <p:cNvCxnSpPr/>
          <p:nvPr/>
        </p:nvCxnSpPr>
        <p:spPr>
          <a:xfrm>
            <a:off x="2405825" y="3063525"/>
            <a:ext cx="376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1 - Tarea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Calcular las siguientes clausuras: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lphaLcPeriod"/>
            </a:pPr>
            <a:r>
              <a:rPr lang="es-419"/>
              <a:t>t(s(Q</a:t>
            </a:r>
            <a:r>
              <a:rPr baseline="-25000" lang="es-419"/>
              <a:t>1</a:t>
            </a:r>
            <a:r>
              <a:rPr lang="es-419"/>
              <a:t>))	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-419"/>
              <a:t>s(r(Q</a:t>
            </a:r>
            <a:r>
              <a:rPr baseline="-25000" lang="es-419"/>
              <a:t>2</a:t>
            </a:r>
            <a:r>
              <a:rPr lang="es-419"/>
              <a:t>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Donde: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Q</a:t>
            </a:r>
            <a:r>
              <a:rPr baseline="-25000" lang="es-419"/>
              <a:t>1</a:t>
            </a:r>
            <a:r>
              <a:rPr lang="es-419"/>
              <a:t> = {(1, 2), (2, 3)} sobre S</a:t>
            </a:r>
            <a:r>
              <a:rPr baseline="-25000" lang="es-419"/>
              <a:t>1</a:t>
            </a:r>
            <a:r>
              <a:rPr lang="es-419"/>
              <a:t> = {1,2,3}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Q’ = {(x,x); x ∊ S</a:t>
            </a:r>
            <a:r>
              <a:rPr baseline="-25000" lang="es-419"/>
              <a:t>1</a:t>
            </a:r>
            <a:r>
              <a:rPr lang="es-419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Q</a:t>
            </a:r>
            <a:r>
              <a:rPr baseline="-25000" lang="es-419"/>
              <a:t>2</a:t>
            </a:r>
            <a:r>
              <a:rPr lang="es-419"/>
              <a:t> = (r(Q</a:t>
            </a:r>
            <a:r>
              <a:rPr baseline="-25000" lang="es-419"/>
              <a:t>1</a:t>
            </a:r>
            <a:r>
              <a:rPr lang="es-419"/>
              <a:t>) - Q’) ∪ {(3,2)}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Dar ejemplos de relaciones binarias definidas sobre conjuntos </a:t>
            </a:r>
            <a:r>
              <a:rPr b="1" lang="es-419"/>
              <a:t>(i) finitos</a:t>
            </a:r>
            <a:r>
              <a:rPr lang="es-419"/>
              <a:t> e </a:t>
            </a:r>
            <a:r>
              <a:rPr b="1" lang="es-419"/>
              <a:t>(ii) infinitos</a:t>
            </a:r>
            <a:r>
              <a:rPr lang="es-419"/>
              <a:t> que cumplan con las siguientes propiedades: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(a) antisimétrica, transitiva, no reflexiva y no simétrica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(b) antisimétrica, transitiva, reflexiva y no simétrica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antisimétrica, transitiva, no reflexiva y no simétrica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(i) finito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 = {1, 2, 3}		R</a:t>
            </a:r>
            <a:r>
              <a:rPr lang="es-419" sz="1300"/>
              <a:t>1</a:t>
            </a:r>
            <a:r>
              <a:rPr lang="es-419"/>
              <a:t> = {(1,2), (2,3), (1,3)} o R</a:t>
            </a:r>
            <a:r>
              <a:rPr lang="es-419" sz="1300"/>
              <a:t>2</a:t>
            </a:r>
            <a:r>
              <a:rPr lang="es-419"/>
              <a:t> = {(1,2)}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(ii) infinito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 ℕ				R = {(x,y) : x,y ∈ ℕ con x&lt;y}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antisimétrica, transitiva, reflexiva y no simétrica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(i) finito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 = {1, 2, 3}		R = {(1,2), (2,3), (1,3), (1,1), (2,2), (3,3)}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(ii) infinito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 ℕ				R = {(x,y) : x,y ∈ ℕ con x≤y}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