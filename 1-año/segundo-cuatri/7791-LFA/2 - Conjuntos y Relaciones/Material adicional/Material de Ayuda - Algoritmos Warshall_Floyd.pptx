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DEEA8C-F204-4BA5-8629-616EDA97CFB2}">
  <a:tblStyle styleId="{89DEEA8C-F204-4BA5-8629-616EDA97CF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467326b8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467326b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4688736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4688736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46887367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46887367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46887367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46887367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46887367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46887367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46887367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46887367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46887367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46887367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46887367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46887367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46887367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46887367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46887367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46887367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46887367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46887367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46887367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46887367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46887367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46887367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6887367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6887367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d468873674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d46887367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46887367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46887367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d4791449f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d4791449f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Material de Ayuda - Algoritmos Warshall y Floyd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Formales y </a:t>
            </a:r>
            <a:r>
              <a:rPr lang="es"/>
              <a:t>Autómatas</a:t>
            </a:r>
            <a:r>
              <a:rPr lang="es"/>
              <a:t> - Diego Orbe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Parte I: Algoritmo de Warshall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Objetivo: </a:t>
            </a:r>
            <a:r>
              <a:rPr lang="es">
                <a:solidFill>
                  <a:schemeClr val="lt1"/>
                </a:solidFill>
              </a:rPr>
              <a:t>Dada una </a:t>
            </a:r>
            <a:r>
              <a:rPr lang="es">
                <a:solidFill>
                  <a:schemeClr val="lt1"/>
                </a:solidFill>
              </a:rPr>
              <a:t>relación</a:t>
            </a:r>
            <a:r>
              <a:rPr lang="es">
                <a:solidFill>
                  <a:schemeClr val="lt1"/>
                </a:solidFill>
              </a:rPr>
              <a:t> R definida sobre un conjunto S, el algoritmo de Warshall nos ayuda a encontrar la </a:t>
            </a:r>
            <a:r>
              <a:rPr b="1" lang="es" u="sng">
                <a:solidFill>
                  <a:schemeClr val="lt1"/>
                </a:solidFill>
              </a:rPr>
              <a:t>clausura transitiva de R, es decir: t(R).</a:t>
            </a:r>
            <a:endParaRPr b="1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Antes de comenzar con el algoritmo en </a:t>
            </a:r>
            <a:r>
              <a:rPr lang="es">
                <a:solidFill>
                  <a:schemeClr val="lt1"/>
                </a:solidFill>
              </a:rPr>
              <a:t>sí</a:t>
            </a:r>
            <a:r>
              <a:rPr lang="es">
                <a:solidFill>
                  <a:schemeClr val="lt1"/>
                </a:solidFill>
              </a:rPr>
              <a:t>, recordemos como se definen las </a:t>
            </a:r>
            <a:r>
              <a:rPr b="1" lang="es">
                <a:solidFill>
                  <a:schemeClr val="lt1"/>
                </a:solidFill>
              </a:rPr>
              <a:t>matrices de adyacencia.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Dada una </a:t>
            </a:r>
            <a:r>
              <a:rPr lang="es">
                <a:solidFill>
                  <a:schemeClr val="lt1"/>
                </a:solidFill>
              </a:rPr>
              <a:t>relación</a:t>
            </a:r>
            <a:r>
              <a:rPr lang="es">
                <a:solidFill>
                  <a:schemeClr val="lt1"/>
                </a:solidFill>
              </a:rPr>
              <a:t> R sobre S, definimos una matriz M de SxS dimensiones donde: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Si (a,b) pertenece a R, entonces M[a,b] = 1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En caso contrario,  M[a,b] =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lt1"/>
                </a:solidFill>
              </a:rPr>
              <a:t>Veamos un ejemplo..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Ejemplo a resolver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Dado el conjunto S = {1, 2, 3, 4}, tenemos la </a:t>
            </a:r>
            <a:r>
              <a:rPr b="1" lang="es">
                <a:solidFill>
                  <a:schemeClr val="lt1"/>
                </a:solidFill>
              </a:rPr>
              <a:t>relación</a:t>
            </a:r>
            <a:r>
              <a:rPr b="1" lang="es">
                <a:solidFill>
                  <a:schemeClr val="lt1"/>
                </a:solidFill>
              </a:rPr>
              <a:t> R definida como: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 = {(1,1), (2,3), (3,4), (3,1), (1,4)}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Luego podemos representar a R como una matriz o un grafo: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1309075" y="270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" name="Google Shape;74;p15"/>
          <p:cNvSpPr txBox="1"/>
          <p:nvPr/>
        </p:nvSpPr>
        <p:spPr>
          <a:xfrm>
            <a:off x="1389775" y="44362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389775" y="26858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411225" y="268582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7337175" y="268582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11225" y="405012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337175" y="405012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411225" y="4467550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Grafo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046411" y="2796747"/>
            <a:ext cx="427650" cy="289225"/>
          </a:xfrm>
          <a:custGeom>
            <a:rect b="b" l="l" r="r" t="t"/>
            <a:pathLst>
              <a:path extrusionOk="0" h="11569" w="17106">
                <a:moveTo>
                  <a:pt x="14952" y="589"/>
                </a:moveTo>
                <a:cubicBezTo>
                  <a:pt x="9884" y="-1583"/>
                  <a:pt x="-1512" y="2900"/>
                  <a:pt x="231" y="8130"/>
                </a:cubicBezTo>
                <a:cubicBezTo>
                  <a:pt x="2016" y="13486"/>
                  <a:pt x="11751" y="11350"/>
                  <a:pt x="17107" y="956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82" name="Google Shape;82;p15"/>
          <p:cNvCxnSpPr>
            <a:stCxn id="76" idx="5"/>
            <a:endCxn id="79" idx="1"/>
          </p:cNvCxnSpPr>
          <p:nvPr/>
        </p:nvCxnSpPr>
        <p:spPr>
          <a:xfrm>
            <a:off x="5733100" y="3015382"/>
            <a:ext cx="1659300" cy="109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>
            <a:stCxn id="77" idx="3"/>
            <a:endCxn id="78" idx="7"/>
          </p:cNvCxnSpPr>
          <p:nvPr/>
        </p:nvCxnSpPr>
        <p:spPr>
          <a:xfrm flipH="1">
            <a:off x="5733100" y="3015382"/>
            <a:ext cx="1659300" cy="109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78" idx="0"/>
            <a:endCxn id="76" idx="4"/>
          </p:cNvCxnSpPr>
          <p:nvPr/>
        </p:nvCxnSpPr>
        <p:spPr>
          <a:xfrm rot="10800000">
            <a:off x="5599775" y="3071825"/>
            <a:ext cx="0" cy="9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5788300" y="4180325"/>
            <a:ext cx="15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5788300" y="4350875"/>
            <a:ext cx="15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92" name="Google Shape;92;p16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6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73275" y="3718100"/>
            <a:ext cx="6039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Entendamos cada parte del algoritmo…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02" name="Google Shape;102;p17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7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564775" y="1958725"/>
            <a:ext cx="5116500" cy="1584900"/>
          </a:xfrm>
          <a:prstGeom prst="rect">
            <a:avLst/>
          </a:prstGeom>
          <a:solidFill>
            <a:srgbClr val="1A1919">
              <a:alpha val="95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76650" y="3789925"/>
            <a:ext cx="47127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primera medida, el algoritmo recibe una matriz de adyacencia M para una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relación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R sobre S = {1, 2, 3, 4}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772775" y="3789925"/>
            <a:ext cx="3141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Luego, el algoritmo modifica dicha matriz M para obtener t(R)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189350" y="4034125"/>
            <a:ext cx="6087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15" name="Google Shape;115;p18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8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564775" y="2344700"/>
            <a:ext cx="5116500" cy="1198800"/>
          </a:xfrm>
          <a:prstGeom prst="rect">
            <a:avLst/>
          </a:prstGeom>
          <a:solidFill>
            <a:srgbClr val="1A1919">
              <a:alpha val="95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73275" y="3789925"/>
            <a:ext cx="52995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ciclo-for, se define un elemento k de la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relación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que va a servir como “</a:t>
            </a:r>
            <a:r>
              <a:rPr i="1" lang="es" sz="18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pivot” o punto intermedio entre dos nodos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058550" y="2849800"/>
            <a:ext cx="493800" cy="49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845050" y="3498625"/>
            <a:ext cx="493800" cy="49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k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058550" y="4230575"/>
            <a:ext cx="493800" cy="49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4" name="Google Shape;124;p18"/>
          <p:cNvCxnSpPr>
            <a:stCxn id="121" idx="6"/>
            <a:endCxn id="122" idx="0"/>
          </p:cNvCxnSpPr>
          <p:nvPr/>
        </p:nvCxnSpPr>
        <p:spPr>
          <a:xfrm>
            <a:off x="6552350" y="3096700"/>
            <a:ext cx="539700" cy="4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>
            <a:stCxn id="122" idx="4"/>
            <a:endCxn id="123" idx="7"/>
          </p:cNvCxnSpPr>
          <p:nvPr/>
        </p:nvCxnSpPr>
        <p:spPr>
          <a:xfrm flipH="1">
            <a:off x="6479950" y="3992425"/>
            <a:ext cx="6120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8"/>
          <p:cNvSpPr txBox="1"/>
          <p:nvPr/>
        </p:nvSpPr>
        <p:spPr>
          <a:xfrm>
            <a:off x="7406450" y="3544525"/>
            <a:ext cx="13017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Punto intermedio</a:t>
            </a:r>
            <a:endParaRPr sz="11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7" name="Google Shape;127;p18"/>
          <p:cNvCxnSpPr>
            <a:stCxn id="121" idx="4"/>
            <a:endCxn id="123" idx="0"/>
          </p:cNvCxnSpPr>
          <p:nvPr/>
        </p:nvCxnSpPr>
        <p:spPr>
          <a:xfrm>
            <a:off x="6305450" y="3343600"/>
            <a:ext cx="0" cy="8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4" name="Google Shape;134;p19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9900"/>
                          </a:solidFill>
                        </a:rPr>
                        <a:t>0</a:t>
                      </a:r>
                      <a:endParaRPr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0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00FF00"/>
                          </a:solidFill>
                        </a:rPr>
                        <a:t>0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9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564775" y="2883300"/>
            <a:ext cx="5116500" cy="660300"/>
          </a:xfrm>
          <a:prstGeom prst="rect">
            <a:avLst/>
          </a:prstGeom>
          <a:solidFill>
            <a:srgbClr val="1A1919">
              <a:alpha val="95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73275" y="3789925"/>
            <a:ext cx="49044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Luego, estos ciclos anidados permiten recorrer cada elemento de la matriz 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539350" y="4000825"/>
            <a:ext cx="412800" cy="39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40" name="Google Shape;140;p19"/>
          <p:cNvGraphicFramePr/>
          <p:nvPr/>
        </p:nvGraphicFramePr>
        <p:xfrm>
          <a:off x="60576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i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j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M[i,j]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9900"/>
                          </a:solidFill>
                        </a:rPr>
                        <a:t>0</a:t>
                      </a:r>
                      <a:endParaRPr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0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…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00FF00"/>
                          </a:solidFill>
                        </a:rPr>
                        <a:t>0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47" name="Google Shape;147;p20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2"/>
                          </a:solidFill>
                        </a:rPr>
                        <a:t>1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2"/>
                          </a:solidFill>
                        </a:rPr>
                        <a:t>0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20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473275" y="3789925"/>
            <a:ext cx="490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Para cada elemento de la matriz verifica: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 (i,k) ∊ R ⋀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(k,j) ∊ R → (i,j) ∊ R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539350" y="4000825"/>
            <a:ext cx="412800" cy="39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561075" y="4351050"/>
            <a:ext cx="104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M[i,k] = 1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2602375" y="4351050"/>
            <a:ext cx="104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M[k,j] = 1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472850" y="4351050"/>
            <a:ext cx="183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 Asigno 1 a </a:t>
            </a: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M[i,j] 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320150" y="2488325"/>
            <a:ext cx="2690700" cy="26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ejemplo:</a:t>
            </a:r>
            <a:endParaRPr b="1"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Sea i = 2, j = 4 y k = 1</a:t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M[i, k] = 0</a:t>
            </a:r>
            <a:r>
              <a:rPr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i="1"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M[k, j] = 1</a:t>
            </a:r>
            <a:endParaRPr sz="16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M[i,j] queda igual que antes, </a:t>
            </a:r>
            <a:r>
              <a:rPr b="1" lang="es" sz="16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M[i,j] = 0</a:t>
            </a:r>
            <a:endParaRPr b="1" sz="16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 de Warshall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62" name="Google Shape;162;p21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2"/>
                          </a:solidFill>
                        </a:rPr>
                        <a:t>1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trike="sngStrike">
                          <a:solidFill>
                            <a:schemeClr val="lt1"/>
                          </a:solidFill>
                        </a:rPr>
                        <a:t>0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1"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2"/>
                          </a:solidFill>
                        </a:rPr>
                        <a:t>1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1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75" y="1017725"/>
            <a:ext cx="5299499" cy="26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473275" y="3789925"/>
            <a:ext cx="490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Para cada elemento de la matriz verifica: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 (i,k) ∊ R ⋀ (k,j) ∊ R → (i,j) ∊ R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539350" y="4000825"/>
            <a:ext cx="412800" cy="39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561075" y="4351050"/>
            <a:ext cx="104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M[i,k] = 1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2602375" y="4351050"/>
            <a:ext cx="104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M[k,j] = 1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472850" y="4351050"/>
            <a:ext cx="183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 Asigno 1 a M[i,j] </a:t>
            </a:r>
            <a:endParaRPr sz="15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320150" y="2488325"/>
            <a:ext cx="26907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Sin embargo</a:t>
            </a:r>
            <a:endParaRPr b="1"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Sea i = 2, j = 4 y k = </a:t>
            </a:r>
            <a:r>
              <a:rPr b="1"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M[i, k] = 1 </a:t>
            </a:r>
            <a:endParaRPr i="1" sz="16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M[k, j] = 1</a:t>
            </a:r>
            <a:endParaRPr sz="16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M[i,j] cambia su valor</a:t>
            </a:r>
            <a:endParaRPr sz="1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M[i,j] = 1</a:t>
            </a:r>
            <a:endParaRPr b="1" sz="16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76" name="Google Shape;176;p22"/>
          <p:cNvGraphicFramePr/>
          <p:nvPr/>
        </p:nvGraphicFramePr>
        <p:xfrm>
          <a:off x="6506450" y="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2"/>
          <p:cNvSpPr txBox="1"/>
          <p:nvPr/>
        </p:nvSpPr>
        <p:spPr>
          <a:xfrm>
            <a:off x="6587150" y="18240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6587150" y="736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395850" y="980300"/>
            <a:ext cx="5834700" cy="3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Primero hacemos la traza para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 = 1: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80" name="Google Shape;180;p22"/>
          <p:cNvGraphicFramePr/>
          <p:nvPr/>
        </p:nvGraphicFramePr>
        <p:xfrm>
          <a:off x="449750" y="15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1190250"/>
                <a:gridCol w="1190250"/>
                <a:gridCol w="1190250"/>
                <a:gridCol w="1190250"/>
                <a:gridCol w="11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I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J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M[i,k] y M[k,i]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M[i,j]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 y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 y 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 y 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 y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 y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 y 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…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..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1" name="Google Shape;181;p22"/>
          <p:cNvSpPr txBox="1"/>
          <p:nvPr/>
        </p:nvSpPr>
        <p:spPr>
          <a:xfrm>
            <a:off x="6706300" y="3314175"/>
            <a:ext cx="20826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Ejercicio:</a:t>
            </a:r>
            <a:endParaRPr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Seguir completando la tabla</a:t>
            </a:r>
            <a:endParaRPr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87" name="Google Shape;187;p23"/>
          <p:cNvGraphicFramePr/>
          <p:nvPr/>
        </p:nvGraphicFramePr>
        <p:xfrm>
          <a:off x="1138525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3"/>
          <p:cNvSpPr txBox="1"/>
          <p:nvPr/>
        </p:nvSpPr>
        <p:spPr>
          <a:xfrm>
            <a:off x="1219225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1219225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395850" y="980300"/>
            <a:ext cx="5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Primero hacemos la traza para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 = 1: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91" name="Google Shape;191;p23"/>
          <p:cNvGraphicFramePr/>
          <p:nvPr/>
        </p:nvGraphicFramePr>
        <p:xfrm>
          <a:off x="5563700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3"/>
          <p:cNvSpPr txBox="1"/>
          <p:nvPr/>
        </p:nvSpPr>
        <p:spPr>
          <a:xfrm>
            <a:off x="5644400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Modificada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5644400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4282650" y="2398575"/>
            <a:ext cx="906600" cy="8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377900" y="4552925"/>
            <a:ext cx="4416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 k = 1 no hubieron modificaciones.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1219225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1" name="Google Shape;201;p24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02" name="Google Shape;202;p24"/>
          <p:cNvGraphicFramePr/>
          <p:nvPr/>
        </p:nvGraphicFramePr>
        <p:xfrm>
          <a:off x="1138525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1"/>
                          </a:solidFill>
                        </a:rPr>
                        <a:t>0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1"/>
                          </a:solidFill>
                        </a:rPr>
                        <a:t>0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1"/>
                          </a:solidFill>
                        </a:rPr>
                        <a:t>0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u="sng">
                          <a:solidFill>
                            <a:schemeClr val="lt1"/>
                          </a:solidFill>
                        </a:rPr>
                        <a:t>0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4"/>
          <p:cNvSpPr txBox="1"/>
          <p:nvPr/>
        </p:nvSpPr>
        <p:spPr>
          <a:xfrm>
            <a:off x="1219225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95850" y="980300"/>
            <a:ext cx="5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Primero hacemos la traza para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 = 2: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05" name="Google Shape;205;p24"/>
          <p:cNvGraphicFramePr/>
          <p:nvPr/>
        </p:nvGraphicFramePr>
        <p:xfrm>
          <a:off x="5563700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4"/>
          <p:cNvSpPr txBox="1"/>
          <p:nvPr/>
        </p:nvSpPr>
        <p:spPr>
          <a:xfrm>
            <a:off x="5644400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Modificada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644400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4282650" y="2398575"/>
            <a:ext cx="906600" cy="8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377900" y="4552925"/>
            <a:ext cx="4416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 k = 2 no hubieron modificaciones.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5119275" y="284425"/>
            <a:ext cx="3454200" cy="1095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Importante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caso, para cualquier i se cumple que M[i,k] = 0… Por lo tanto, </a:t>
            </a:r>
            <a:r>
              <a:rPr lang="es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 matriz M si o si </a:t>
            </a:r>
            <a:r>
              <a:rPr lang="es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será</a:t>
            </a:r>
            <a:r>
              <a:rPr lang="es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igual a M en esta iteración</a:t>
            </a: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/>
          <p:nvPr/>
        </p:nvSpPr>
        <p:spPr>
          <a:xfrm>
            <a:off x="1219225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17" name="Google Shape;217;p25"/>
          <p:cNvGraphicFramePr/>
          <p:nvPr/>
        </p:nvGraphicFramePr>
        <p:xfrm>
          <a:off x="1138525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5"/>
          <p:cNvSpPr/>
          <p:nvPr/>
        </p:nvSpPr>
        <p:spPr>
          <a:xfrm>
            <a:off x="5644400" y="195872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1219225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395850" y="980300"/>
            <a:ext cx="5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Primero hacemos la traza para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 = 3: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21" name="Google Shape;221;p25"/>
          <p:cNvGraphicFramePr/>
          <p:nvPr/>
        </p:nvGraphicFramePr>
        <p:xfrm>
          <a:off x="5563700" y="19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5"/>
          <p:cNvSpPr txBox="1"/>
          <p:nvPr/>
        </p:nvSpPr>
        <p:spPr>
          <a:xfrm>
            <a:off x="5644400" y="370912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Modificada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282650" y="2398575"/>
            <a:ext cx="906600" cy="8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119275" y="284425"/>
            <a:ext cx="3454200" cy="1095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caso: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(2,1) y (2,4) se agregan a t(R)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(4,1) y (4,4) se agregan a t(R)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1353675" y="17747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395850" y="980300"/>
            <a:ext cx="583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último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hacemos con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 = 4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32" name="Google Shape;232;p26"/>
          <p:cNvGraphicFramePr/>
          <p:nvPr/>
        </p:nvGraphicFramePr>
        <p:xfrm>
          <a:off x="1272975" y="179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26"/>
          <p:cNvSpPr txBox="1"/>
          <p:nvPr/>
        </p:nvSpPr>
        <p:spPr>
          <a:xfrm>
            <a:off x="1353675" y="35251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M’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4282650" y="2398575"/>
            <a:ext cx="906600" cy="8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5119275" y="284425"/>
            <a:ext cx="3454200" cy="1095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caso: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(1,3) se agrega a t(R)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(3,3) se agrega a t(R)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509575" y="1774775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37" name="Google Shape;237;p26"/>
          <p:cNvGraphicFramePr/>
          <p:nvPr/>
        </p:nvGraphicFramePr>
        <p:xfrm>
          <a:off x="5428875" y="177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41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</a:rPr>
                        <a:t>1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26"/>
          <p:cNvSpPr txBox="1"/>
          <p:nvPr/>
        </p:nvSpPr>
        <p:spPr>
          <a:xfrm>
            <a:off x="5509575" y="3525175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Modificada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311700" y="2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Resolvamos el Ejemplo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3609425" y="2163300"/>
            <a:ext cx="906600" cy="8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644325" y="1539500"/>
            <a:ext cx="2423700" cy="1584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46" name="Google Shape;246;p27"/>
          <p:cNvGraphicFramePr/>
          <p:nvPr/>
        </p:nvGraphicFramePr>
        <p:xfrm>
          <a:off x="563625" y="153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38325"/>
                <a:gridCol w="638325"/>
                <a:gridCol w="638325"/>
                <a:gridCol w="638325"/>
              </a:tblGrid>
              <a:tr h="41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accent5"/>
                          </a:solidFill>
                        </a:rPr>
                        <a:t>1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7"/>
          <p:cNvSpPr txBox="1"/>
          <p:nvPr/>
        </p:nvSpPr>
        <p:spPr>
          <a:xfrm>
            <a:off x="644325" y="3289900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Modificada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59950" y="926425"/>
            <a:ext cx="54039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Verificamos que M = t(R)...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518950" y="144707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7444900" y="144707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5518950" y="281137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7444900" y="2811375"/>
            <a:ext cx="377100" cy="3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5518950" y="3228800"/>
            <a:ext cx="242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Grafo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5154136" y="1557997"/>
            <a:ext cx="427650" cy="289225"/>
          </a:xfrm>
          <a:custGeom>
            <a:rect b="b" l="l" r="r" t="t"/>
            <a:pathLst>
              <a:path extrusionOk="0" h="11569" w="17106">
                <a:moveTo>
                  <a:pt x="14952" y="589"/>
                </a:moveTo>
                <a:cubicBezTo>
                  <a:pt x="9884" y="-1583"/>
                  <a:pt x="-1512" y="2900"/>
                  <a:pt x="231" y="8130"/>
                </a:cubicBezTo>
                <a:cubicBezTo>
                  <a:pt x="2016" y="13486"/>
                  <a:pt x="11751" y="11350"/>
                  <a:pt x="17107" y="956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255" name="Google Shape;255;p27"/>
          <p:cNvCxnSpPr/>
          <p:nvPr/>
        </p:nvCxnSpPr>
        <p:spPr>
          <a:xfrm>
            <a:off x="5867750" y="1745157"/>
            <a:ext cx="1659300" cy="109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27"/>
          <p:cNvCxnSpPr>
            <a:stCxn id="250" idx="3"/>
            <a:endCxn id="251" idx="7"/>
          </p:cNvCxnSpPr>
          <p:nvPr/>
        </p:nvCxnSpPr>
        <p:spPr>
          <a:xfrm flipH="1">
            <a:off x="5840825" y="1776632"/>
            <a:ext cx="1659300" cy="109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7"/>
          <p:cNvCxnSpPr/>
          <p:nvPr/>
        </p:nvCxnSpPr>
        <p:spPr>
          <a:xfrm rot="10800000">
            <a:off x="5761350" y="1833175"/>
            <a:ext cx="0" cy="9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7"/>
          <p:cNvCxnSpPr/>
          <p:nvPr/>
        </p:nvCxnSpPr>
        <p:spPr>
          <a:xfrm>
            <a:off x="5896025" y="2941575"/>
            <a:ext cx="15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7"/>
          <p:cNvCxnSpPr/>
          <p:nvPr/>
        </p:nvCxnSpPr>
        <p:spPr>
          <a:xfrm rot="10800000">
            <a:off x="5896025" y="3112125"/>
            <a:ext cx="15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7"/>
          <p:cNvCxnSpPr/>
          <p:nvPr/>
        </p:nvCxnSpPr>
        <p:spPr>
          <a:xfrm>
            <a:off x="5658229" y="1833175"/>
            <a:ext cx="0" cy="97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7"/>
          <p:cNvCxnSpPr>
            <a:stCxn id="250" idx="2"/>
            <a:endCxn id="249" idx="6"/>
          </p:cNvCxnSpPr>
          <p:nvPr/>
        </p:nvCxnSpPr>
        <p:spPr>
          <a:xfrm rot="10800000">
            <a:off x="5896000" y="1640125"/>
            <a:ext cx="15489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7"/>
          <p:cNvCxnSpPr>
            <a:stCxn id="250" idx="4"/>
            <a:endCxn id="252" idx="0"/>
          </p:cNvCxnSpPr>
          <p:nvPr/>
        </p:nvCxnSpPr>
        <p:spPr>
          <a:xfrm>
            <a:off x="7633450" y="1833175"/>
            <a:ext cx="0" cy="97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7"/>
          <p:cNvSpPr/>
          <p:nvPr/>
        </p:nvSpPr>
        <p:spPr>
          <a:xfrm>
            <a:off x="5154136" y="2967509"/>
            <a:ext cx="427650" cy="289225"/>
          </a:xfrm>
          <a:custGeom>
            <a:rect b="b" l="l" r="r" t="t"/>
            <a:pathLst>
              <a:path extrusionOk="0" h="11569" w="17106">
                <a:moveTo>
                  <a:pt x="14952" y="589"/>
                </a:moveTo>
                <a:cubicBezTo>
                  <a:pt x="9884" y="-1583"/>
                  <a:pt x="-1512" y="2900"/>
                  <a:pt x="231" y="8130"/>
                </a:cubicBezTo>
                <a:cubicBezTo>
                  <a:pt x="2016" y="13486"/>
                  <a:pt x="11751" y="11350"/>
                  <a:pt x="17107" y="9566"/>
                </a:cubicBez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264" name="Google Shape;264;p27"/>
          <p:cNvCxnSpPr/>
          <p:nvPr/>
        </p:nvCxnSpPr>
        <p:spPr>
          <a:xfrm rot="10800000">
            <a:off x="5822872" y="1807836"/>
            <a:ext cx="1659300" cy="1091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27"/>
          <p:cNvSpPr/>
          <p:nvPr/>
        </p:nvSpPr>
        <p:spPr>
          <a:xfrm rot="-10612547">
            <a:off x="7757114" y="2859829"/>
            <a:ext cx="427644" cy="289221"/>
          </a:xfrm>
          <a:custGeom>
            <a:rect b="b" l="l" r="r" t="t"/>
            <a:pathLst>
              <a:path extrusionOk="0" h="11569" w="17106">
                <a:moveTo>
                  <a:pt x="14952" y="589"/>
                </a:moveTo>
                <a:cubicBezTo>
                  <a:pt x="9884" y="-1583"/>
                  <a:pt x="-1512" y="2900"/>
                  <a:pt x="231" y="8130"/>
                </a:cubicBezTo>
                <a:cubicBezTo>
                  <a:pt x="2016" y="13486"/>
                  <a:pt x="11751" y="11350"/>
                  <a:pt x="17107" y="9566"/>
                </a:cubicBez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66" name="Google Shape;266;p27"/>
          <p:cNvSpPr txBox="1"/>
          <p:nvPr/>
        </p:nvSpPr>
        <p:spPr>
          <a:xfrm>
            <a:off x="4614775" y="3933550"/>
            <a:ext cx="4290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Como podemos observar, el resultado obtenido es el correcto.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 = t(R)</a:t>
            </a:r>
            <a:endParaRPr b="1" sz="1800" u="sng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Parte II: Algoritmo de Floyd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Objetivo: </a:t>
            </a:r>
            <a:r>
              <a:rPr lang="es">
                <a:solidFill>
                  <a:schemeClr val="lt1"/>
                </a:solidFill>
              </a:rPr>
              <a:t>Dada una matriz de adyacencia </a:t>
            </a:r>
            <a:r>
              <a:rPr b="1" lang="es">
                <a:solidFill>
                  <a:schemeClr val="lt1"/>
                </a:solidFill>
              </a:rPr>
              <a:t>con pesos</a:t>
            </a:r>
            <a:r>
              <a:rPr lang="es">
                <a:solidFill>
                  <a:schemeClr val="lt1"/>
                </a:solidFill>
              </a:rPr>
              <a:t>, el algoritmo de Floyd nos permite calcular el </a:t>
            </a:r>
            <a:r>
              <a:rPr b="1" lang="es">
                <a:solidFill>
                  <a:schemeClr val="lt1"/>
                </a:solidFill>
              </a:rPr>
              <a:t>costo </a:t>
            </a:r>
            <a:r>
              <a:rPr b="1" lang="es">
                <a:solidFill>
                  <a:schemeClr val="lt1"/>
                </a:solidFill>
              </a:rPr>
              <a:t>mínimo</a:t>
            </a:r>
            <a:r>
              <a:rPr b="1" lang="es">
                <a:solidFill>
                  <a:schemeClr val="lt1"/>
                </a:solidFill>
              </a:rPr>
              <a:t> entre cada par de nodos.</a:t>
            </a:r>
            <a:endParaRPr b="1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En este caso, </a:t>
            </a:r>
            <a:r>
              <a:rPr lang="es">
                <a:solidFill>
                  <a:schemeClr val="lt1"/>
                </a:solidFill>
              </a:rPr>
              <a:t>dado un conjunto de nodos S = {1, 2,..., n} definiremos una matriz M donde: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M[i, i] = 0 		→ 	</a:t>
            </a:r>
            <a:r>
              <a:rPr b="1" lang="es">
                <a:solidFill>
                  <a:schemeClr val="lt1"/>
                </a:solidFill>
              </a:rPr>
              <a:t>el costo de ir de un nodo a </a:t>
            </a:r>
            <a:r>
              <a:rPr b="1" lang="es">
                <a:solidFill>
                  <a:schemeClr val="lt1"/>
                </a:solidFill>
              </a:rPr>
              <a:t>sí</a:t>
            </a:r>
            <a:r>
              <a:rPr b="1" lang="es">
                <a:solidFill>
                  <a:schemeClr val="lt1"/>
                </a:solidFill>
              </a:rPr>
              <a:t> mismo es siempre 0</a:t>
            </a:r>
            <a:r>
              <a:rPr lang="e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M[i, j] = n			</a:t>
            </a:r>
            <a:r>
              <a:rPr b="1" lang="es">
                <a:solidFill>
                  <a:schemeClr val="lt1"/>
                </a:solidFill>
              </a:rPr>
              <a:t>→ 	si existe un arco desde i a j con costo n.</a:t>
            </a:r>
            <a:endParaRPr b="1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M[i, j] = ∞			→ 	</a:t>
            </a:r>
            <a:r>
              <a:rPr b="1" lang="es">
                <a:solidFill>
                  <a:schemeClr val="lt1"/>
                </a:solidFill>
              </a:rPr>
              <a:t>en caso contrario.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Notemos que cualquier </a:t>
            </a:r>
            <a:r>
              <a:rPr b="1" lang="es" u="sng">
                <a:solidFill>
                  <a:schemeClr val="lt1"/>
                </a:solidFill>
              </a:rPr>
              <a:t>n </a:t>
            </a:r>
            <a:r>
              <a:rPr b="1" lang="es" u="sng">
                <a:solidFill>
                  <a:schemeClr val="lt1"/>
                </a:solidFill>
              </a:rPr>
              <a:t>será</a:t>
            </a:r>
            <a:r>
              <a:rPr b="1" lang="es" u="sng">
                <a:solidFill>
                  <a:schemeClr val="lt1"/>
                </a:solidFill>
              </a:rPr>
              <a:t> menos costoso que </a:t>
            </a:r>
            <a:r>
              <a:rPr b="1" lang="es" u="sng">
                <a:solidFill>
                  <a:schemeClr val="lt1"/>
                </a:solidFill>
              </a:rPr>
              <a:t>∞</a:t>
            </a:r>
            <a:r>
              <a:rPr lang="es">
                <a:solidFill>
                  <a:schemeClr val="lt1"/>
                </a:solidFill>
              </a:rPr>
              <a:t> </a:t>
            </a:r>
            <a:r>
              <a:rPr b="1" lang="es">
                <a:solidFill>
                  <a:schemeClr val="lt1"/>
                </a:solidFill>
              </a:rPr>
              <a:t>y que</a:t>
            </a:r>
            <a:r>
              <a:rPr lang="es">
                <a:solidFill>
                  <a:schemeClr val="lt1"/>
                </a:solidFill>
              </a:rPr>
              <a:t> </a:t>
            </a:r>
            <a:r>
              <a:rPr b="1" lang="es">
                <a:solidFill>
                  <a:schemeClr val="lt1"/>
                </a:solidFill>
              </a:rPr>
              <a:t>cualquier </a:t>
            </a:r>
            <a:r>
              <a:rPr b="1" lang="es" u="sng">
                <a:solidFill>
                  <a:schemeClr val="lt1"/>
                </a:solidFill>
              </a:rPr>
              <a:t>n será más costoso que 0.</a:t>
            </a:r>
            <a:endParaRPr b="1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257850" y="19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Ejemplo a resolver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1634325" y="1474000"/>
            <a:ext cx="439800" cy="43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587725" y="2077950"/>
            <a:ext cx="439800" cy="43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2576725" y="2227950"/>
            <a:ext cx="439800" cy="43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2074125" y="3430250"/>
            <a:ext cx="439800" cy="43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1131725" y="3430250"/>
            <a:ext cx="439800" cy="43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83" name="Google Shape;283;p29"/>
          <p:cNvCxnSpPr>
            <a:stCxn id="278" idx="5"/>
            <a:endCxn id="280" idx="0"/>
          </p:cNvCxnSpPr>
          <p:nvPr/>
        </p:nvCxnSpPr>
        <p:spPr>
          <a:xfrm>
            <a:off x="2009718" y="1841711"/>
            <a:ext cx="786900" cy="3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29"/>
          <p:cNvSpPr txBox="1"/>
          <p:nvPr/>
        </p:nvSpPr>
        <p:spPr>
          <a:xfrm>
            <a:off x="2356825" y="171015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85" name="Google Shape;285;p29"/>
          <p:cNvCxnSpPr>
            <a:stCxn id="280" idx="4"/>
            <a:endCxn id="281" idx="7"/>
          </p:cNvCxnSpPr>
          <p:nvPr/>
        </p:nvCxnSpPr>
        <p:spPr>
          <a:xfrm flipH="1">
            <a:off x="2449525" y="2658750"/>
            <a:ext cx="347100" cy="8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29"/>
          <p:cNvSpPr txBox="1"/>
          <p:nvPr/>
        </p:nvSpPr>
        <p:spPr>
          <a:xfrm>
            <a:off x="2513925" y="286065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87" name="Google Shape;287;p29"/>
          <p:cNvCxnSpPr>
            <a:stCxn id="278" idx="4"/>
            <a:endCxn id="282" idx="0"/>
          </p:cNvCxnSpPr>
          <p:nvPr/>
        </p:nvCxnSpPr>
        <p:spPr>
          <a:xfrm flipH="1">
            <a:off x="1351725" y="1904800"/>
            <a:ext cx="502500" cy="15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29"/>
          <p:cNvSpPr txBox="1"/>
          <p:nvPr/>
        </p:nvSpPr>
        <p:spPr>
          <a:xfrm>
            <a:off x="1518625" y="2404175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89" name="Google Shape;289;p29"/>
          <p:cNvCxnSpPr>
            <a:stCxn id="281" idx="0"/>
            <a:endCxn id="278" idx="4"/>
          </p:cNvCxnSpPr>
          <p:nvPr/>
        </p:nvCxnSpPr>
        <p:spPr>
          <a:xfrm rot="10800000">
            <a:off x="1854225" y="1904750"/>
            <a:ext cx="439800" cy="15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29"/>
          <p:cNvSpPr txBox="1"/>
          <p:nvPr/>
        </p:nvSpPr>
        <p:spPr>
          <a:xfrm>
            <a:off x="1995575" y="250875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1" name="Google Shape;291;p29"/>
          <p:cNvCxnSpPr>
            <a:stCxn id="281" idx="1"/>
            <a:endCxn id="279" idx="5"/>
          </p:cNvCxnSpPr>
          <p:nvPr/>
        </p:nvCxnSpPr>
        <p:spPr>
          <a:xfrm rot="10800000">
            <a:off x="963132" y="2445739"/>
            <a:ext cx="1175400" cy="10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9"/>
          <p:cNvSpPr txBox="1"/>
          <p:nvPr/>
        </p:nvSpPr>
        <p:spPr>
          <a:xfrm>
            <a:off x="1571525" y="312640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3" name="Google Shape;293;p29"/>
          <p:cNvCxnSpPr>
            <a:stCxn id="282" idx="5"/>
            <a:endCxn id="281" idx="3"/>
          </p:cNvCxnSpPr>
          <p:nvPr/>
        </p:nvCxnSpPr>
        <p:spPr>
          <a:xfrm>
            <a:off x="1507118" y="3797961"/>
            <a:ext cx="63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29"/>
          <p:cNvSpPr txBox="1"/>
          <p:nvPr/>
        </p:nvSpPr>
        <p:spPr>
          <a:xfrm>
            <a:off x="1602925" y="3744075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5" name="Google Shape;295;p29"/>
          <p:cNvCxnSpPr>
            <a:stCxn id="282" idx="1"/>
            <a:endCxn id="279" idx="4"/>
          </p:cNvCxnSpPr>
          <p:nvPr/>
        </p:nvCxnSpPr>
        <p:spPr>
          <a:xfrm rot="10800000">
            <a:off x="807632" y="2508739"/>
            <a:ext cx="388500" cy="9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29"/>
          <p:cNvSpPr txBox="1"/>
          <p:nvPr/>
        </p:nvSpPr>
        <p:spPr>
          <a:xfrm>
            <a:off x="756325" y="306240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97" name="Google Shape;297;p29"/>
          <p:cNvCxnSpPr>
            <a:stCxn id="279" idx="7"/>
            <a:endCxn id="278" idx="2"/>
          </p:cNvCxnSpPr>
          <p:nvPr/>
        </p:nvCxnSpPr>
        <p:spPr>
          <a:xfrm flipH="1" rot="10800000">
            <a:off x="963118" y="1689539"/>
            <a:ext cx="671100" cy="4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9"/>
          <p:cNvSpPr txBox="1"/>
          <p:nvPr/>
        </p:nvSpPr>
        <p:spPr>
          <a:xfrm>
            <a:off x="963125" y="1602275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4507075" y="1357300"/>
            <a:ext cx="3886800" cy="26391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00" name="Google Shape;300;p29"/>
          <p:cNvCxnSpPr>
            <a:endCxn id="280" idx="1"/>
          </p:cNvCxnSpPr>
          <p:nvPr/>
        </p:nvCxnSpPr>
        <p:spPr>
          <a:xfrm flipH="1" rot="10800000">
            <a:off x="1027432" y="2291039"/>
            <a:ext cx="16137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29"/>
          <p:cNvSpPr txBox="1"/>
          <p:nvPr/>
        </p:nvSpPr>
        <p:spPr>
          <a:xfrm>
            <a:off x="1298725" y="1904750"/>
            <a:ext cx="43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302" name="Google Shape;302;p29"/>
          <p:cNvGraphicFramePr/>
          <p:nvPr/>
        </p:nvGraphicFramePr>
        <p:xfrm>
          <a:off x="4688925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{89DEEA8C-F204-4BA5-8629-616EDA97CFB2}</a:tableStyleId>
              </a:tblPr>
              <a:tblGrid>
                <a:gridCol w="685275"/>
                <a:gridCol w="685275"/>
                <a:gridCol w="685275"/>
                <a:gridCol w="685275"/>
                <a:gridCol w="685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  </a:t>
                      </a: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	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∞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29"/>
          <p:cNvSpPr/>
          <p:nvPr/>
        </p:nvSpPr>
        <p:spPr>
          <a:xfrm>
            <a:off x="3474775" y="2093375"/>
            <a:ext cx="757200" cy="111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4623775" y="4113075"/>
            <a:ext cx="377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Matriz de Adyacencia Ponderada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257850" y="19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el Algoritmo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0" name="Google Shape;3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50" y="813075"/>
            <a:ext cx="4922476" cy="26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5386775" y="818725"/>
            <a:ext cx="33918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El algoritmo de Floyd tiene varias similitudes al de Warshall: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AutoNum type="arabicPeriod"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ambos el resultado se obtiene modificando M.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AutoNum type="arabicPeriod"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ambos casos, se recorre la matriz M por filas y columnas.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AutoNum type="arabicPeriod"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último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en este algoritmo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se define un </a:t>
            </a:r>
            <a:r>
              <a:rPr b="1"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pivot</a:t>
            </a:r>
            <a:r>
              <a:rPr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 punto intermedio entre dos nodos.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Veamos su 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intuición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en la siguiente diapositiva.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FFFFFF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