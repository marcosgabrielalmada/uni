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T Sans Narrow"/>
      <p:regular r:id="rId15"/>
      <p:bold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regular.fntdata"/><Relationship Id="rId14" Type="http://schemas.openxmlformats.org/officeDocument/2006/relationships/slide" Target="slides/slide9.xml"/><Relationship Id="rId17" Type="http://schemas.openxmlformats.org/officeDocument/2006/relationships/font" Target="fonts/OpenSans-regular.fntdata"/><Relationship Id="rId16" Type="http://schemas.openxmlformats.org/officeDocument/2006/relationships/font" Target="fonts/PTSansNarrow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16dbe8f2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16dbe8f2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e16dbe8f2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e16dbe8f2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e1715518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e1715518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e1715518b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e1715518b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e1715518b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e1715518b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1715518b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e1715518b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e1715518b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e1715518b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e1715518b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e1715518b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Demostraciones sobre conjuntos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Inducción y Contradicción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2658300" y="4205575"/>
            <a:ext cx="382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E93D8"/>
                </a:solidFill>
                <a:latin typeface="Open Sans"/>
                <a:ea typeface="Open Sans"/>
                <a:cs typeface="Open Sans"/>
                <a:sym typeface="Open Sans"/>
              </a:rPr>
              <a:t>Explicación hecha por Valentina Cambiaso :)</a:t>
            </a:r>
            <a:endParaRPr>
              <a:solidFill>
                <a:srgbClr val="CE93D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Enunciado:</a:t>
            </a:r>
            <a:r>
              <a:rPr lang="es-419"/>
              <a:t> </a:t>
            </a:r>
            <a:r>
              <a:rPr lang="es-419"/>
              <a:t>Probar que para todo entero n ≥ 2, se verifica que un conjunto con n elementos tiene n(n − 1)/2 subconjuntos con exactamente dos elementos.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Para demostrar esta propiedad haremos una prueba por </a:t>
            </a:r>
            <a:r>
              <a:rPr b="1" lang="es-419"/>
              <a:t>inducción</a:t>
            </a:r>
            <a:r>
              <a:rPr lang="es-419"/>
              <a:t>. Recordemos que este tipo de pruebas están formadas por un </a:t>
            </a:r>
            <a:r>
              <a:rPr i="1" lang="es-419"/>
              <a:t>caso base</a:t>
            </a:r>
            <a:r>
              <a:rPr lang="es-419"/>
              <a:t>, una </a:t>
            </a:r>
            <a:r>
              <a:rPr i="1" lang="es-419"/>
              <a:t>hipótesis inductiva </a:t>
            </a:r>
            <a:r>
              <a:rPr lang="es-419"/>
              <a:t>y el </a:t>
            </a:r>
            <a:r>
              <a:rPr i="1" lang="es-419"/>
              <a:t>paso inductivo</a:t>
            </a:r>
            <a:r>
              <a:rPr lang="es-419"/>
              <a:t>.</a:t>
            </a:r>
            <a:endParaRPr/>
          </a:p>
        </p:txBody>
      </p:sp>
      <p:cxnSp>
        <p:nvCxnSpPr>
          <p:cNvPr id="75" name="Google Shape;75;p14"/>
          <p:cNvCxnSpPr/>
          <p:nvPr/>
        </p:nvCxnSpPr>
        <p:spPr>
          <a:xfrm>
            <a:off x="2584050" y="4196025"/>
            <a:ext cx="3531600" cy="12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4"/>
          <p:cNvCxnSpPr/>
          <p:nvPr/>
        </p:nvCxnSpPr>
        <p:spPr>
          <a:xfrm>
            <a:off x="2813100" y="4036050"/>
            <a:ext cx="0" cy="357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4"/>
          <p:cNvCxnSpPr/>
          <p:nvPr/>
        </p:nvCxnSpPr>
        <p:spPr>
          <a:xfrm>
            <a:off x="5037950" y="4036050"/>
            <a:ext cx="0" cy="357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4"/>
          <p:cNvCxnSpPr/>
          <p:nvPr/>
        </p:nvCxnSpPr>
        <p:spPr>
          <a:xfrm>
            <a:off x="5630375" y="4036050"/>
            <a:ext cx="0" cy="357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4"/>
          <p:cNvSpPr txBox="1"/>
          <p:nvPr/>
        </p:nvSpPr>
        <p:spPr>
          <a:xfrm>
            <a:off x="2671650" y="3650550"/>
            <a:ext cx="190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2                </a:t>
            </a:r>
            <a:r>
              <a:rPr b="1" lang="es-419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b="1"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4"/>
          <p:cNvSpPr/>
          <p:nvPr/>
        </p:nvSpPr>
        <p:spPr>
          <a:xfrm flipH="1" rot="-2368976">
            <a:off x="5099518" y="3460376"/>
            <a:ext cx="508602" cy="445348"/>
          </a:xfrm>
          <a:custGeom>
            <a:rect b="b" l="l" r="r" t="t"/>
            <a:pathLst>
              <a:path extrusionOk="0" h="7970" w="9102">
                <a:moveTo>
                  <a:pt x="7382" y="1"/>
                </a:moveTo>
                <a:cubicBezTo>
                  <a:pt x="7318" y="1"/>
                  <a:pt x="7267" y="1"/>
                  <a:pt x="7231" y="1"/>
                </a:cubicBezTo>
                <a:cubicBezTo>
                  <a:pt x="5803" y="1"/>
                  <a:pt x="4414" y="508"/>
                  <a:pt x="3255" y="1321"/>
                </a:cubicBezTo>
                <a:cubicBezTo>
                  <a:pt x="2273" y="2012"/>
                  <a:pt x="1482" y="2949"/>
                  <a:pt x="1121" y="4100"/>
                </a:cubicBezTo>
                <a:cubicBezTo>
                  <a:pt x="876" y="4921"/>
                  <a:pt x="638" y="6057"/>
                  <a:pt x="883" y="6955"/>
                </a:cubicBezTo>
                <a:cubicBezTo>
                  <a:pt x="668" y="6709"/>
                  <a:pt x="428" y="6494"/>
                  <a:pt x="187" y="6494"/>
                </a:cubicBezTo>
                <a:cubicBezTo>
                  <a:pt x="135" y="6494"/>
                  <a:pt x="83" y="6504"/>
                  <a:pt x="31" y="6525"/>
                </a:cubicBezTo>
                <a:cubicBezTo>
                  <a:pt x="8" y="6541"/>
                  <a:pt x="1" y="6571"/>
                  <a:pt x="16" y="6602"/>
                </a:cubicBezTo>
                <a:cubicBezTo>
                  <a:pt x="108" y="6809"/>
                  <a:pt x="331" y="6971"/>
                  <a:pt x="469" y="7155"/>
                </a:cubicBezTo>
                <a:cubicBezTo>
                  <a:pt x="661" y="7423"/>
                  <a:pt x="868" y="7669"/>
                  <a:pt x="1106" y="7907"/>
                </a:cubicBezTo>
                <a:cubicBezTo>
                  <a:pt x="1151" y="7949"/>
                  <a:pt x="1209" y="7969"/>
                  <a:pt x="1266" y="7969"/>
                </a:cubicBezTo>
                <a:cubicBezTo>
                  <a:pt x="1345" y="7969"/>
                  <a:pt x="1422" y="7932"/>
                  <a:pt x="1467" y="7861"/>
                </a:cubicBezTo>
                <a:cubicBezTo>
                  <a:pt x="1735" y="7354"/>
                  <a:pt x="2019" y="6848"/>
                  <a:pt x="2303" y="6349"/>
                </a:cubicBezTo>
                <a:cubicBezTo>
                  <a:pt x="2415" y="6147"/>
                  <a:pt x="2240" y="5964"/>
                  <a:pt x="2066" y="5964"/>
                </a:cubicBezTo>
                <a:cubicBezTo>
                  <a:pt x="1988" y="5964"/>
                  <a:pt x="1910" y="6000"/>
                  <a:pt x="1858" y="6088"/>
                </a:cubicBezTo>
                <a:cubicBezTo>
                  <a:pt x="1666" y="6433"/>
                  <a:pt x="1482" y="6779"/>
                  <a:pt x="1313" y="7132"/>
                </a:cubicBezTo>
                <a:cubicBezTo>
                  <a:pt x="1190" y="6218"/>
                  <a:pt x="1244" y="5290"/>
                  <a:pt x="1467" y="4392"/>
                </a:cubicBezTo>
                <a:cubicBezTo>
                  <a:pt x="1758" y="3240"/>
                  <a:pt x="2518" y="2350"/>
                  <a:pt x="3447" y="1644"/>
                </a:cubicBezTo>
                <a:cubicBezTo>
                  <a:pt x="4406" y="915"/>
                  <a:pt x="5573" y="508"/>
                  <a:pt x="6763" y="377"/>
                </a:cubicBezTo>
                <a:cubicBezTo>
                  <a:pt x="6969" y="354"/>
                  <a:pt x="7176" y="343"/>
                  <a:pt x="7384" y="343"/>
                </a:cubicBezTo>
                <a:cubicBezTo>
                  <a:pt x="7664" y="343"/>
                  <a:pt x="7944" y="364"/>
                  <a:pt x="8221" y="408"/>
                </a:cubicBezTo>
                <a:cubicBezTo>
                  <a:pt x="8428" y="439"/>
                  <a:pt x="8812" y="423"/>
                  <a:pt x="8989" y="500"/>
                </a:cubicBezTo>
                <a:cubicBezTo>
                  <a:pt x="9000" y="506"/>
                  <a:pt x="9014" y="509"/>
                  <a:pt x="9027" y="509"/>
                </a:cubicBezTo>
                <a:cubicBezTo>
                  <a:pt x="9065" y="509"/>
                  <a:pt x="9102" y="484"/>
                  <a:pt x="9096" y="439"/>
                </a:cubicBezTo>
                <a:cubicBezTo>
                  <a:pt x="9062" y="25"/>
                  <a:pt x="7871" y="1"/>
                  <a:pt x="738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4896488" y="3650550"/>
            <a:ext cx="28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5271425" y="3650550"/>
            <a:ext cx="71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k + 1</a:t>
            </a:r>
            <a:endParaRPr b="1" sz="1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2117100" y="4393050"/>
            <a:ext cx="13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CB</a:t>
            </a:r>
            <a:endParaRPr b="1" sz="1800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4341950" y="4393050"/>
            <a:ext cx="13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HI</a:t>
            </a:r>
            <a:endParaRPr b="1" sz="1800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4934375" y="4393050"/>
            <a:ext cx="13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lang="es-419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800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Caso Base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Sea A un conjunto con 2 elementos, A tiene sólo </a:t>
            </a:r>
            <a:r>
              <a:rPr lang="es-419" u="sng"/>
              <a:t>un</a:t>
            </a:r>
            <a:r>
              <a:rPr lang="es-419"/>
              <a:t> subconjunto con exactamente 2 elementos (igual a 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Luego, si n = 2, </a:t>
            </a:r>
            <a:endParaRPr/>
          </a:p>
          <a:p>
            <a:pPr indent="45720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2(2-1)/2 = 1 ∴ se verifica para n = 2 </a:t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2264125" y="494250"/>
            <a:ext cx="67308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Enunciado:</a:t>
            </a: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Probar que para todo entero n ≥ 2, se verifica que un conjunto con n elementos tiene n(n − 1)/2 subconjuntos con exactamente dos elementos.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Hipótesis Inductiva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Asumo que para un conjunto cualquiera de </a:t>
            </a:r>
            <a:r>
              <a:rPr lang="es-419" u="sng"/>
              <a:t>k elementos</a:t>
            </a:r>
            <a:r>
              <a:rPr lang="es-419"/>
              <a:t>, la cantidad de subconjuntos de 2 elementos que pueden formarse es </a:t>
            </a:r>
            <a:r>
              <a:rPr lang="es-419" u="sng"/>
              <a:t>k(k-1)/2</a:t>
            </a:r>
            <a:endParaRPr u="sng"/>
          </a:p>
          <a:p>
            <a:pPr indent="45720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2264125" y="494250"/>
            <a:ext cx="67308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Enunciado:</a:t>
            </a: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Probar que para todo entero n ≥ 2, se verifica que un conjunto con n elementos tiene n(n − 1)/2 subconjuntos con exactamente dos elementos.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11700" y="1266325"/>
            <a:ext cx="9197700" cy="4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Paso Inductivo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Sea R un conjunto de </a:t>
            </a:r>
            <a:r>
              <a:rPr lang="es-419" u="sng"/>
              <a:t>k+1 elementos</a:t>
            </a:r>
            <a:r>
              <a:rPr lang="es-419"/>
              <a:t>, qpq la cantidad de subconjuntos de 2 elementos que pueden formarse con elementos de R es </a:t>
            </a:r>
            <a:r>
              <a:rPr lang="es-419" u="sng"/>
              <a:t>(k+1)k/2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Pensemos R como S ∪ {x}, con x ∉ S (así S es un subconjunto de k elementos)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Ejemplo ilustrativo: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 = {1, 2, 3} entonces sus subconjuntos de 2 elementos son </a:t>
            </a:r>
            <a:r>
              <a:rPr lang="es-419">
                <a:highlight>
                  <a:schemeClr val="accent3"/>
                </a:highlight>
              </a:rPr>
              <a:t>{1,2}, {1,3}, {2,3}</a:t>
            </a:r>
            <a:endParaRPr>
              <a:highlight>
                <a:schemeClr val="accent3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Reemplazando en la ecuación: 3(3-1)/2 = 3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 = {1, 2, 3, x} entonces sus subconjuntos de 2 elementos son </a:t>
            </a:r>
            <a:r>
              <a:rPr lang="es-419">
                <a:highlight>
                  <a:schemeClr val="accent3"/>
                </a:highlight>
              </a:rPr>
              <a:t>{1,2}, {1,3}, {2,3}</a:t>
            </a:r>
            <a:r>
              <a:rPr lang="es-419"/>
              <a:t>, </a:t>
            </a:r>
            <a:r>
              <a:rPr lang="es-419">
                <a:highlight>
                  <a:schemeClr val="accent4"/>
                </a:highlight>
              </a:rPr>
              <a:t>{1,x}, {2,x}, {3,x}</a:t>
            </a:r>
            <a:endParaRPr>
              <a:highlight>
                <a:schemeClr val="accent4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Reemplazando en la ecuación: 4(4-1)/2 = 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Podemos decir que la cantidad de subconjuntos de 2 elementos está dada por: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highlight>
                  <a:schemeClr val="accent3"/>
                </a:highlight>
              </a:rPr>
              <a:t>SubconjuntosAntes</a:t>
            </a:r>
            <a:r>
              <a:rPr lang="es-419"/>
              <a:t> + </a:t>
            </a:r>
            <a:r>
              <a:rPr lang="es-419">
                <a:highlight>
                  <a:schemeClr val="accent4"/>
                </a:highlight>
              </a:rPr>
              <a:t>SubconjuntosNuevos</a:t>
            </a:r>
            <a:endParaRPr>
              <a:highlight>
                <a:schemeClr val="accent4"/>
              </a:highlight>
            </a:endParaRPr>
          </a:p>
          <a:p>
            <a:pPr indent="45720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2264125" y="494250"/>
            <a:ext cx="67308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Enunciado:</a:t>
            </a: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Probar que para todo entero n ≥ 2, se verifica que un conjunto con n elementos tiene n(n − 1)/2 subconjuntos con exactamente dos elementos.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266325"/>
            <a:ext cx="8892000" cy="4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Paso Inductivo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Definamos qué son </a:t>
            </a:r>
            <a:r>
              <a:rPr lang="es-419">
                <a:highlight>
                  <a:schemeClr val="accent3"/>
                </a:highlight>
              </a:rPr>
              <a:t>SubconjuntosAntes</a:t>
            </a:r>
            <a:r>
              <a:rPr lang="es-419"/>
              <a:t> y </a:t>
            </a:r>
            <a:r>
              <a:rPr lang="es-419">
                <a:highlight>
                  <a:schemeClr val="accent4"/>
                </a:highlight>
              </a:rPr>
              <a:t>SubconjuntosNuevos</a:t>
            </a:r>
            <a:endParaRPr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highlight>
                  <a:schemeClr val="accent3"/>
                </a:highlight>
              </a:rPr>
              <a:t>SubconjuntosAntes</a:t>
            </a:r>
            <a:r>
              <a:rPr lang="es-419"/>
              <a:t> es la cantidad de subconjuntos de 2 elementos de S (que también son de R, pues S ⊆ R) y está dada por </a:t>
            </a:r>
            <a:r>
              <a:rPr i="1" lang="es-419"/>
              <a:t>hipótesis inductiva</a:t>
            </a:r>
            <a:r>
              <a:rPr lang="es-419"/>
              <a:t> por la expresión </a:t>
            </a:r>
            <a:r>
              <a:rPr b="1" lang="es-419"/>
              <a:t>k(k-1)/2</a:t>
            </a:r>
            <a:r>
              <a:rPr lang="es-419"/>
              <a:t>, ya que S tiene k elementos.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highlight>
                  <a:schemeClr val="accent4"/>
                </a:highlight>
              </a:rPr>
              <a:t>SubconjuntosNuevos</a:t>
            </a:r>
            <a:r>
              <a:rPr lang="es-419"/>
              <a:t> es la cantidad de subconjuntos de 2 elementos formados por </a:t>
            </a:r>
            <a:r>
              <a:rPr lang="es-419" u="sng"/>
              <a:t>un elemento de S unido a {x}</a:t>
            </a:r>
            <a:r>
              <a:rPr lang="es-419"/>
              <a:t>, que es el elemento k+1. La cantidad de subconjuntos de S de un elemento es equivalente a la cantidad de elementos de S, es decir, </a:t>
            </a:r>
            <a:r>
              <a:rPr b="1" lang="es-419"/>
              <a:t>k</a:t>
            </a:r>
            <a:r>
              <a:rPr lang="es-419"/>
              <a:t>. </a:t>
            </a:r>
            <a:endParaRPr/>
          </a:p>
          <a:p>
            <a:pPr indent="45720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2264125" y="494250"/>
            <a:ext cx="67308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Enunciado:</a:t>
            </a: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Probar que para todo entero n ≥ 2, se verifica que un conjunto con n elementos tiene n(n − 1)/2 subconjuntos con exactamente dos elementos.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266325"/>
            <a:ext cx="8892000" cy="4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Paso Inductivo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Luego, </a:t>
            </a:r>
            <a:r>
              <a:rPr lang="es-419">
                <a:highlight>
                  <a:schemeClr val="accent3"/>
                </a:highlight>
              </a:rPr>
              <a:t>SubconjuntosAntes</a:t>
            </a:r>
            <a:r>
              <a:rPr lang="es-419"/>
              <a:t> + </a:t>
            </a:r>
            <a:r>
              <a:rPr lang="es-419">
                <a:highlight>
                  <a:schemeClr val="accent4"/>
                </a:highlight>
              </a:rPr>
              <a:t>SubconjuntosNuevos</a:t>
            </a:r>
            <a:r>
              <a:rPr lang="es-419"/>
              <a:t> = k(k - 1)/2 + 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											      = (k² - k)/2 + 2k/2</a:t>
            </a:r>
            <a:endParaRPr/>
          </a:p>
          <a:p>
            <a:pPr indent="0" lvl="0" marL="5029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      = (k² + k)/2</a:t>
            </a:r>
            <a:endParaRPr/>
          </a:p>
          <a:p>
            <a:pPr indent="0" lvl="0" marL="5029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      = k(k + 1)/2 cqd </a:t>
            </a:r>
            <a:endParaRPr/>
          </a:p>
          <a:p>
            <a:pPr indent="45720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2264125" y="494250"/>
            <a:ext cx="67308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Enunciado:</a:t>
            </a: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Probar que para todo entero n ≥ 2, se verifica que un conjunto con n elementos tiene n(n − 1)/2 subconjuntos con exactamente dos elementos.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Enunciado: </a:t>
            </a:r>
            <a:r>
              <a:rPr lang="es-419"/>
              <a:t>Probar que si A ∪ B = A − B, entonces B = 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Para demostrar esta propiedad haremos una prueba por </a:t>
            </a:r>
            <a:r>
              <a:rPr b="1" lang="es-419"/>
              <a:t>contradicción</a:t>
            </a:r>
            <a:r>
              <a:rPr lang="es-419"/>
              <a:t>. Recordemos que en este tipo de pruebas, asumimos que la propiedad que queremos demostrar como verdadera es falsa y de esta forma llegamos a un absurdo o falso.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Supongamos por el absurdo que B ≠ </a:t>
            </a:r>
            <a:r>
              <a:rPr lang="es-419"/>
              <a:t>∅, entonces ∃ algún </a:t>
            </a:r>
            <a:r>
              <a:rPr lang="es-419" u="sng"/>
              <a:t>x ∈ B</a:t>
            </a:r>
            <a:r>
              <a:rPr lang="es-419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Como </a:t>
            </a:r>
            <a:r>
              <a:rPr lang="es-419" u="sng"/>
              <a:t>x </a:t>
            </a:r>
            <a:r>
              <a:rPr lang="es-419" u="sng"/>
              <a:t>∈ B, entonces x ∈ A ∪ B</a:t>
            </a:r>
            <a:r>
              <a:rPr lang="es-419"/>
              <a:t> y como </a:t>
            </a:r>
            <a:r>
              <a:rPr lang="es-419" u="sng"/>
              <a:t>A ∪ B = A - B significa que x ∈ A - B.</a:t>
            </a:r>
            <a:r>
              <a:rPr lang="es-419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Y por lo tanto, para que x ∈ A - B, necesariamente se debe dar x ∈ A y </a:t>
            </a:r>
            <a:r>
              <a:rPr lang="es-419" u="sng"/>
              <a:t>x ∉ B</a:t>
            </a:r>
            <a:r>
              <a:rPr lang="es-419"/>
              <a:t>. </a:t>
            </a:r>
            <a:r>
              <a:rPr i="1" lang="es-419"/>
              <a:t>Absurdo</a:t>
            </a:r>
            <a:r>
              <a:rPr lang="es-419"/>
              <a:t>, ya que contradice que x ∈ B.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Esta contradicción surge de asumir que B ≠ ∅. Luego, si A ∪ B = A - B entonces B = ∅.</a:t>
            </a:r>
            <a:endParaRPr/>
          </a:p>
        </p:txBody>
      </p:sp>
      <p:sp>
        <p:nvSpPr>
          <p:cNvPr id="133" name="Google Shape;133;p21"/>
          <p:cNvSpPr txBox="1"/>
          <p:nvPr/>
        </p:nvSpPr>
        <p:spPr>
          <a:xfrm>
            <a:off x="2345625" y="613575"/>
            <a:ext cx="60333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Enunciado: </a:t>
            </a: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Probar que si A ∪ B = A − B, entonces B = ∅.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