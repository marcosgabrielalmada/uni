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T Sans Narrow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579327-2266-43F8-9EF0-9AC8B47E3E87}">
  <a:tblStyle styleId="{82579327-2266-43F8-9EF0-9AC8B47E3E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TSansNarrow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PTSansNarrow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21b83c23a8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21b83c23a8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1b83c23a8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1b83c23a8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1b83c23a8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1b83c23a8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1b83c23a8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1b83c23a8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21b83c23a8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21b83c23a8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1b83c23a8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1b83c23a8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1b83c23a8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1b83c23a8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1b83c23a8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21b83c23a8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1b83c23a8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1b83c23a8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1b83c23a8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21b83c23a8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21b83c23a8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21b83c23a8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1b83c23a8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21b83c23a8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21b83c23a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21b83c23a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1b83c23a8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1b83c23a8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1b83c23a8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21b83c23a8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1b83c23a8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21b83c23a8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999750" y="2729625"/>
            <a:ext cx="71445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Funciones Booleanas y FBFs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2658300" y="4205575"/>
            <a:ext cx="3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Explicación hecha por </a:t>
            </a:r>
            <a:r>
              <a:rPr lang="es-419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Valentina Cambiaso :)</a:t>
            </a:r>
            <a:endParaRPr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Enunciado…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38" y="1147162"/>
            <a:ext cx="8567925" cy="35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¿Cuántos argumentos tiene la función?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38" y="1147162"/>
            <a:ext cx="8567925" cy="354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5"/>
          <p:cNvCxnSpPr/>
          <p:nvPr/>
        </p:nvCxnSpPr>
        <p:spPr>
          <a:xfrm>
            <a:off x="3773000" y="1758525"/>
            <a:ext cx="8670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5"/>
          <p:cNvCxnSpPr/>
          <p:nvPr/>
        </p:nvCxnSpPr>
        <p:spPr>
          <a:xfrm>
            <a:off x="5036175" y="1758525"/>
            <a:ext cx="16098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/>
          <p:nvPr/>
        </p:nvCxnSpPr>
        <p:spPr>
          <a:xfrm>
            <a:off x="6860750" y="1758525"/>
            <a:ext cx="12714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5"/>
          <p:cNvCxnSpPr/>
          <p:nvPr/>
        </p:nvCxnSpPr>
        <p:spPr>
          <a:xfrm>
            <a:off x="487100" y="1956675"/>
            <a:ext cx="6687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5"/>
          <p:cNvSpPr txBox="1"/>
          <p:nvPr/>
        </p:nvSpPr>
        <p:spPr>
          <a:xfrm>
            <a:off x="370975" y="1997950"/>
            <a:ext cx="8256000" cy="25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298800" y="2502025"/>
            <a:ext cx="3815400" cy="83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La función f(“se toma un recreo”) tiene 3 argumentos → uno por cada situación que afecta a que María se tome un recreo o no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872950" y="4107475"/>
            <a:ext cx="46671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f(“se toma un recreo”) = f(</a:t>
            </a:r>
            <a:r>
              <a:rPr lang="es-419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tiempo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419">
                <a:solidFill>
                  <a:schemeClr val="accent2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visita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419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sola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9" name="Google Shape;89;p15"/>
          <p:cNvCxnSpPr>
            <a:endCxn id="88" idx="0"/>
          </p:cNvCxnSpPr>
          <p:nvPr/>
        </p:nvCxnSpPr>
        <p:spPr>
          <a:xfrm>
            <a:off x="4206500" y="3333175"/>
            <a:ext cx="0" cy="7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representan los argumentos?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38" y="1147162"/>
            <a:ext cx="8567925" cy="354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6"/>
          <p:cNvCxnSpPr/>
          <p:nvPr/>
        </p:nvCxnSpPr>
        <p:spPr>
          <a:xfrm>
            <a:off x="3773000" y="1758525"/>
            <a:ext cx="8670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/>
          <p:nvPr/>
        </p:nvCxnSpPr>
        <p:spPr>
          <a:xfrm>
            <a:off x="5036175" y="1758525"/>
            <a:ext cx="16098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/>
          <p:nvPr/>
        </p:nvCxnSpPr>
        <p:spPr>
          <a:xfrm>
            <a:off x="6860750" y="1758525"/>
            <a:ext cx="12714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6"/>
          <p:cNvCxnSpPr/>
          <p:nvPr/>
        </p:nvCxnSpPr>
        <p:spPr>
          <a:xfrm>
            <a:off x="487100" y="1956675"/>
            <a:ext cx="6687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6"/>
          <p:cNvSpPr txBox="1"/>
          <p:nvPr/>
        </p:nvSpPr>
        <p:spPr>
          <a:xfrm>
            <a:off x="386100" y="1956675"/>
            <a:ext cx="8256000" cy="25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1872950" y="2278675"/>
            <a:ext cx="48363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f(“se toma un recreo”) = f(</a:t>
            </a:r>
            <a:r>
              <a:rPr lang="es-419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tiempo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419">
                <a:solidFill>
                  <a:schemeClr val="accent2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visita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419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sola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) = f(</a:t>
            </a:r>
            <a:r>
              <a:rPr lang="es-419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419">
                <a:solidFill>
                  <a:schemeClr val="accent2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s-419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59650" y="3199025"/>
            <a:ext cx="79269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4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 representa si María tiene tiempo o no → verdadero si tiene tiempo, falso si no tiene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59650" y="3714500"/>
            <a:ext cx="79269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2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 representa si María tiene visitas o no → verdadero si tiene visitas, falso si no tiene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59725" y="4229975"/>
            <a:ext cx="79269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 representa si María está sola o con su hermana → verdadero si está sola, falso si no lo está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Encontremos una fbf equivalente a f(T,V,S)…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38" y="1147162"/>
            <a:ext cx="8567925" cy="35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4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740"/>
              <a:t>Empecemos armando una tabla de verdad con nuestros argumentos</a:t>
            </a:r>
            <a:endParaRPr sz="2740"/>
          </a:p>
        </p:txBody>
      </p:sp>
      <p:graphicFrame>
        <p:nvGraphicFramePr>
          <p:cNvPr id="118" name="Google Shape;118;p18"/>
          <p:cNvGraphicFramePr/>
          <p:nvPr/>
        </p:nvGraphicFramePr>
        <p:xfrm>
          <a:off x="899550" y="10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{82579327-2266-43F8-9EF0-9AC8B47E3E87}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2"/>
                          </a:solidFill>
                        </a:rPr>
                        <a:t>V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3"/>
                          </a:solidFill>
                        </a:rPr>
                        <a:t>S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f(</a:t>
                      </a: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r>
                        <a:rPr lang="es-419">
                          <a:solidFill>
                            <a:schemeClr val="dk2"/>
                          </a:solidFill>
                        </a:rPr>
                        <a:t>,</a:t>
                      </a:r>
                      <a:r>
                        <a:rPr lang="es-419">
                          <a:solidFill>
                            <a:schemeClr val="accent2"/>
                          </a:solidFill>
                        </a:rPr>
                        <a:t>V</a:t>
                      </a:r>
                      <a:r>
                        <a:rPr lang="es-419">
                          <a:solidFill>
                            <a:schemeClr val="dk2"/>
                          </a:solidFill>
                        </a:rPr>
                        <a:t>,</a:t>
                      </a:r>
                      <a:r>
                        <a:rPr lang="es-419">
                          <a:solidFill>
                            <a:schemeClr val="accent3"/>
                          </a:solidFill>
                        </a:rPr>
                        <a:t>S</a:t>
                      </a:r>
                      <a:r>
                        <a:rPr lang="es-419">
                          <a:solidFill>
                            <a:schemeClr val="dk2"/>
                          </a:solidFill>
                        </a:rPr>
                        <a:t>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559975"/>
            <a:ext cx="84324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500"/>
              <a:t>Completamos con cada posible valor de verdad que pueden tener T, V o S…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</a:t>
            </a:r>
            <a:r>
              <a:rPr lang="es-419"/>
              <a:t>completamos</a:t>
            </a:r>
            <a:r>
              <a:rPr lang="es-419"/>
              <a:t> la tabla (1)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2715475"/>
            <a:ext cx="85206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 llega visita → </a:t>
            </a:r>
            <a:r>
              <a:rPr lang="es-419">
                <a:solidFill>
                  <a:schemeClr val="accent2"/>
                </a:solidFill>
              </a:rPr>
              <a:t>V </a:t>
            </a:r>
            <a:r>
              <a:rPr lang="es-419"/>
              <a:t>es verdadero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Está sola en la casa → 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 es verdadero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Siempre se toma un recreo → f(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,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,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es verdadero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34780" l="0" r="0" t="22497"/>
          <a:stretch/>
        </p:blipFill>
        <p:spPr>
          <a:xfrm>
            <a:off x="288050" y="1119474"/>
            <a:ext cx="8567899" cy="151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9"/>
          <p:cNvCxnSpPr/>
          <p:nvPr/>
        </p:nvCxnSpPr>
        <p:spPr>
          <a:xfrm>
            <a:off x="521925" y="1346375"/>
            <a:ext cx="7949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/>
          <p:nvPr/>
        </p:nvCxnSpPr>
        <p:spPr>
          <a:xfrm flipH="1" rot="10800000">
            <a:off x="521925" y="1558075"/>
            <a:ext cx="4464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35050" y="196525"/>
            <a:ext cx="886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completamos la tabla (1)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40"/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899550" y="10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{82579327-2266-43F8-9EF0-9AC8B47E3E87}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solidFill>
                          <a:schemeClr val="accent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endParaRPr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f(</a:t>
                      </a:r>
                      <a:r>
                        <a:rPr lang="es-419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T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</a:t>
            </a:r>
            <a:r>
              <a:rPr lang="es-419"/>
              <a:t>completamos</a:t>
            </a:r>
            <a:r>
              <a:rPr lang="es-419"/>
              <a:t> la tabla (2)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2715475"/>
            <a:ext cx="85206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No está</a:t>
            </a:r>
            <a:r>
              <a:rPr lang="es-419"/>
              <a:t> sola → 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 es falso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Tiene tiempo → 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es verdadero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Aprovecha la situación (la situación es tener visita) → 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es verdadero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Se toma un recreo para estar con la visita → f(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,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,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es verdadero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34780" l="0" r="0" t="22497"/>
          <a:stretch/>
        </p:blipFill>
        <p:spPr>
          <a:xfrm>
            <a:off x="288050" y="1119474"/>
            <a:ext cx="8567899" cy="151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1"/>
          <p:cNvCxnSpPr/>
          <p:nvPr/>
        </p:nvCxnSpPr>
        <p:spPr>
          <a:xfrm>
            <a:off x="1021125" y="1565750"/>
            <a:ext cx="7246200" cy="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1"/>
          <p:cNvCxnSpPr/>
          <p:nvPr/>
        </p:nvCxnSpPr>
        <p:spPr>
          <a:xfrm flipH="1" rot="10800000">
            <a:off x="499225" y="1754750"/>
            <a:ext cx="8775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235050" y="196525"/>
            <a:ext cx="886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</a:t>
            </a:r>
            <a:r>
              <a:rPr lang="es-419"/>
              <a:t>completamos</a:t>
            </a:r>
            <a:r>
              <a:rPr lang="es-419"/>
              <a:t> la tabla 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40"/>
          </a:p>
        </p:txBody>
      </p:sp>
      <p:graphicFrame>
        <p:nvGraphicFramePr>
          <p:cNvPr id="149" name="Google Shape;149;p22"/>
          <p:cNvGraphicFramePr/>
          <p:nvPr/>
        </p:nvGraphicFramePr>
        <p:xfrm>
          <a:off x="899550" y="10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{82579327-2266-43F8-9EF0-9AC8B47E3E87}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solidFill>
                          <a:schemeClr val="accent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endParaRPr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f(</a:t>
                      </a:r>
                      <a:r>
                        <a:rPr lang="es-419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T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</a:t>
            </a:r>
            <a:r>
              <a:rPr lang="es-419"/>
              <a:t>completamos</a:t>
            </a:r>
            <a:r>
              <a:rPr lang="es-419"/>
              <a:t> la tabla (3)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2715475"/>
            <a:ext cx="85206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No tiene tiempo → 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es falso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Está su hermana</a:t>
            </a:r>
            <a:r>
              <a:rPr lang="es-419"/>
              <a:t> → 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 es falso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Su hermana recibe a la visita → 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es verdadero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No se toma recreo y sigue estudiando → f(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,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,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es falso</a:t>
            </a: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34780" l="0" r="0" t="22497"/>
          <a:stretch/>
        </p:blipFill>
        <p:spPr>
          <a:xfrm>
            <a:off x="288050" y="1119474"/>
            <a:ext cx="8567899" cy="151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3"/>
          <p:cNvCxnSpPr/>
          <p:nvPr/>
        </p:nvCxnSpPr>
        <p:spPr>
          <a:xfrm>
            <a:off x="499225" y="1974200"/>
            <a:ext cx="8055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3"/>
          <p:cNvCxnSpPr/>
          <p:nvPr/>
        </p:nvCxnSpPr>
        <p:spPr>
          <a:xfrm flipH="1" rot="10800000">
            <a:off x="499225" y="2178325"/>
            <a:ext cx="19590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235050" y="196525"/>
            <a:ext cx="886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</a:t>
            </a:r>
            <a:r>
              <a:rPr lang="es-419"/>
              <a:t>completamos</a:t>
            </a:r>
            <a:r>
              <a:rPr lang="es-419"/>
              <a:t> la tabla 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40"/>
          </a:p>
        </p:txBody>
      </p:sp>
      <p:graphicFrame>
        <p:nvGraphicFramePr>
          <p:cNvPr id="164" name="Google Shape;164;p24"/>
          <p:cNvGraphicFramePr/>
          <p:nvPr/>
        </p:nvGraphicFramePr>
        <p:xfrm>
          <a:off x="899550" y="10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{82579327-2266-43F8-9EF0-9AC8B47E3E87}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solidFill>
                          <a:schemeClr val="accent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endParaRPr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f(</a:t>
                      </a:r>
                      <a:r>
                        <a:rPr lang="es-419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T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completemos la tabla (4)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2715475"/>
            <a:ext cx="85206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el resto de casos que nos quedaron sin completar…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Tiene tiempo</a:t>
            </a:r>
            <a:r>
              <a:rPr lang="es-419"/>
              <a:t> → f(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,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,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es verdadero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No t</a:t>
            </a:r>
            <a:r>
              <a:rPr lang="es-419"/>
              <a:t>iene tiempo → f(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,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,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es falso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34780" l="0" r="0" t="22497"/>
          <a:stretch/>
        </p:blipFill>
        <p:spPr>
          <a:xfrm>
            <a:off x="288050" y="1119474"/>
            <a:ext cx="8567899" cy="151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5"/>
          <p:cNvCxnSpPr/>
          <p:nvPr/>
        </p:nvCxnSpPr>
        <p:spPr>
          <a:xfrm>
            <a:off x="461425" y="2412925"/>
            <a:ext cx="7707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5"/>
          <p:cNvCxnSpPr/>
          <p:nvPr/>
        </p:nvCxnSpPr>
        <p:spPr>
          <a:xfrm flipH="1" rot="10800000">
            <a:off x="461425" y="2624750"/>
            <a:ext cx="1490100" cy="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235050" y="196525"/>
            <a:ext cx="886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Analicemos el enunciado y </a:t>
            </a:r>
            <a:r>
              <a:rPr lang="es-419"/>
              <a:t>completamos</a:t>
            </a:r>
            <a:r>
              <a:rPr lang="es-419"/>
              <a:t> la tabla (4)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40"/>
          </a:p>
        </p:txBody>
      </p:sp>
      <p:graphicFrame>
        <p:nvGraphicFramePr>
          <p:cNvPr id="179" name="Google Shape;179;p26"/>
          <p:cNvGraphicFramePr/>
          <p:nvPr/>
        </p:nvGraphicFramePr>
        <p:xfrm>
          <a:off x="899550" y="10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{82579327-2266-43F8-9EF0-9AC8B47E3E87}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solidFill>
                          <a:schemeClr val="accent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endParaRPr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f(</a:t>
                      </a:r>
                      <a:r>
                        <a:rPr lang="es-419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T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174550" y="166275"/>
            <a:ext cx="886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Encontremos una fbf equivalente a f(T,V,S)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40"/>
          </a:p>
        </p:txBody>
      </p:sp>
      <p:graphicFrame>
        <p:nvGraphicFramePr>
          <p:cNvPr id="185" name="Google Shape;185;p27"/>
          <p:cNvGraphicFramePr/>
          <p:nvPr/>
        </p:nvGraphicFramePr>
        <p:xfrm>
          <a:off x="174550" y="113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{82579327-2266-43F8-9EF0-9AC8B47E3E87}</a:tableStyleId>
              </a:tblPr>
              <a:tblGrid>
                <a:gridCol w="1040125"/>
                <a:gridCol w="1040125"/>
                <a:gridCol w="1040125"/>
                <a:gridCol w="10401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solidFill>
                          <a:schemeClr val="accent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endParaRPr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f(</a:t>
                      </a:r>
                      <a:r>
                        <a:rPr lang="es-419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T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4659425" y="1355075"/>
            <a:ext cx="4242000" cy="29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Ahora que la tabla de verdad está completa solo resta encontrar una fbf equivalente a la función f(T,V,S)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¿Cómo? Podemos hallar su FND o FNC a partir de la tabla que construimos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En este caso, vamos a hallar su FNC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174550" y="166275"/>
            <a:ext cx="886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Encontremos la FNC de la función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40"/>
          </a:p>
        </p:txBody>
      </p:sp>
      <p:graphicFrame>
        <p:nvGraphicFramePr>
          <p:cNvPr id="192" name="Google Shape;192;p28"/>
          <p:cNvGraphicFramePr/>
          <p:nvPr/>
        </p:nvGraphicFramePr>
        <p:xfrm>
          <a:off x="174550" y="113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{82579327-2266-43F8-9EF0-9AC8B47E3E87}</a:tableStyleId>
              </a:tblPr>
              <a:tblGrid>
                <a:gridCol w="1040125"/>
                <a:gridCol w="1040125"/>
                <a:gridCol w="1040125"/>
                <a:gridCol w="10401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1"/>
                          </a:solidFill>
                        </a:rPr>
                        <a:t>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solidFill>
                          <a:schemeClr val="accent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endParaRPr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f(</a:t>
                      </a:r>
                      <a:r>
                        <a:rPr lang="es-419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T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2"/>
                          </a:solidFill>
                          <a:highlight>
                            <a:schemeClr val="lt1"/>
                          </a:highlight>
                        </a:rPr>
                        <a:t>V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,</a:t>
                      </a:r>
                      <a:r>
                        <a:rPr lang="es-419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S</a:t>
                      </a: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f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lt1"/>
                          </a:highlight>
                        </a:rPr>
                        <a:t>v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v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chemeClr val="dk1"/>
                          </a:highlight>
                        </a:rPr>
                        <a:t>f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683675" y="3511825"/>
            <a:ext cx="27231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→ 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ㄱV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S</a:t>
            </a:r>
            <a:endParaRPr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683675" y="3908050"/>
            <a:ext cx="27231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→ 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ㄱS</a:t>
            </a:r>
            <a:endParaRPr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3585325" y="4311625"/>
            <a:ext cx="27231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→ 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S</a:t>
            </a:r>
            <a:endParaRPr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4208400" y="1014925"/>
            <a:ext cx="4906800" cy="26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armar la FNC…</a:t>
            </a:r>
            <a:endParaRPr/>
          </a:p>
          <a:p>
            <a:pPr indent="-89954" lvl="0" marL="158399" marR="0" rtl="0" algn="ctr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Observamos en qué filas de la tabla la función f(T,V,S) toma valores </a:t>
            </a:r>
            <a:r>
              <a:rPr lang="es-419" u="sng"/>
              <a:t>falsos</a:t>
            </a:r>
            <a:endParaRPr u="sng"/>
          </a:p>
          <a:p>
            <a:pPr indent="-89954" lvl="0" marL="158399" marR="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Hacemos la </a:t>
            </a:r>
            <a:r>
              <a:rPr lang="es-419" u="sng"/>
              <a:t>disyunción de los literales</a:t>
            </a:r>
            <a:r>
              <a:rPr lang="es-419"/>
              <a:t> involucrados </a:t>
            </a:r>
            <a:r>
              <a:rPr lang="es-419" u="sng"/>
              <a:t>intercambiando sus valores de verdad</a:t>
            </a:r>
            <a:r>
              <a:rPr lang="es-419"/>
              <a:t> (si eran verdaderos pasan a ser falsos, y viceversa)</a:t>
            </a:r>
            <a:endParaRPr/>
          </a:p>
          <a:p>
            <a:pPr indent="-89954" lvl="0" marL="158399" marR="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Hacemos la </a:t>
            </a:r>
            <a:r>
              <a:rPr lang="es-419" u="sng"/>
              <a:t>conjunción de las disyunciones</a:t>
            </a:r>
            <a:endParaRPr u="sng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/>
          <p:nvPr/>
        </p:nvSpPr>
        <p:spPr>
          <a:xfrm>
            <a:off x="5898250" y="3597200"/>
            <a:ext cx="197100" cy="1031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6030300" y="3908050"/>
            <a:ext cx="30000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ㄱV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⋀ 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ㄱS</a:t>
            </a:r>
            <a:r>
              <a:rPr lang="es-419"/>
              <a:t>) ⋀ 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174550" y="166275"/>
            <a:ext cx="886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Encontremos la FNC de la función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40"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202950" y="962300"/>
            <a:ext cx="87366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Entonces, la fbf de la función f(“se toma un recreo”) 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f(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= </a:t>
            </a:r>
            <a:r>
              <a:rPr lang="es-419"/>
              <a:t>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ㄱV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 ⋀ 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ㄱS</a:t>
            </a:r>
            <a:r>
              <a:rPr lang="es-419"/>
              <a:t>) ⋀ (</a:t>
            </a:r>
            <a:r>
              <a:rPr lang="es-419">
                <a:solidFill>
                  <a:schemeClr val="accent1"/>
                </a:solidFill>
              </a:rPr>
              <a:t>T</a:t>
            </a:r>
            <a:r>
              <a:rPr lang="es-419"/>
              <a:t> v </a:t>
            </a:r>
            <a:r>
              <a:rPr lang="es-419">
                <a:solidFill>
                  <a:schemeClr val="accent2"/>
                </a:solidFill>
              </a:rPr>
              <a:t>V</a:t>
            </a:r>
            <a:r>
              <a:rPr lang="es-419"/>
              <a:t> v </a:t>
            </a:r>
            <a:r>
              <a:rPr lang="es-419">
                <a:solidFill>
                  <a:schemeClr val="accent3"/>
                </a:solidFill>
              </a:rPr>
              <a:t>S</a:t>
            </a:r>
            <a:r>
              <a:rPr lang="es-419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y podemos afirmar que es equivalente ya que la construimos a partir de la tabla de los posibles valores de verdad.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