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Proxima Nova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roximaNova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e0b4d8fd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e0b4d8fd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Pascal → Lenguaje imperativo → Resuelvo problemas dandole instrucciones a una PC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Java → Orientado a objetos → Resuelvo problemas definiendo y relacionando objetos con comportamiento diverso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Hoy les presento otro lenguaje de otro paradigma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5e0b4d8fd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5e0b4d8fd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5e0b4d8fd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5e0b4d8fd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75e6ef2ba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75e6ef2ba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e0b4d8fd0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e0b4d8fd0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Ejemplos de predicados: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Hoy esta soleado → clima(soleado)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A Yamil le gusta el futbol → gusta(yamil,futbol)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alguien es de moron → de(moron, X)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43820ed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43820ed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e0b4d8fd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5e0b4d8fd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e0b4d8fd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e0b4d8fd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e0b4d8fd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e0b4d8fd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43820edd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43820edd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e0b4d8fd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5e0b4d8fd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"/>
              <a:t>Todo muy lindo, pero ahora que hago con mi programa?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5e6ef2b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5e6ef2b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e0b4d8fd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5e0b4d8fd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Consultas → Predicados!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43820edd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43820edd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43820edd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43820edd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5e0b4d8fd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5e0b4d8fd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5d5227d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75d5227d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75d5227d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75d5227d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5f7b7eea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5f7b7eea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743820edd3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743820edd3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743820edd3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743820edd3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f1e8566e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f1e8566e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5e0b4d8fd0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5e0b4d8fd0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5e0b4d8fd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5e0b4d8fd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://www.swi-prolog.org" TargetMode="External"/><Relationship Id="rId5" Type="http://schemas.openxmlformats.org/officeDocument/2006/relationships/hyperlink" Target="https://swish.swi-prolog.org/" TargetMode="External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r>
              <a:rPr lang="es"/>
              <a:t> a PROLOG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31"/>
            <a:ext cx="81231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 Formales y </a:t>
            </a:r>
            <a:r>
              <a:rPr lang="es"/>
              <a:t>Autómatas - UNS.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/>
              <a:t>Por Diego Orbe y Vir Sabando.</a:t>
            </a:r>
            <a:r>
              <a:rPr lang="es" sz="2100"/>
              <a:t> 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I: </a:t>
            </a:r>
            <a:r>
              <a:rPr lang="es"/>
              <a:t>Qué</a:t>
            </a:r>
            <a:r>
              <a:rPr lang="es"/>
              <a:t> es PROLOG?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Que es PROLOG?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83225" y="1152475"/>
            <a:ext cx="695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PROLOG es un lenguaje de </a:t>
            </a:r>
            <a:r>
              <a:rPr lang="es">
                <a:solidFill>
                  <a:schemeClr val="lt1"/>
                </a:solidFill>
              </a:rPr>
              <a:t>programación, donde resolvemos problemas representando conocimiento a través de </a:t>
            </a:r>
            <a:r>
              <a:rPr b="1" lang="es">
                <a:solidFill>
                  <a:schemeClr val="lt1"/>
                </a:solidFill>
              </a:rPr>
              <a:t>reglas y hechos,</a:t>
            </a:r>
            <a:r>
              <a:rPr lang="es">
                <a:solidFill>
                  <a:schemeClr val="lt1"/>
                </a:solidFill>
              </a:rPr>
              <a:t> con el fin de cumplir </a:t>
            </a:r>
            <a:r>
              <a:rPr b="1" lang="es">
                <a:solidFill>
                  <a:schemeClr val="lt1"/>
                </a:solidFill>
              </a:rPr>
              <a:t>metas</a:t>
            </a:r>
            <a:r>
              <a:rPr lang="es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¿Cuándo usamos PROLOG?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chemeClr val="lt1"/>
                </a:solidFill>
              </a:rPr>
              <a:t>Cuando queremos modelar conocimiento.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chemeClr val="lt1"/>
                </a:solidFill>
              </a:rPr>
              <a:t>Cuando queremos relacionar dicho conocimiento para generar nuevo.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-"/>
            </a:pPr>
            <a:r>
              <a:rPr lang="es">
                <a:solidFill>
                  <a:schemeClr val="lt1"/>
                </a:solidFill>
              </a:rPr>
              <a:t>Cuando queremos tomar decisiones en base a conocimiento.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895900" y="2958975"/>
            <a:ext cx="315300" cy="1159200"/>
          </a:xfrm>
          <a:prstGeom prst="rightBrace">
            <a:avLst>
              <a:gd fmla="val 50000" name="adj1"/>
              <a:gd fmla="val 5134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490325" y="3151275"/>
            <a:ext cx="1421700" cy="7746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Proxima Nova"/>
                <a:ea typeface="Proxima Nova"/>
                <a:cs typeface="Proxima Nova"/>
                <a:sym typeface="Proxima Nova"/>
              </a:rPr>
              <a:t>Inteligencia Artificial!</a:t>
            </a:r>
            <a:endParaRPr b="1"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Antes de empezar!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0375" y="225975"/>
            <a:ext cx="1521925" cy="15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283225" y="1152475"/>
            <a:ext cx="695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En la materia utilizaremos el </a:t>
            </a:r>
            <a:r>
              <a:rPr lang="es">
                <a:solidFill>
                  <a:schemeClr val="lt1"/>
                </a:solidFill>
              </a:rPr>
              <a:t>intérprete</a:t>
            </a:r>
            <a:r>
              <a:rPr lang="es">
                <a:solidFill>
                  <a:schemeClr val="lt1"/>
                </a:solidFill>
              </a:rPr>
              <a:t> SWI-Prolog.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El mismo se puede descargar de </a:t>
            </a:r>
            <a:r>
              <a:rPr lang="es" u="sng">
                <a:solidFill>
                  <a:schemeClr val="hlink"/>
                </a:solidFill>
                <a:hlinkClick r:id="rId4"/>
              </a:rPr>
              <a:t>www.swi-prolog.org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s">
                <a:solidFill>
                  <a:schemeClr val="lt1"/>
                </a:solidFill>
              </a:rPr>
              <a:t>Alternativamente, recomendamos usar su versión online en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https://swish.swi-prolog.org/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7525" y="2396975"/>
            <a:ext cx="4838500" cy="244194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 flipH="1" rot="10800000">
            <a:off x="2299800" y="2738100"/>
            <a:ext cx="1281600" cy="1281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Antes de empezar!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0375" y="225975"/>
            <a:ext cx="1521925" cy="15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372775" y="1045000"/>
            <a:ext cx="581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Para evitar errores, recomendamos cambiar el backend de SWISH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0" name="Google Shape;90;p17"/>
          <p:cNvGrpSpPr/>
          <p:nvPr/>
        </p:nvGrpSpPr>
        <p:grpSpPr>
          <a:xfrm>
            <a:off x="182775" y="2185300"/>
            <a:ext cx="1859700" cy="2008225"/>
            <a:chOff x="179550" y="1689950"/>
            <a:chExt cx="1859700" cy="2008225"/>
          </a:xfrm>
        </p:grpSpPr>
        <p:pic>
          <p:nvPicPr>
            <p:cNvPr id="91" name="Google Shape;91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9550" y="1689950"/>
              <a:ext cx="1859700" cy="2008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7"/>
            <p:cNvSpPr/>
            <p:nvPr/>
          </p:nvSpPr>
          <p:spPr>
            <a:xfrm>
              <a:off x="1024650" y="2626025"/>
              <a:ext cx="902400" cy="210300"/>
            </a:xfrm>
            <a:prstGeom prst="rect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3" name="Google Shape;9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9525" y="2299750"/>
            <a:ext cx="4875725" cy="177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2184125" y="2761913"/>
            <a:ext cx="482700" cy="85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7484550" y="3331725"/>
            <a:ext cx="183300" cy="359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7715250" y="3220725"/>
            <a:ext cx="1214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Elegir uno de estos dos.</a:t>
            </a: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7825" y="12117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Sintaxis básica de PROLOG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17825" y="693875"/>
            <a:ext cx="831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Un programa PROLOG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está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compuesto por reglas y hechos, los cuales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están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compuestos por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predicados (que utilizan variables y constantes).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152400" y="1731075"/>
            <a:ext cx="91440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En PROLOG: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Las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constantes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representan valores fijos. Hay dos tipos de constantes: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números,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y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átomos.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Los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átomos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se representan con identificadores que empiezan con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minúscula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Ejemplos: </a:t>
            </a: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ciudad(</a:t>
            </a:r>
            <a:r>
              <a:rPr lang="es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bahia_blanca</a:t>
            </a: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), fecha(20,</a:t>
            </a:r>
            <a:r>
              <a:rPr lang="es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octubre</a:t>
            </a: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,1996)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Las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variables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se representan con identificadores que empiezan con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Mayúscula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Ejemplos: </a:t>
            </a: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ciudad(</a:t>
            </a:r>
            <a:r>
              <a:rPr lang="es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), fecha(</a:t>
            </a:r>
            <a:r>
              <a:rPr lang="es" sz="1500" u="sng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Dia,Mes,Año</a:t>
            </a: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Si no nos interesa usar el valor de la variable, podemos declararla como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variable anónima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empleando el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guión bajo (_).</a:t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Ejemplo:</a:t>
            </a: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profesor(_), fecha(Dia, Mes, _)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●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Todos los predicados en PROLOG terminan en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punto (.)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224825" y="1396450"/>
            <a:ext cx="880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“Un predicado es una afirmación que relaciona </a:t>
            </a:r>
            <a:r>
              <a:rPr b="1" i="1" lang="es" sz="15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términos</a:t>
            </a:r>
            <a:r>
              <a:rPr b="1"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, y que puede ser </a:t>
            </a:r>
            <a:r>
              <a:rPr b="1" i="1" lang="es" sz="15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verdadera o falsa</a:t>
            </a:r>
            <a:r>
              <a:rPr b="1"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” </a:t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493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Programa PROLOG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089800"/>
            <a:ext cx="3611100" cy="3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Un programa PROLOG está conformado por </a:t>
            </a:r>
            <a:r>
              <a:rPr b="1" lang="es">
                <a:solidFill>
                  <a:schemeClr val="lt1"/>
                </a:solidFill>
              </a:rPr>
              <a:t>reglas y hechos.</a:t>
            </a:r>
            <a:endParaRPr b="1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-"/>
            </a:pPr>
            <a:r>
              <a:rPr lang="es" sz="1500">
                <a:solidFill>
                  <a:schemeClr val="lt1"/>
                </a:solidFill>
              </a:rPr>
              <a:t>Los </a:t>
            </a:r>
            <a:r>
              <a:rPr b="1" lang="es" sz="1500">
                <a:solidFill>
                  <a:schemeClr val="lt1"/>
                </a:solidFill>
              </a:rPr>
              <a:t>hechos </a:t>
            </a:r>
            <a:r>
              <a:rPr lang="es" sz="1500">
                <a:solidFill>
                  <a:schemeClr val="lt1"/>
                </a:solidFill>
              </a:rPr>
              <a:t>son predicados que permiten relacionar </a:t>
            </a:r>
            <a:r>
              <a:rPr b="1" lang="es" sz="1500">
                <a:solidFill>
                  <a:schemeClr val="lt1"/>
                </a:solidFill>
              </a:rPr>
              <a:t>términos</a:t>
            </a:r>
            <a:r>
              <a:rPr lang="es" sz="1500">
                <a:solidFill>
                  <a:schemeClr val="lt1"/>
                </a:solidFill>
              </a:rPr>
              <a:t>.</a:t>
            </a:r>
            <a:endParaRPr sz="1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-"/>
            </a:pPr>
            <a:r>
              <a:rPr lang="es" sz="1500">
                <a:solidFill>
                  <a:schemeClr val="lt1"/>
                </a:solidFill>
              </a:rPr>
              <a:t>Nos indican </a:t>
            </a:r>
            <a:r>
              <a:rPr lang="es" sz="1500">
                <a:solidFill>
                  <a:schemeClr val="lt1"/>
                </a:solidFill>
              </a:rPr>
              <a:t>qué</a:t>
            </a:r>
            <a:r>
              <a:rPr lang="es" sz="1500">
                <a:solidFill>
                  <a:schemeClr val="lt1"/>
                </a:solidFill>
              </a:rPr>
              <a:t> cosas son verdad actualmente!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Char char="-"/>
            </a:pPr>
            <a:r>
              <a:rPr lang="es" sz="1500">
                <a:solidFill>
                  <a:schemeClr val="lt1"/>
                </a:solidFill>
              </a:rPr>
              <a:t>Las </a:t>
            </a:r>
            <a:r>
              <a:rPr b="1" lang="es" sz="1500">
                <a:solidFill>
                  <a:schemeClr val="lt1"/>
                </a:solidFill>
              </a:rPr>
              <a:t>reglas </a:t>
            </a:r>
            <a:r>
              <a:rPr lang="es" sz="1500">
                <a:solidFill>
                  <a:schemeClr val="lt1"/>
                </a:solidFill>
              </a:rPr>
              <a:t>permiten relacionar predicados entre sí y tienen la forma: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&lt;</a:t>
            </a:r>
            <a:r>
              <a:rPr b="1" lang="es" sz="1500">
                <a:solidFill>
                  <a:schemeClr val="lt1"/>
                </a:solidFill>
              </a:rPr>
              <a:t>conclusión</a:t>
            </a:r>
            <a:r>
              <a:rPr b="1" lang="es" sz="1500">
                <a:solidFill>
                  <a:schemeClr val="lt1"/>
                </a:solidFill>
              </a:rPr>
              <a:t>&gt; :- &lt;antecedente&gt;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¿Cómo se interpretan estos hechos/reglas?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5451150" y="528050"/>
            <a:ext cx="3554400" cy="4437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% Hola, soy un programa Prolog!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profesor(ana).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profesor(telma).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profesor(lucho).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profesor(lujan).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asistente(diego).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asistente(vir).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ayudante(valen).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catedra(ana,lfya).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catedra(telma,lfya).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catedra(diego,lfya).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catedra(vir,lfya).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docente(X) :- 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profesor(X).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docente(X) :-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asistente(X).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compañeros(X,Y) :-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catedra(X,Z),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catedra(Y,Z).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5221150" y="1029300"/>
            <a:ext cx="136800" cy="1970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5226850" y="3374650"/>
            <a:ext cx="136800" cy="1545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4004550" y="1749750"/>
            <a:ext cx="1134900" cy="603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Hechos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4004450" y="3845350"/>
            <a:ext cx="1134900" cy="603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</a:t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74" y="4284901"/>
            <a:ext cx="811225" cy="858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493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los hechos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089800"/>
            <a:ext cx="3611100" cy="28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Consideremos el hecho </a:t>
            </a:r>
            <a:r>
              <a:rPr b="1" lang="es" sz="1500">
                <a:solidFill>
                  <a:schemeClr val="lt1"/>
                </a:solidFill>
              </a:rPr>
              <a:t>asistente(diego).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-"/>
            </a:pPr>
            <a:r>
              <a:rPr b="1" lang="es" sz="1500">
                <a:solidFill>
                  <a:schemeClr val="lt1"/>
                </a:solidFill>
              </a:rPr>
              <a:t>diego </a:t>
            </a:r>
            <a:r>
              <a:rPr lang="es" sz="1500">
                <a:solidFill>
                  <a:schemeClr val="lt1"/>
                </a:solidFill>
              </a:rPr>
              <a:t>es un </a:t>
            </a:r>
            <a:r>
              <a:rPr lang="es" sz="1500">
                <a:solidFill>
                  <a:schemeClr val="lt1"/>
                </a:solidFill>
              </a:rPr>
              <a:t>término</a:t>
            </a:r>
            <a:r>
              <a:rPr lang="es" sz="1500">
                <a:solidFill>
                  <a:schemeClr val="lt1"/>
                </a:solidFill>
              </a:rPr>
              <a:t> que utilizamos para representar a una persona.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-"/>
            </a:pPr>
            <a:r>
              <a:rPr b="1" lang="es" sz="1500">
                <a:solidFill>
                  <a:schemeClr val="lt1"/>
                </a:solidFill>
              </a:rPr>
              <a:t>asistente(X) </a:t>
            </a:r>
            <a:r>
              <a:rPr lang="es" sz="1500">
                <a:solidFill>
                  <a:schemeClr val="lt1"/>
                </a:solidFill>
              </a:rPr>
              <a:t>indica que X es asistente de alguna materia.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Luego, el hecho </a:t>
            </a:r>
            <a:r>
              <a:rPr b="1" lang="es" sz="1500">
                <a:solidFill>
                  <a:schemeClr val="lt1"/>
                </a:solidFill>
              </a:rPr>
              <a:t>asistente(diego) </a:t>
            </a:r>
            <a:r>
              <a:rPr lang="es" sz="1500">
                <a:solidFill>
                  <a:schemeClr val="lt1"/>
                </a:solidFill>
              </a:rPr>
              <a:t>indica que </a:t>
            </a:r>
            <a:r>
              <a:rPr b="1" lang="es" sz="1500">
                <a:solidFill>
                  <a:schemeClr val="lt1"/>
                </a:solidFill>
              </a:rPr>
              <a:t>diego </a:t>
            </a:r>
            <a:r>
              <a:rPr lang="es" sz="1500">
                <a:solidFill>
                  <a:schemeClr val="lt1"/>
                </a:solidFill>
              </a:rPr>
              <a:t>es asistente de alguna materia.</a:t>
            </a:r>
            <a:endParaRPr i="1" sz="1500">
              <a:solidFill>
                <a:schemeClr val="lt1"/>
              </a:solidFill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5451150" y="528050"/>
            <a:ext cx="3554400" cy="4437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% Hola, soy un programa Prolog!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profesor(ana).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profesor(telma).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profesor(lucho).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profesor(lujan).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asistente(diego).</a:t>
            </a:r>
            <a:endParaRPr b="1" sz="11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asistente(vir).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ayudante(valen).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catedra(ana,lfya).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catedra(telma,lfya).</a:t>
            </a:r>
            <a:endParaRPr b="1" sz="11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catedra(diego,lfya).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catedra(vir,lfya).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docente(X) :- 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	profesor(X).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docente(X) :-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	asistente(X).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compañeros(X,Y) :-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	catedra(X,Z),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	catedra(Y,Z).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5221150" y="1029300"/>
            <a:ext cx="136800" cy="2010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4004550" y="1749750"/>
            <a:ext cx="1134900" cy="603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Hechos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311700" y="4062625"/>
            <a:ext cx="3000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les parece que significa el otro hecho subrayado?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493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las reglas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017725"/>
            <a:ext cx="3611100" cy="37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Analicemos la regla 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En prolog, las reglas se interpretan como </a:t>
            </a:r>
            <a:r>
              <a:rPr lang="es" sz="1300">
                <a:solidFill>
                  <a:schemeClr val="lt1"/>
                </a:solidFill>
              </a:rPr>
              <a:t>“Si se cumple el </a:t>
            </a:r>
            <a:r>
              <a:rPr b="1" lang="es" sz="1300">
                <a:solidFill>
                  <a:schemeClr val="lt1"/>
                </a:solidFill>
              </a:rPr>
              <a:t>antecedente</a:t>
            </a:r>
            <a:r>
              <a:rPr lang="es" sz="1300">
                <a:solidFill>
                  <a:schemeClr val="lt1"/>
                </a:solidFill>
              </a:rPr>
              <a:t>, entonces se cumple la </a:t>
            </a:r>
            <a:r>
              <a:rPr b="1" lang="es" sz="1300">
                <a:solidFill>
                  <a:schemeClr val="lt1"/>
                </a:solidFill>
              </a:rPr>
              <a:t>conclusión</a:t>
            </a:r>
            <a:r>
              <a:rPr lang="es" sz="1300">
                <a:solidFill>
                  <a:schemeClr val="lt1"/>
                </a:solidFill>
              </a:rPr>
              <a:t>”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El predicado </a:t>
            </a:r>
            <a:r>
              <a:rPr b="1" lang="es" sz="1500">
                <a:solidFill>
                  <a:schemeClr val="lt1"/>
                </a:solidFill>
              </a:rPr>
              <a:t>docente(X) </a:t>
            </a:r>
            <a:r>
              <a:rPr lang="es" sz="1500">
                <a:solidFill>
                  <a:schemeClr val="lt1"/>
                </a:solidFill>
              </a:rPr>
              <a:t>lo utilizamos indicar que </a:t>
            </a:r>
            <a:r>
              <a:rPr b="1" lang="es" sz="1500">
                <a:solidFill>
                  <a:schemeClr val="lt1"/>
                </a:solidFill>
              </a:rPr>
              <a:t>X es docente.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El predicado </a:t>
            </a:r>
            <a:r>
              <a:rPr b="1" lang="es" sz="1500">
                <a:solidFill>
                  <a:schemeClr val="lt1"/>
                </a:solidFill>
              </a:rPr>
              <a:t>profesor(X)</a:t>
            </a:r>
            <a:r>
              <a:rPr lang="es" sz="1500">
                <a:solidFill>
                  <a:schemeClr val="lt1"/>
                </a:solidFill>
              </a:rPr>
              <a:t> lo utilizamos para indicar que </a:t>
            </a:r>
            <a:r>
              <a:rPr b="1" lang="es" sz="1500">
                <a:solidFill>
                  <a:schemeClr val="lt1"/>
                </a:solidFill>
              </a:rPr>
              <a:t>X es profesor.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lt1"/>
                </a:solidFill>
              </a:rPr>
              <a:t>Y por lo tanto…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5451150" y="528050"/>
            <a:ext cx="3554400" cy="4437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% Hola, soy un programa Prolog!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profesor(ana).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profesor(telma).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profesor(lucho).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profesor(lujan).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asistente(diego).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asistente(vir).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ayudante(valen).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catedra(ana,lfya).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catedra(telma,lfya).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catedra(diego,lfya).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catedra(vir,lfya).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docente(X) :- </a:t>
            </a:r>
            <a:endParaRPr b="1" sz="11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	profesor(X).</a:t>
            </a:r>
            <a:endParaRPr b="1" sz="11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docente(X) :-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asistente(X).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compañeros(X,Y) :-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catedra(X,Z),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catedra(Y,Z).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5226850" y="3374650"/>
            <a:ext cx="136800" cy="1545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4004450" y="3845350"/>
            <a:ext cx="1134900" cy="603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</a:t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972300" y="1479275"/>
            <a:ext cx="3163200" cy="6549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docente(X) :- profesor(X).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&lt;Conclusión&gt;	 :-	 &lt;Antecedente&gt;</a:t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493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las reglas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889400"/>
            <a:ext cx="3749700" cy="29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La regla se puede interpretar como: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300">
                <a:solidFill>
                  <a:schemeClr val="lt1"/>
                </a:solidFill>
              </a:rPr>
              <a:t>Si X es profesor, entonces X es docente.</a:t>
            </a:r>
            <a:endParaRPr i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Si pensamos en términos de fórmulas bien formadas: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profesor(X) ⇒ docente(X)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300">
                <a:solidFill>
                  <a:schemeClr val="lt1"/>
                </a:solidFill>
              </a:rPr>
              <a:t>Pensemos otros ejemplos!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5451150" y="528050"/>
            <a:ext cx="3554400" cy="4437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% Hola, soy un programa Prolog!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profesor(ana).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profesor(telma).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profesor(lucho).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profesor(lujan).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asistente(diego).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asistente(vir).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ayudante(valen)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catedra(ana,lfya).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catedra(telma,lfya).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catedra(diego,lfya).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catedra(vir,lfya).</a:t>
            </a:r>
            <a:endParaRPr b="1" sz="11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docente(X) :- </a:t>
            </a:r>
            <a:endParaRPr b="1" sz="11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	profesor(X).</a:t>
            </a:r>
            <a:endParaRPr b="1" sz="11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docente(X) :-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asistente(X).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compañeros(X,Y) :-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catedra(X,Z),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	catedra(Y,Z).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5226850" y="3374650"/>
            <a:ext cx="136800" cy="1545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4004450" y="3845350"/>
            <a:ext cx="1134900" cy="603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</a:t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898225" y="1126100"/>
            <a:ext cx="3163200" cy="6549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docente(X) :- profesor(X).</a:t>
            </a:r>
            <a:endParaRPr b="1"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&lt;</a:t>
            </a:r>
            <a:r>
              <a:rPr b="1" lang="es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Conclusión</a:t>
            </a:r>
            <a:r>
              <a:rPr b="1" lang="es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&gt;	 :-	 &lt;Antecedente&gt;</a:t>
            </a:r>
            <a:endParaRPr b="1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45025"/>
            <a:ext cx="493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Entendiendo las reglas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311700" y="1553450"/>
            <a:ext cx="2107500" cy="1087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toma_mate(X) :- </a:t>
            </a:r>
            <a:endParaRPr b="1"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tiene_sueño(X),</a:t>
            </a:r>
            <a:endParaRPr b="1"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hay_yerba.</a:t>
            </a:r>
            <a:endParaRPr b="1" sz="1200"/>
          </a:p>
        </p:txBody>
      </p:sp>
      <p:sp>
        <p:nvSpPr>
          <p:cNvPr id="153" name="Google Shape;153;p23"/>
          <p:cNvSpPr/>
          <p:nvPr/>
        </p:nvSpPr>
        <p:spPr>
          <a:xfrm>
            <a:off x="311700" y="3003150"/>
            <a:ext cx="2107500" cy="1087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vuela(X) :- </a:t>
            </a:r>
            <a:endParaRPr b="1"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pajaro(X).</a:t>
            </a:r>
            <a:endParaRPr b="1"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vuela(X) :-</a:t>
            </a:r>
            <a:endParaRPr b="1"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avion(X).</a:t>
            </a:r>
            <a:endParaRPr b="1"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2523400" y="1852400"/>
            <a:ext cx="250500" cy="48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2523400" y="3032475"/>
            <a:ext cx="250500" cy="34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2902500" y="1705850"/>
            <a:ext cx="2107500" cy="775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“Si X tiene sueño </a:t>
            </a:r>
            <a:r>
              <a:rPr b="1" lang="es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r>
              <a:rPr lang="es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si hay yerba, entonces X tomara mate”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5089800" y="1852400"/>
            <a:ext cx="299400" cy="48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5417100" y="1858250"/>
            <a:ext cx="3605400" cy="433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tiene_sueño(X) ⋀ hay_yerba ⇒ toma_mate(X)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2878100" y="2888975"/>
            <a:ext cx="2107500" cy="572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“Si X es un pajaro, entonces vuela”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2523400" y="3657650"/>
            <a:ext cx="250500" cy="34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2878100" y="3542450"/>
            <a:ext cx="2107500" cy="572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“Si X es un avion, entonces vuela”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5089800" y="3252250"/>
            <a:ext cx="612600" cy="48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5790000" y="3280600"/>
            <a:ext cx="2955000" cy="433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pajaro(X) ⋁  avion(X) ⇒ vuela(X)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311700" y="445025"/>
            <a:ext cx="493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Checkpoint: reglas y hechos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272700" y="1069175"/>
            <a:ext cx="4876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Me pidieron programar el comportamiento de un robot de combate, como hago para representar el siguiente conocimiento?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“Hay un robot x100 aliado cerca”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“Hay un robot y200 enemigo cerca”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“Hay un robot x100 enemigo cerca”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“Si hay un robot X enemigo cerca, entonces estoy en peligro”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“Si estoy en peligro y tengo </a:t>
            </a: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munición</a:t>
            </a: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, entonces me defiendo”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-"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“Si estoy en peligro y hay un robot Y aliado cerca, entonces pido ayuda”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Hagamos un programa para representar esto!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000" y="1870650"/>
            <a:ext cx="3690000" cy="3129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900" y="140598"/>
            <a:ext cx="928575" cy="9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/>
        </p:nvSpPr>
        <p:spPr>
          <a:xfrm>
            <a:off x="6784575" y="1020775"/>
            <a:ext cx="1812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Programa PROLOG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7519350" y="1418775"/>
            <a:ext cx="244800" cy="64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Problemas frecuentes con SWISH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550" y="225975"/>
            <a:ext cx="791750" cy="79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/>
          <p:nvPr/>
        </p:nvSpPr>
        <p:spPr>
          <a:xfrm>
            <a:off x="311700" y="1678600"/>
            <a:ext cx="2087700" cy="1911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cerca(x100,aliado).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cerca(y200,enemigo).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cerca(x100,enemigo).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peligro :- cerca(Z,enemigo).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defender :-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    peligro,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municion</a:t>
            </a: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2517475" y="2710025"/>
            <a:ext cx="271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7050" y="2639338"/>
            <a:ext cx="26765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/>
        </p:nvSpPr>
        <p:spPr>
          <a:xfrm>
            <a:off x="311700" y="1170125"/>
            <a:ext cx="259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AutoNum type="arabicPeriod"/>
            </a:pP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Predicados </a:t>
            </a: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dinámicos</a:t>
            </a: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6204725" y="1964400"/>
            <a:ext cx="2087700" cy="2561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:- dynamic municion/0.</a:t>
            </a:r>
            <a:endParaRPr b="1" sz="11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cerca(x100,aliado).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cerca(y200,enemigo).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cerca(x100,enemigo).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peligro :- cerca(Z,enemigo).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defender :-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    peligro,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100" u="sng">
                <a:latin typeface="Courier New"/>
                <a:ea typeface="Courier New"/>
                <a:cs typeface="Courier New"/>
                <a:sym typeface="Courier New"/>
              </a:rPr>
              <a:t>municion</a:t>
            </a:r>
            <a:r>
              <a:rPr b="1" lang="es" sz="110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5701650" y="2710038"/>
            <a:ext cx="271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25"/>
          <p:cNvCxnSpPr/>
          <p:nvPr/>
        </p:nvCxnSpPr>
        <p:spPr>
          <a:xfrm flipH="1" rot="5400000">
            <a:off x="7169100" y="1652375"/>
            <a:ext cx="434100" cy="427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7" name="Google Shape;187;p25"/>
          <p:cNvCxnSpPr/>
          <p:nvPr/>
        </p:nvCxnSpPr>
        <p:spPr>
          <a:xfrm flipH="1">
            <a:off x="8027275" y="1655700"/>
            <a:ext cx="69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5"/>
          <p:cNvSpPr txBox="1"/>
          <p:nvPr/>
        </p:nvSpPr>
        <p:spPr>
          <a:xfrm>
            <a:off x="5973150" y="1321713"/>
            <a:ext cx="15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del predicado</a:t>
            </a:r>
            <a:endParaRPr b="1" sz="1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7459200" y="1321700"/>
            <a:ext cx="16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cantidad de </a:t>
            </a:r>
            <a:r>
              <a:rPr b="1" lang="es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parámetros</a:t>
            </a:r>
            <a:endParaRPr b="1" sz="1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311700" y="44502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Que hago con un programa PROLOG?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272700" y="1069175"/>
            <a:ext cx="83181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-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Como vimos antes, un programa PROLOG me permite describir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información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o conocimiento del dominio que quiero modelar a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través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de reglas y hechos.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-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Luego,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puedo realizar consultas a dicho programa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para verificar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qué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información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“vale” teniendo en cuenta el conocimiento expresado.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963" y="2974175"/>
            <a:ext cx="1184250" cy="1184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26"/>
          <p:cNvGrpSpPr/>
          <p:nvPr/>
        </p:nvGrpSpPr>
        <p:grpSpPr>
          <a:xfrm>
            <a:off x="5521963" y="2976210"/>
            <a:ext cx="1812600" cy="1180177"/>
            <a:chOff x="5773038" y="2737310"/>
            <a:chExt cx="1812600" cy="1180177"/>
          </a:xfrm>
        </p:grpSpPr>
        <p:pic>
          <p:nvPicPr>
            <p:cNvPr id="198" name="Google Shape;19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23363" y="2737310"/>
              <a:ext cx="928575" cy="928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6"/>
            <p:cNvSpPr txBox="1"/>
            <p:nvPr/>
          </p:nvSpPr>
          <p:spPr>
            <a:xfrm>
              <a:off x="5773038" y="3617488"/>
              <a:ext cx="18126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Programa PROLOG</a:t>
              </a:r>
              <a:endPara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00" name="Google Shape;200;p26"/>
          <p:cNvSpPr/>
          <p:nvPr/>
        </p:nvSpPr>
        <p:spPr>
          <a:xfrm rot="-5400000">
            <a:off x="4449600" y="2426050"/>
            <a:ext cx="244800" cy="1757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/>
          <p:nvPr/>
        </p:nvSpPr>
        <p:spPr>
          <a:xfrm rot="5400000">
            <a:off x="4449600" y="2835625"/>
            <a:ext cx="244800" cy="1757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4079100" y="3760525"/>
            <a:ext cx="985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✓</a:t>
            </a:r>
            <a:r>
              <a:rPr b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/ </a:t>
            </a:r>
            <a:r>
              <a:rPr b="1" lang="es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b="1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3814800" y="2848200"/>
            <a:ext cx="15246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?- consulta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311700" y="44502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Consultas PROLOG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272700" y="1069175"/>
            <a:ext cx="8318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Estamos diseñando una nueva red social </a:t>
            </a: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Unstagram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, en la cual los usuarios se pueden seguir entre sí, el conocimiento se almacena en el siguiente programa PROLOG: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407250" y="1782425"/>
            <a:ext cx="3707700" cy="2851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sigue(mati,joaquin).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sigue(fede,mati).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sigue(fede,joaquin).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sigue(mati,fede).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sigue(fede,yamil).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amigos(X,Y):-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sigue(X,Y),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sigue(Y,X).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conocido(X,Y):-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sigue(X,Z),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sigue(Z,Y).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475" y="147649"/>
            <a:ext cx="870075" cy="870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27"/>
          <p:cNvCxnSpPr/>
          <p:nvPr/>
        </p:nvCxnSpPr>
        <p:spPr>
          <a:xfrm>
            <a:off x="2657525" y="2190300"/>
            <a:ext cx="1983900" cy="2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7"/>
          <p:cNvSpPr txBox="1"/>
          <p:nvPr/>
        </p:nvSpPr>
        <p:spPr>
          <a:xfrm>
            <a:off x="4739400" y="2043350"/>
            <a:ext cx="36312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“Fede sigue a Joaquin”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4842800" y="2967275"/>
            <a:ext cx="3631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“Si X sigue a Y, e Y sigue a X, entonces son amigos.”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15" name="Google Shape;215;p27"/>
          <p:cNvCxnSpPr/>
          <p:nvPr/>
        </p:nvCxnSpPr>
        <p:spPr>
          <a:xfrm flipH="1" rot="10800000">
            <a:off x="2259500" y="3205475"/>
            <a:ext cx="2382000" cy="56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27"/>
          <p:cNvCxnSpPr/>
          <p:nvPr/>
        </p:nvCxnSpPr>
        <p:spPr>
          <a:xfrm>
            <a:off x="2588100" y="4171500"/>
            <a:ext cx="1983900" cy="2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7"/>
          <p:cNvSpPr txBox="1"/>
          <p:nvPr/>
        </p:nvSpPr>
        <p:spPr>
          <a:xfrm>
            <a:off x="4842800" y="3881675"/>
            <a:ext cx="3631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“Si X sigue a Z, y Z sigue a Y, entonces X conoce a Y”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311700" y="44502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Consultas PROLOG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311700" y="1069175"/>
            <a:ext cx="4488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Hagamos un par de consultas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5501625" y="1216800"/>
            <a:ext cx="2770800" cy="2991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sigue(mati,joaquin).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sigue(fede,mati).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sigue(fede,joaquin).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sigue(mati,fede).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sigue(fede,yamil).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amigos(X,Y):-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sigue(X,Y),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sigue(Y,X).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conocido(X,Y):-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sigue(X,Z),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sigue(Z,Y).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5" name="Google Shape;2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475" y="147649"/>
            <a:ext cx="870075" cy="8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4700" y="4354625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8"/>
          <p:cNvSpPr txBox="1"/>
          <p:nvPr/>
        </p:nvSpPr>
        <p:spPr>
          <a:xfrm>
            <a:off x="5702750" y="4348475"/>
            <a:ext cx="3233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¿No debería decir </a:t>
            </a:r>
            <a:r>
              <a:rPr b="1"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joaquin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(esto lo veremos en detalle más adelante)</a:t>
            </a:r>
            <a:endParaRPr sz="1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176425" y="38974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-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¿Quien es conocido de Mati? </a:t>
            </a:r>
            <a:endParaRPr/>
          </a:p>
        </p:txBody>
      </p:sp>
      <p:sp>
        <p:nvSpPr>
          <p:cNvPr id="229" name="Google Shape;229;p28"/>
          <p:cNvSpPr txBox="1"/>
          <p:nvPr/>
        </p:nvSpPr>
        <p:spPr>
          <a:xfrm>
            <a:off x="200125" y="29741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-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¿Existe alguien que siga a Mati? ¿Quien?</a:t>
            </a:r>
            <a:endParaRPr b="1"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235500" y="2179950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-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¿Son Mati y Fede amigos?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 txBox="1"/>
          <p:nvPr/>
        </p:nvSpPr>
        <p:spPr>
          <a:xfrm>
            <a:off x="211225" y="1387350"/>
            <a:ext cx="373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-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¿Joaquin sigue a Fede?</a:t>
            </a:r>
            <a:endParaRPr/>
          </a:p>
        </p:txBody>
      </p:sp>
      <p:sp>
        <p:nvSpPr>
          <p:cNvPr id="232" name="Google Shape;232;p28"/>
          <p:cNvSpPr txBox="1"/>
          <p:nvPr/>
        </p:nvSpPr>
        <p:spPr>
          <a:xfrm>
            <a:off x="217375" y="1660213"/>
            <a:ext cx="4254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?- sigue(joaquin,fede).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8"/>
          <p:cNvSpPr txBox="1"/>
          <p:nvPr/>
        </p:nvSpPr>
        <p:spPr>
          <a:xfrm>
            <a:off x="217375" y="2480000"/>
            <a:ext cx="3633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?- amigos(mati,fede).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8"/>
          <p:cNvSpPr txBox="1"/>
          <p:nvPr/>
        </p:nvSpPr>
        <p:spPr>
          <a:xfrm>
            <a:off x="235500" y="34344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?- sigue(X,mati).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8"/>
          <p:cNvSpPr txBox="1"/>
          <p:nvPr/>
        </p:nvSpPr>
        <p:spPr>
          <a:xfrm>
            <a:off x="215200" y="4386125"/>
            <a:ext cx="300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?- conocido(mati,X).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3176425" y="14657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/>
          </a:p>
        </p:txBody>
      </p:sp>
      <p:sp>
        <p:nvSpPr>
          <p:cNvPr id="237" name="Google Shape;237;p28"/>
          <p:cNvSpPr txBox="1"/>
          <p:nvPr/>
        </p:nvSpPr>
        <p:spPr>
          <a:xfrm>
            <a:off x="3166600" y="2329213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/>
          </a:p>
        </p:txBody>
      </p:sp>
      <p:sp>
        <p:nvSpPr>
          <p:cNvPr id="238" name="Google Shape;238;p28"/>
          <p:cNvSpPr txBox="1"/>
          <p:nvPr/>
        </p:nvSpPr>
        <p:spPr>
          <a:xfrm>
            <a:off x="3166600" y="31882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fede</a:t>
            </a:r>
            <a:endParaRPr/>
          </a:p>
        </p:txBody>
      </p:sp>
      <p:sp>
        <p:nvSpPr>
          <p:cNvPr id="239" name="Google Shape;239;p28"/>
          <p:cNvSpPr txBox="1"/>
          <p:nvPr/>
        </p:nvSpPr>
        <p:spPr>
          <a:xfrm>
            <a:off x="3166600" y="42084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mati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II: Mirando PROLOG en profundidad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317825" y="27357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Variables y unificación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259250" y="811400"/>
            <a:ext cx="8318100" cy="3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Como vimos anteriormente, los predicados pueden relacionar </a:t>
            </a: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variables y constantes. 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Las variables pueden estar </a:t>
            </a:r>
            <a:r>
              <a:rPr lang="es" sz="18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instanciadas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(es decir, con una </a:t>
            </a: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constante asignada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) o </a:t>
            </a:r>
            <a:r>
              <a:rPr lang="es" sz="18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libres</a:t>
            </a:r>
            <a:r>
              <a:rPr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(sin instanciar). 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Una vez que se instancian completamente, no pueden cambiar su valor!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 instanciación de las variables se efectúa mediante la </a:t>
            </a:r>
            <a:r>
              <a:rPr b="1" i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unificación.</a:t>
            </a:r>
            <a:endParaRPr b="1"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¿Como se hace la unificación?</a:t>
            </a:r>
            <a:endParaRPr i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317825" y="27357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Variables y unificación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272700" y="922800"/>
            <a:ext cx="4889100" cy="3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 unificación de variables se efectúa de dos maneras: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AutoNum type="arabicPeriod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Utilizando el operador de unificación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=</a:t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AutoNum type="arabicPeriod"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la unificación de predicados.	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777700" y="1804550"/>
            <a:ext cx="3208500" cy="1212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5.		true.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Y.		true. 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Y, Y = 1.	true.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Hola = Chau.	true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3986200" y="1804550"/>
            <a:ext cx="3208500" cy="1212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1, X = 2.		false.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cinco = 5			false.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?- 5 = 2 + 3			false.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777700" y="3413575"/>
            <a:ext cx="3208500" cy="1483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alumno(jose).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materia(jose,lfya).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alumno(X).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jose.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0" name="Google Shape;260;p31"/>
          <p:cNvCxnSpPr/>
          <p:nvPr/>
        </p:nvCxnSpPr>
        <p:spPr>
          <a:xfrm flipH="1" rot="10800000">
            <a:off x="2275825" y="4039400"/>
            <a:ext cx="2922900" cy="426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31"/>
          <p:cNvSpPr txBox="1"/>
          <p:nvPr/>
        </p:nvSpPr>
        <p:spPr>
          <a:xfrm>
            <a:off x="5072750" y="3459625"/>
            <a:ext cx="208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alumno(X)</a:t>
            </a:r>
            <a:endParaRPr/>
          </a:p>
        </p:txBody>
      </p:sp>
      <p:sp>
        <p:nvSpPr>
          <p:cNvPr id="262" name="Google Shape;262;p31"/>
          <p:cNvSpPr txBox="1"/>
          <p:nvPr/>
        </p:nvSpPr>
        <p:spPr>
          <a:xfrm>
            <a:off x="5072750" y="4273350"/>
            <a:ext cx="208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alumno(jose)</a:t>
            </a:r>
            <a:endParaRPr/>
          </a:p>
        </p:txBody>
      </p:sp>
      <p:sp>
        <p:nvSpPr>
          <p:cNvPr id="263" name="Google Shape;263;p31"/>
          <p:cNvSpPr/>
          <p:nvPr/>
        </p:nvSpPr>
        <p:spPr>
          <a:xfrm>
            <a:off x="6355950" y="3779625"/>
            <a:ext cx="229200" cy="6396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1"/>
          <p:cNvSpPr txBox="1"/>
          <p:nvPr/>
        </p:nvSpPr>
        <p:spPr>
          <a:xfrm>
            <a:off x="6553250" y="3898675"/>
            <a:ext cx="224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Unificación (X/jose)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type="title"/>
          </p:nvPr>
        </p:nvSpPr>
        <p:spPr>
          <a:xfrm>
            <a:off x="317825" y="27357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Operador 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272700" y="922800"/>
            <a:ext cx="8318100" cy="3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El operador IS nos permite unificar variables con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expresiones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numéricas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“X is Y nos devuelve </a:t>
            </a:r>
            <a:r>
              <a:rPr b="1" lang="es" sz="15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true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si X es el valor resultante de </a:t>
            </a:r>
            <a:r>
              <a:rPr b="1" lang="es" sz="15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evaluar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la expresion Y”</a:t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Veamos algunos ejemplos: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5.		true.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Y.		true. 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Y, Y = 1.	true.?- X = 5.		true.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Y.		true. 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X = Y, Y = 1.	true.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Hola = Chau.	true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Hola = Chau.	true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71" name="Google Shape;271;p32"/>
          <p:cNvGrpSpPr/>
          <p:nvPr/>
        </p:nvGrpSpPr>
        <p:grpSpPr>
          <a:xfrm>
            <a:off x="1363500" y="2303700"/>
            <a:ext cx="6417000" cy="1488300"/>
            <a:chOff x="726450" y="2303700"/>
            <a:chExt cx="6417000" cy="1488300"/>
          </a:xfrm>
        </p:grpSpPr>
        <p:sp>
          <p:nvSpPr>
            <p:cNvPr id="272" name="Google Shape;272;p32"/>
            <p:cNvSpPr/>
            <p:nvPr/>
          </p:nvSpPr>
          <p:spPr>
            <a:xfrm>
              <a:off x="726450" y="2303700"/>
              <a:ext cx="3208500" cy="14883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?- 2 is 2+0.		true.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X is 3+1.		true. 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?- 5 is 2+2.		false.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X is Y+2		</a:t>
              </a:r>
              <a:r>
                <a:rPr b="1" lang="es">
                  <a:solidFill>
                    <a:schemeClr val="accent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error!</a:t>
              </a:r>
              <a:endPara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3" name="Google Shape;273;p32"/>
            <p:cNvSpPr/>
            <p:nvPr/>
          </p:nvSpPr>
          <p:spPr>
            <a:xfrm>
              <a:off x="3934950" y="2303700"/>
              <a:ext cx="3208500" cy="14883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X = 3+1, X is 4.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X is 3+1, X = 4.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	X = 2, 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 = 1, 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Z </a:t>
              </a: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 </a:t>
              </a: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X+Y,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45720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 </a:t>
              </a: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is Z.</a:t>
              </a:r>
              <a:endPara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74" name="Google Shape;274;p32"/>
          <p:cNvSpPr/>
          <p:nvPr/>
        </p:nvSpPr>
        <p:spPr>
          <a:xfrm>
            <a:off x="5337225" y="3723525"/>
            <a:ext cx="415800" cy="467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 txBox="1"/>
          <p:nvPr/>
        </p:nvSpPr>
        <p:spPr>
          <a:xfrm>
            <a:off x="4317625" y="4253250"/>
            <a:ext cx="4066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 este </a:t>
            </a:r>
            <a:r>
              <a:rPr i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último</a:t>
            </a:r>
            <a:r>
              <a:rPr i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caso, ¿</a:t>
            </a:r>
            <a:r>
              <a:rPr i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Qué</a:t>
            </a:r>
            <a:r>
              <a:rPr i="1"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valor tiene Z? ¿y W?</a:t>
            </a:r>
            <a:endParaRPr i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317825" y="273575"/>
            <a:ext cx="878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Agregando conocimiento, assert y retract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272700" y="1069175"/>
            <a:ext cx="4585800" cy="3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PROLOG nos permite agregar y quitar conocimiento durante la ejecución de una consulta, para ello usamos los siguientes predicados: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-"/>
            </a:pP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assert(X):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Agrego X al programa PROLOG.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Char char="-"/>
            </a:pP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retract(X):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Quito X del programa PROLOG.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Ejemplo:</a:t>
            </a:r>
            <a:endParaRPr i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conectada(X,Y) :- viaje(X,Y).</a:t>
            </a:r>
            <a:endParaRPr sz="17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conectada(X,Y) :- </a:t>
            </a:r>
            <a:endParaRPr sz="17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viaje(X,Z),</a:t>
            </a:r>
            <a:endParaRPr sz="17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conectada(Z,Y),</a:t>
            </a:r>
            <a:endParaRPr sz="17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assert(viaje(X,Z)</a:t>
            </a:r>
            <a:r>
              <a:rPr lang="es" sz="17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sz="17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317825" y="273575"/>
            <a:ext cx="878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¿Cómo funciona PROLOG? Resolución, Backtracking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5676825" y="863350"/>
            <a:ext cx="968400" cy="364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u="sng"/>
          </a:p>
        </p:txBody>
      </p:sp>
      <p:sp>
        <p:nvSpPr>
          <p:cNvPr id="288" name="Google Shape;288;p34"/>
          <p:cNvSpPr/>
          <p:nvPr/>
        </p:nvSpPr>
        <p:spPr>
          <a:xfrm>
            <a:off x="5676825" y="1716375"/>
            <a:ext cx="968400" cy="364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,c</a:t>
            </a:r>
            <a:endParaRPr/>
          </a:p>
        </p:txBody>
      </p:sp>
      <p:cxnSp>
        <p:nvCxnSpPr>
          <p:cNvPr id="289" name="Google Shape;289;p34"/>
          <p:cNvCxnSpPr>
            <a:stCxn id="287" idx="2"/>
            <a:endCxn id="288" idx="0"/>
          </p:cNvCxnSpPr>
          <p:nvPr/>
        </p:nvCxnSpPr>
        <p:spPr>
          <a:xfrm>
            <a:off x="6161025" y="1227850"/>
            <a:ext cx="0" cy="48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4"/>
          <p:cNvSpPr txBox="1"/>
          <p:nvPr/>
        </p:nvSpPr>
        <p:spPr>
          <a:xfrm>
            <a:off x="5817325" y="1272013"/>
            <a:ext cx="3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/>
          </a:p>
        </p:txBody>
      </p:sp>
      <p:sp>
        <p:nvSpPr>
          <p:cNvPr id="291" name="Google Shape;291;p34"/>
          <p:cNvSpPr/>
          <p:nvPr/>
        </p:nvSpPr>
        <p:spPr>
          <a:xfrm>
            <a:off x="4148075" y="2714475"/>
            <a:ext cx="968400" cy="364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,c</a:t>
            </a:r>
            <a:endParaRPr/>
          </a:p>
        </p:txBody>
      </p:sp>
      <p:cxnSp>
        <p:nvCxnSpPr>
          <p:cNvPr id="292" name="Google Shape;292;p34"/>
          <p:cNvCxnSpPr>
            <a:stCxn id="288" idx="2"/>
            <a:endCxn id="291" idx="0"/>
          </p:cNvCxnSpPr>
          <p:nvPr/>
        </p:nvCxnSpPr>
        <p:spPr>
          <a:xfrm flipH="1">
            <a:off x="4632225" y="2080875"/>
            <a:ext cx="1528800" cy="6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34"/>
          <p:cNvSpPr txBox="1"/>
          <p:nvPr/>
        </p:nvSpPr>
        <p:spPr>
          <a:xfrm>
            <a:off x="5026225" y="2080863"/>
            <a:ext cx="3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/>
          </a:p>
        </p:txBody>
      </p:sp>
      <p:sp>
        <p:nvSpPr>
          <p:cNvPr id="294" name="Google Shape;294;p34"/>
          <p:cNvSpPr txBox="1"/>
          <p:nvPr/>
        </p:nvSpPr>
        <p:spPr>
          <a:xfrm>
            <a:off x="3651275" y="3151600"/>
            <a:ext cx="1962000" cy="831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Falla!❌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no se puede cumplir la meta </a:t>
            </a:r>
            <a:r>
              <a:rPr b="1" lang="e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6715575" y="2714475"/>
            <a:ext cx="968400" cy="364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,c</a:t>
            </a:r>
            <a:endParaRPr/>
          </a:p>
        </p:txBody>
      </p:sp>
      <p:cxnSp>
        <p:nvCxnSpPr>
          <p:cNvPr id="296" name="Google Shape;296;p34"/>
          <p:cNvCxnSpPr>
            <a:stCxn id="288" idx="2"/>
            <a:endCxn id="295" idx="0"/>
          </p:cNvCxnSpPr>
          <p:nvPr/>
        </p:nvCxnSpPr>
        <p:spPr>
          <a:xfrm>
            <a:off x="6161025" y="2080875"/>
            <a:ext cx="1038900" cy="6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4"/>
          <p:cNvSpPr txBox="1"/>
          <p:nvPr/>
        </p:nvSpPr>
        <p:spPr>
          <a:xfrm>
            <a:off x="6739325" y="2107938"/>
            <a:ext cx="3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/>
          </a:p>
        </p:txBody>
      </p:sp>
      <p:sp>
        <p:nvSpPr>
          <p:cNvPr id="298" name="Google Shape;298;p34"/>
          <p:cNvSpPr txBox="1"/>
          <p:nvPr/>
        </p:nvSpPr>
        <p:spPr>
          <a:xfrm>
            <a:off x="7060925" y="1716375"/>
            <a:ext cx="1962000" cy="61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Se busca otra regla que permita lograr </a:t>
            </a:r>
            <a:r>
              <a:rPr b="1" lang="e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9" name="Google Shape;299;p34"/>
          <p:cNvSpPr/>
          <p:nvPr/>
        </p:nvSpPr>
        <p:spPr>
          <a:xfrm>
            <a:off x="6715575" y="3461475"/>
            <a:ext cx="968400" cy="364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u="sng"/>
          </a:p>
        </p:txBody>
      </p:sp>
      <p:cxnSp>
        <p:nvCxnSpPr>
          <p:cNvPr id="300" name="Google Shape;300;p34"/>
          <p:cNvCxnSpPr>
            <a:stCxn id="295" idx="2"/>
            <a:endCxn id="299" idx="0"/>
          </p:cNvCxnSpPr>
          <p:nvPr/>
        </p:nvCxnSpPr>
        <p:spPr>
          <a:xfrm>
            <a:off x="7199775" y="3078975"/>
            <a:ext cx="0" cy="3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4"/>
          <p:cNvCxnSpPr>
            <a:stCxn id="299" idx="2"/>
          </p:cNvCxnSpPr>
          <p:nvPr/>
        </p:nvCxnSpPr>
        <p:spPr>
          <a:xfrm flipH="1">
            <a:off x="6588075" y="3825975"/>
            <a:ext cx="611700" cy="3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34"/>
          <p:cNvSpPr txBox="1"/>
          <p:nvPr/>
        </p:nvSpPr>
        <p:spPr>
          <a:xfrm>
            <a:off x="6796275" y="3058263"/>
            <a:ext cx="3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/>
          </a:p>
        </p:txBody>
      </p:sp>
      <p:sp>
        <p:nvSpPr>
          <p:cNvPr id="303" name="Google Shape;303;p34"/>
          <p:cNvSpPr/>
          <p:nvPr/>
        </p:nvSpPr>
        <p:spPr>
          <a:xfrm>
            <a:off x="6161025" y="4144275"/>
            <a:ext cx="968400" cy="364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u="sng"/>
          </a:p>
        </p:txBody>
      </p:sp>
      <p:cxnSp>
        <p:nvCxnSpPr>
          <p:cNvPr id="304" name="Google Shape;304;p34"/>
          <p:cNvCxnSpPr>
            <a:stCxn id="303" idx="2"/>
            <a:endCxn id="305" idx="0"/>
          </p:cNvCxnSpPr>
          <p:nvPr/>
        </p:nvCxnSpPr>
        <p:spPr>
          <a:xfrm>
            <a:off x="6645225" y="4508775"/>
            <a:ext cx="0" cy="11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4"/>
          <p:cNvSpPr txBox="1"/>
          <p:nvPr/>
        </p:nvSpPr>
        <p:spPr>
          <a:xfrm>
            <a:off x="6125775" y="4624675"/>
            <a:ext cx="1038900" cy="40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Éxito!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06" name="Google Shape;306;p34"/>
          <p:cNvCxnSpPr>
            <a:stCxn id="299" idx="2"/>
          </p:cNvCxnSpPr>
          <p:nvPr/>
        </p:nvCxnSpPr>
        <p:spPr>
          <a:xfrm>
            <a:off x="7199775" y="3825975"/>
            <a:ext cx="10083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7" name="Google Shape;307;p34"/>
          <p:cNvSpPr txBox="1"/>
          <p:nvPr/>
        </p:nvSpPr>
        <p:spPr>
          <a:xfrm>
            <a:off x="7654325" y="4108575"/>
            <a:ext cx="1444800" cy="40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¿Y este camino?</a:t>
            </a:r>
            <a:endParaRPr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" name="Google Shape;308;p34"/>
          <p:cNvSpPr txBox="1"/>
          <p:nvPr/>
        </p:nvSpPr>
        <p:spPr>
          <a:xfrm>
            <a:off x="7747675" y="3744063"/>
            <a:ext cx="3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/>
          </a:p>
        </p:txBody>
      </p:sp>
      <p:sp>
        <p:nvSpPr>
          <p:cNvPr id="309" name="Google Shape;309;p34"/>
          <p:cNvSpPr txBox="1"/>
          <p:nvPr/>
        </p:nvSpPr>
        <p:spPr>
          <a:xfrm>
            <a:off x="420775" y="3359500"/>
            <a:ext cx="2770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 evaluación se hace de arriba hacia abajo y de izquierda a derecha.</a:t>
            </a: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420775" y="1011725"/>
            <a:ext cx="2770800" cy="2295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:- b, c.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:- d.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:- 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 :- f.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a.</a:t>
            </a:r>
            <a:endParaRPr b="1" u="sng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" name="Google Shape;311;p34"/>
          <p:cNvSpPr txBox="1"/>
          <p:nvPr/>
        </p:nvSpPr>
        <p:spPr>
          <a:xfrm>
            <a:off x="142450" y="1015750"/>
            <a:ext cx="2337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2" name="Google Shape;312;p34"/>
          <p:cNvSpPr txBox="1"/>
          <p:nvPr/>
        </p:nvSpPr>
        <p:spPr>
          <a:xfrm>
            <a:off x="6355325" y="3755913"/>
            <a:ext cx="3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/>
          <p:nvPr>
            <p:ph type="title"/>
          </p:nvPr>
        </p:nvSpPr>
        <p:spPr>
          <a:xfrm>
            <a:off x="317825" y="27357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Negación en PROLOG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8" name="Google Shape;318;p35"/>
          <p:cNvSpPr txBox="1"/>
          <p:nvPr/>
        </p:nvSpPr>
        <p:spPr>
          <a:xfrm>
            <a:off x="412950" y="915400"/>
            <a:ext cx="42930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Tenemos un robot que circula por la ciudad, antes de cruzar una calle, quiere verificar que la misma no es peligrosa. Para ello, utilizando el siguiente programa Prolog: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9" name="Google Shape;319;p35"/>
          <p:cNvSpPr/>
          <p:nvPr/>
        </p:nvSpPr>
        <p:spPr>
          <a:xfrm>
            <a:off x="1061825" y="2044950"/>
            <a:ext cx="2770800" cy="1235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peligro :- 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vienen_autos.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peligro :-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bajo_ataque.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412950" y="32806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Hace la siguiente consulta: 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?- not(peligro).</a:t>
            </a:r>
            <a:endParaRPr/>
          </a:p>
        </p:txBody>
      </p:sp>
      <p:sp>
        <p:nvSpPr>
          <p:cNvPr id="321" name="Google Shape;321;p35"/>
          <p:cNvSpPr txBox="1"/>
          <p:nvPr/>
        </p:nvSpPr>
        <p:spPr>
          <a:xfrm>
            <a:off x="412950" y="3960975"/>
            <a:ext cx="341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 cual da como respuesta </a:t>
            </a:r>
            <a:r>
              <a:rPr b="1"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true..</a:t>
            </a:r>
            <a:endParaRPr b="1"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Es decir, el robot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está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a salvo…</a:t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22" name="Google Shape;3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600" y="395325"/>
            <a:ext cx="2282000" cy="228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3300" y="1115412"/>
            <a:ext cx="2161375" cy="216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5"/>
          <p:cNvSpPr txBox="1"/>
          <p:nvPr/>
        </p:nvSpPr>
        <p:spPr>
          <a:xfrm>
            <a:off x="5158300" y="3476800"/>
            <a:ext cx="341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Sin embargo, cuando cruza la calle, cae un asteroide encima de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él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y es destruido.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falló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25" name="Google Shape;325;p35"/>
          <p:cNvGrpSpPr/>
          <p:nvPr/>
        </p:nvGrpSpPr>
        <p:grpSpPr>
          <a:xfrm>
            <a:off x="5663738" y="1145600"/>
            <a:ext cx="2408825" cy="2408825"/>
            <a:chOff x="5663738" y="1145600"/>
            <a:chExt cx="2408825" cy="2408825"/>
          </a:xfrm>
        </p:grpSpPr>
        <p:pic>
          <p:nvPicPr>
            <p:cNvPr id="326" name="Google Shape;326;p3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63738" y="1145600"/>
              <a:ext cx="2408825" cy="240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3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44913" y="1610050"/>
              <a:ext cx="646500" cy="646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35"/>
            <p:cNvSpPr txBox="1"/>
            <p:nvPr/>
          </p:nvSpPr>
          <p:spPr>
            <a:xfrm>
              <a:off x="6395450" y="2300250"/>
              <a:ext cx="85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accent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</a:t>
              </a:r>
              <a:endParaRPr b="1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29" name="Google Shape;329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3299" y="4134076"/>
            <a:ext cx="811225" cy="858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type="title"/>
          </p:nvPr>
        </p:nvSpPr>
        <p:spPr>
          <a:xfrm>
            <a:off x="317825" y="273575"/>
            <a:ext cx="62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Negación</a:t>
            </a:r>
            <a:r>
              <a:rPr lang="es">
                <a:solidFill>
                  <a:schemeClr val="lt1"/>
                </a:solidFill>
              </a:rPr>
              <a:t> en PROLOG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5" name="Google Shape;335;p36"/>
          <p:cNvSpPr txBox="1"/>
          <p:nvPr/>
        </p:nvSpPr>
        <p:spPr>
          <a:xfrm>
            <a:off x="412950" y="915400"/>
            <a:ext cx="8267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PROLOG utiliza una forma de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negación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diferente a la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negación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clásica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¬, </a:t>
            </a: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denominada 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Negación</a:t>
            </a:r>
            <a:r>
              <a:rPr b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por falla (not).</a:t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Sea P un predicado, not(P) tendrá éxito cuando P no pueda probarse.</a:t>
            </a:r>
            <a:endParaRPr i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Veamos un ejemplo:</a:t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36" name="Google Shape;336;p36"/>
          <p:cNvGrpSpPr/>
          <p:nvPr/>
        </p:nvGrpSpPr>
        <p:grpSpPr>
          <a:xfrm>
            <a:off x="1801200" y="2632175"/>
            <a:ext cx="5541600" cy="1492800"/>
            <a:chOff x="540400" y="2936975"/>
            <a:chExt cx="5541600" cy="1492800"/>
          </a:xfrm>
        </p:grpSpPr>
        <p:sp>
          <p:nvSpPr>
            <p:cNvPr id="337" name="Google Shape;337;p36"/>
            <p:cNvSpPr/>
            <p:nvPr/>
          </p:nvSpPr>
          <p:spPr>
            <a:xfrm>
              <a:off x="540400" y="2936975"/>
              <a:ext cx="2770800" cy="1492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:- b, c.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 :- d.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 :- e.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 :- f.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c.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3311200" y="2936975"/>
              <a:ext cx="2770800" cy="1492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a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not(a)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false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?- not(d)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endParaRPr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39" name="Google Shape;339;p36"/>
          <p:cNvSpPr txBox="1"/>
          <p:nvPr/>
        </p:nvSpPr>
        <p:spPr>
          <a:xfrm>
            <a:off x="522625" y="4222900"/>
            <a:ext cx="742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¿Se les ocurre </a:t>
            </a: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algún</a:t>
            </a:r>
            <a:r>
              <a:rPr i="1" lang="es" sz="1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ejemplo real donde not(X) no sea igual a ¬X? </a:t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Muchas gracias por su atencion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:)</a:t>
            </a:r>
            <a:endParaRPr/>
          </a:p>
        </p:txBody>
      </p:sp>
      <p:sp>
        <p:nvSpPr>
          <p:cNvPr id="345" name="Google Shape;345;p37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