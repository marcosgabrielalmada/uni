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708A36-3639-44AA-9ACF-2EF4E89BAE6D}">
  <a:tblStyle styleId="{2C708A36-3639-44AA-9ACF-2EF4E89BAE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e84548d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e84548d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de84548d9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de84548d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e84548d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e84548d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e84548d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e84548d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e84548d9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e84548d9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e84548d9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de84548d9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e84548d9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e84548d9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e84548d9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de84548d9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e84548d9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e84548d9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e84548d9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de84548d9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e84548d98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de84548d98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e84548d9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de84548d9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e84548d9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de84548d9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de84548d98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de84548d98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de9c019d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de9c019d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Material de Ayuda - GR a AF y </a:t>
            </a:r>
            <a:endParaRPr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AF a GR</a:t>
            </a:r>
            <a:endParaRPr sz="4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Lenguajes Formales y </a:t>
            </a:r>
            <a:r>
              <a:rPr lang="es" sz="2100"/>
              <a:t>Autómatas</a:t>
            </a:r>
            <a:r>
              <a:rPr lang="es" sz="2100"/>
              <a:t> - Diego Orbe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Dada una </a:t>
            </a:r>
            <a:r>
              <a:rPr lang="es">
                <a:solidFill>
                  <a:schemeClr val="dk1"/>
                </a:solidFill>
              </a:rPr>
              <a:t>Gramática</a:t>
            </a:r>
            <a:r>
              <a:rPr lang="es">
                <a:solidFill>
                  <a:schemeClr val="dk1"/>
                </a:solidFill>
              </a:rPr>
              <a:t> Regular </a:t>
            </a:r>
            <a:r>
              <a:rPr b="1" lang="es">
                <a:solidFill>
                  <a:schemeClr val="dk1"/>
                </a:solidFill>
              </a:rPr>
              <a:t>G</a:t>
            </a:r>
            <a:r>
              <a:rPr lang="es">
                <a:solidFill>
                  <a:schemeClr val="dk1"/>
                </a:solidFill>
              </a:rPr>
              <a:t> queremos obtener un </a:t>
            </a:r>
            <a:r>
              <a:rPr lang="es">
                <a:solidFill>
                  <a:schemeClr val="dk1"/>
                </a:solidFill>
              </a:rPr>
              <a:t>Autómata</a:t>
            </a:r>
            <a:r>
              <a:rPr lang="es">
                <a:solidFill>
                  <a:schemeClr val="dk1"/>
                </a:solidFill>
              </a:rPr>
              <a:t> Finito Reconocedor </a:t>
            </a:r>
            <a:r>
              <a:rPr b="1" lang="es">
                <a:solidFill>
                  <a:schemeClr val="dk1"/>
                </a:solidFill>
              </a:rPr>
              <a:t>M </a:t>
            </a:r>
            <a:r>
              <a:rPr lang="es">
                <a:solidFill>
                  <a:schemeClr val="dk1"/>
                </a:solidFill>
              </a:rPr>
              <a:t>tal que L(G) = L(M).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Dado un </a:t>
            </a:r>
            <a:r>
              <a:rPr lang="es">
                <a:solidFill>
                  <a:schemeClr val="dk1"/>
                </a:solidFill>
              </a:rPr>
              <a:t>Autómata</a:t>
            </a:r>
            <a:r>
              <a:rPr lang="es">
                <a:solidFill>
                  <a:schemeClr val="dk1"/>
                </a:solidFill>
              </a:rPr>
              <a:t> Finito Reconocedor </a:t>
            </a:r>
            <a:r>
              <a:rPr b="1" lang="es">
                <a:solidFill>
                  <a:schemeClr val="dk1"/>
                </a:solidFill>
              </a:rPr>
              <a:t>M </a:t>
            </a:r>
            <a:r>
              <a:rPr lang="es">
                <a:solidFill>
                  <a:schemeClr val="dk1"/>
                </a:solidFill>
              </a:rPr>
              <a:t>queremos obtener una </a:t>
            </a:r>
            <a:r>
              <a:rPr lang="es">
                <a:solidFill>
                  <a:schemeClr val="dk1"/>
                </a:solidFill>
              </a:rPr>
              <a:t>Gramática</a:t>
            </a:r>
            <a:r>
              <a:rPr lang="es">
                <a:solidFill>
                  <a:schemeClr val="dk1"/>
                </a:solidFill>
              </a:rPr>
              <a:t> Regular </a:t>
            </a:r>
            <a:r>
              <a:rPr b="1" lang="es">
                <a:solidFill>
                  <a:schemeClr val="dk1"/>
                </a:solidFill>
              </a:rPr>
              <a:t>G </a:t>
            </a:r>
            <a:r>
              <a:rPr lang="es">
                <a:solidFill>
                  <a:schemeClr val="dk1"/>
                </a:solidFill>
              </a:rPr>
              <a:t>tal que L(G) = L(M)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1: GR → AF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1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Recordemos la </a:t>
            </a:r>
            <a:r>
              <a:rPr i="1" lang="es">
                <a:solidFill>
                  <a:schemeClr val="dk1"/>
                </a:solidFill>
              </a:rPr>
              <a:t>definición</a:t>
            </a:r>
            <a:r>
              <a:rPr i="1" lang="es">
                <a:solidFill>
                  <a:schemeClr val="dk1"/>
                </a:solidFill>
              </a:rPr>
              <a:t> de las </a:t>
            </a:r>
            <a:r>
              <a:rPr i="1" lang="es">
                <a:solidFill>
                  <a:schemeClr val="dk1"/>
                </a:solidFill>
              </a:rPr>
              <a:t>Gramática</a:t>
            </a:r>
            <a:r>
              <a:rPr i="1" lang="es">
                <a:solidFill>
                  <a:schemeClr val="dk1"/>
                </a:solidFill>
              </a:rPr>
              <a:t> Regulares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G = (V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, 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, S, P</a:t>
            </a:r>
            <a:r>
              <a:rPr lang="es">
                <a:solidFill>
                  <a:schemeClr val="dk1"/>
                </a:solidFill>
              </a:rPr>
              <a:t>) donde: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V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 = Conjunto de </a:t>
            </a:r>
            <a:r>
              <a:rPr lang="es">
                <a:solidFill>
                  <a:schemeClr val="dk1"/>
                </a:solidFill>
              </a:rPr>
              <a:t>símbolos</a:t>
            </a:r>
            <a:r>
              <a:rPr lang="es">
                <a:solidFill>
                  <a:schemeClr val="dk1"/>
                </a:solidFill>
              </a:rPr>
              <a:t> </a:t>
            </a:r>
            <a:r>
              <a:rPr lang="es" u="sng">
                <a:solidFill>
                  <a:schemeClr val="dk1"/>
                </a:solidFill>
              </a:rPr>
              <a:t>no terminales.</a:t>
            </a:r>
            <a:endParaRPr u="sng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 = Conjunto de </a:t>
            </a:r>
            <a:r>
              <a:rPr lang="es">
                <a:solidFill>
                  <a:schemeClr val="dk1"/>
                </a:solidFill>
              </a:rPr>
              <a:t>símbolos</a:t>
            </a:r>
            <a:r>
              <a:rPr lang="es">
                <a:solidFill>
                  <a:schemeClr val="dk1"/>
                </a:solidFill>
              </a:rPr>
              <a:t> </a:t>
            </a:r>
            <a:r>
              <a:rPr lang="es" u="sng">
                <a:solidFill>
                  <a:schemeClr val="dk1"/>
                </a:solidFill>
              </a:rPr>
              <a:t>terminales.</a:t>
            </a:r>
            <a:endParaRPr u="sng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S = </a:t>
            </a:r>
            <a:r>
              <a:rPr lang="es">
                <a:solidFill>
                  <a:schemeClr val="dk1"/>
                </a:solidFill>
              </a:rPr>
              <a:t>Símbolo</a:t>
            </a:r>
            <a:r>
              <a:rPr lang="es">
                <a:solidFill>
                  <a:schemeClr val="dk1"/>
                </a:solidFill>
              </a:rPr>
              <a:t> no terminal inicial.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Conjunto de Producciones </a:t>
            </a:r>
            <a:r>
              <a:rPr b="1" lang="es">
                <a:solidFill>
                  <a:schemeClr val="dk1"/>
                </a:solidFill>
              </a:rPr>
              <a:t>α → β, </a:t>
            </a:r>
            <a:r>
              <a:rPr lang="es">
                <a:solidFill>
                  <a:schemeClr val="dk1"/>
                </a:solidFill>
              </a:rPr>
              <a:t>donde (</a:t>
            </a:r>
            <a:r>
              <a:rPr i="1" lang="es">
                <a:solidFill>
                  <a:schemeClr val="dk1"/>
                </a:solidFill>
              </a:rPr>
              <a:t>recordemos que son regulares</a:t>
            </a:r>
            <a:r>
              <a:rPr lang="es">
                <a:solidFill>
                  <a:schemeClr val="dk1"/>
                </a:solidFill>
              </a:rPr>
              <a:t>):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s" sz="1800">
                <a:solidFill>
                  <a:schemeClr val="dk1"/>
                </a:solidFill>
              </a:rPr>
              <a:t>α ∊ </a:t>
            </a:r>
            <a:r>
              <a:rPr lang="es" sz="1800">
                <a:solidFill>
                  <a:schemeClr val="dk1"/>
                </a:solidFill>
              </a:rPr>
              <a:t>V</a:t>
            </a:r>
            <a:r>
              <a:rPr baseline="-25000" lang="es" sz="1800">
                <a:solidFill>
                  <a:schemeClr val="dk1"/>
                </a:solidFill>
              </a:rPr>
              <a:t>n</a:t>
            </a:r>
            <a:r>
              <a:rPr lang="es" sz="1800">
                <a:solidFill>
                  <a:schemeClr val="dk1"/>
                </a:solidFill>
              </a:rPr>
              <a:t> , </a:t>
            </a:r>
            <a:r>
              <a:rPr b="1" lang="es" sz="1800">
                <a:solidFill>
                  <a:schemeClr val="dk1"/>
                </a:solidFill>
              </a:rPr>
              <a:t>β ∊ </a:t>
            </a:r>
            <a:r>
              <a:rPr lang="es" sz="1800">
                <a:solidFill>
                  <a:schemeClr val="dk1"/>
                </a:solidFill>
              </a:rPr>
              <a:t>V</a:t>
            </a:r>
            <a:r>
              <a:rPr baseline="-25000" lang="es" sz="1800">
                <a:solidFill>
                  <a:schemeClr val="dk1"/>
                </a:solidFill>
              </a:rPr>
              <a:t>t </a:t>
            </a:r>
            <a:r>
              <a:rPr lang="es" sz="1800">
                <a:solidFill>
                  <a:schemeClr val="dk1"/>
                </a:solidFill>
              </a:rPr>
              <a:t>o </a:t>
            </a:r>
            <a:r>
              <a:rPr b="1" lang="es" sz="1800">
                <a:solidFill>
                  <a:schemeClr val="dk1"/>
                </a:solidFill>
              </a:rPr>
              <a:t>β ∊ </a:t>
            </a:r>
            <a:r>
              <a:rPr lang="es" sz="1800">
                <a:solidFill>
                  <a:schemeClr val="dk1"/>
                </a:solidFill>
              </a:rPr>
              <a:t>V</a:t>
            </a:r>
            <a:r>
              <a:rPr baseline="-25000" lang="es" sz="1800">
                <a:solidFill>
                  <a:schemeClr val="dk1"/>
                </a:solidFill>
              </a:rPr>
              <a:t>t</a:t>
            </a:r>
            <a:r>
              <a:rPr lang="es" sz="1800">
                <a:solidFill>
                  <a:schemeClr val="dk1"/>
                </a:solidFill>
              </a:rPr>
              <a:t>V</a:t>
            </a:r>
            <a:r>
              <a:rPr baseline="-25000" lang="es" sz="1800">
                <a:solidFill>
                  <a:schemeClr val="dk1"/>
                </a:solidFill>
              </a:rPr>
              <a:t>n</a:t>
            </a:r>
            <a:r>
              <a:rPr lang="es" sz="1800">
                <a:solidFill>
                  <a:schemeClr val="dk1"/>
                </a:solidFill>
              </a:rPr>
              <a:t> (exceptuando S → λ)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1: De GR a AF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5397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Ejercicio: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Considere la </a:t>
            </a:r>
            <a:r>
              <a:rPr lang="es" sz="1700">
                <a:solidFill>
                  <a:schemeClr val="dk1"/>
                </a:solidFill>
              </a:rPr>
              <a:t>gramática</a:t>
            </a:r>
            <a:r>
              <a:rPr lang="es" sz="1700">
                <a:solidFill>
                  <a:schemeClr val="dk1"/>
                </a:solidFill>
              </a:rPr>
              <a:t> regular G = </a:t>
            </a:r>
            <a:r>
              <a:rPr lang="es" sz="1700">
                <a:solidFill>
                  <a:schemeClr val="dk1"/>
                </a:solidFill>
              </a:rPr>
              <a:t>(V</a:t>
            </a:r>
            <a:r>
              <a:rPr baseline="-25000" lang="es" sz="1700">
                <a:solidFill>
                  <a:schemeClr val="dk1"/>
                </a:solidFill>
              </a:rPr>
              <a:t>n</a:t>
            </a:r>
            <a:r>
              <a:rPr lang="es" sz="1700">
                <a:solidFill>
                  <a:schemeClr val="dk1"/>
                </a:solidFill>
              </a:rPr>
              <a:t>, V</a:t>
            </a:r>
            <a:r>
              <a:rPr baseline="-25000" lang="es" sz="1700">
                <a:solidFill>
                  <a:schemeClr val="dk1"/>
                </a:solidFill>
              </a:rPr>
              <a:t>t</a:t>
            </a:r>
            <a:r>
              <a:rPr lang="es" sz="1700">
                <a:solidFill>
                  <a:schemeClr val="dk1"/>
                </a:solidFill>
              </a:rPr>
              <a:t>, S, P) donde: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s" sz="1700">
                <a:solidFill>
                  <a:schemeClr val="dk1"/>
                </a:solidFill>
              </a:rPr>
              <a:t>V</a:t>
            </a:r>
            <a:r>
              <a:rPr baseline="-25000" lang="es" sz="1700">
                <a:solidFill>
                  <a:schemeClr val="dk1"/>
                </a:solidFill>
              </a:rPr>
              <a:t>n</a:t>
            </a:r>
            <a:r>
              <a:rPr lang="es" sz="1700">
                <a:solidFill>
                  <a:schemeClr val="dk1"/>
                </a:solidFill>
              </a:rPr>
              <a:t> = {S, A, B}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s" sz="1700">
                <a:solidFill>
                  <a:schemeClr val="dk1"/>
                </a:solidFill>
              </a:rPr>
              <a:t>V</a:t>
            </a:r>
            <a:r>
              <a:rPr baseline="-25000" lang="es" sz="1700">
                <a:solidFill>
                  <a:schemeClr val="dk1"/>
                </a:solidFill>
              </a:rPr>
              <a:t>t</a:t>
            </a:r>
            <a:r>
              <a:rPr lang="es" sz="1700">
                <a:solidFill>
                  <a:schemeClr val="dk1"/>
                </a:solidFill>
              </a:rPr>
              <a:t>  = {0, 1, 2}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s" sz="1700">
                <a:solidFill>
                  <a:schemeClr val="dk1"/>
                </a:solidFill>
              </a:rPr>
              <a:t>P: 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S → 2A</a:t>
            </a:r>
            <a:endParaRPr b="1" sz="1700">
              <a:solidFill>
                <a:schemeClr val="dk1"/>
              </a:solidFill>
            </a:endParaRPr>
          </a:p>
          <a:p>
            <a:pPr indent="0" lvl="0" marL="91440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A → 0A | 0B		</a:t>
            </a:r>
            <a:endParaRPr b="1" sz="1700">
              <a:solidFill>
                <a:schemeClr val="dk1"/>
              </a:solidFill>
            </a:endParaRPr>
          </a:p>
          <a:p>
            <a:pPr indent="0" lvl="0" marL="91440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B → 1A | 1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Encontremos un AF M tal que L(M) = L(G)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I: De GR a AF - </a:t>
            </a:r>
            <a:r>
              <a:rPr lang="es"/>
              <a:t>Método</a:t>
            </a:r>
            <a:r>
              <a:rPr lang="es"/>
              <a:t> 1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085150"/>
            <a:ext cx="5955300" cy="3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8">
                <a:solidFill>
                  <a:schemeClr val="dk1"/>
                </a:solidFill>
              </a:rPr>
              <a:t>Dado una GR </a:t>
            </a:r>
            <a:r>
              <a:rPr b="1" lang="es" sz="1558">
                <a:solidFill>
                  <a:schemeClr val="dk1"/>
                </a:solidFill>
              </a:rPr>
              <a:t>G =  (V</a:t>
            </a:r>
            <a:r>
              <a:rPr b="1" baseline="-25000" lang="es" sz="1558">
                <a:solidFill>
                  <a:schemeClr val="dk1"/>
                </a:solidFill>
              </a:rPr>
              <a:t>n</a:t>
            </a:r>
            <a:r>
              <a:rPr b="1" lang="es" sz="1558">
                <a:solidFill>
                  <a:schemeClr val="dk1"/>
                </a:solidFill>
              </a:rPr>
              <a:t>, </a:t>
            </a:r>
            <a:r>
              <a:rPr b="1" lang="es" sz="1558">
                <a:solidFill>
                  <a:schemeClr val="dk1"/>
                </a:solidFill>
              </a:rPr>
              <a:t>V</a:t>
            </a:r>
            <a:r>
              <a:rPr b="1" baseline="-25000" lang="es" sz="1558">
                <a:solidFill>
                  <a:schemeClr val="dk1"/>
                </a:solidFill>
              </a:rPr>
              <a:t>t </a:t>
            </a:r>
            <a:r>
              <a:rPr b="1" lang="es" sz="1558">
                <a:solidFill>
                  <a:schemeClr val="dk1"/>
                </a:solidFill>
              </a:rPr>
              <a:t>, S, P)</a:t>
            </a:r>
            <a:r>
              <a:rPr lang="es" sz="1558">
                <a:solidFill>
                  <a:schemeClr val="dk1"/>
                </a:solidFill>
              </a:rPr>
              <a:t> obtengo un AF </a:t>
            </a:r>
            <a:r>
              <a:rPr b="1" lang="es" sz="1558">
                <a:solidFill>
                  <a:schemeClr val="dk1"/>
                </a:solidFill>
              </a:rPr>
              <a:t>M = (K, Σ, δ, S</a:t>
            </a:r>
            <a:r>
              <a:rPr b="1" lang="es" sz="1558">
                <a:solidFill>
                  <a:schemeClr val="dk1"/>
                </a:solidFill>
              </a:rPr>
              <a:t>, F</a:t>
            </a:r>
            <a:r>
              <a:rPr b="1" lang="es" sz="1558">
                <a:solidFill>
                  <a:schemeClr val="dk1"/>
                </a:solidFill>
              </a:rPr>
              <a:t>)</a:t>
            </a:r>
            <a:r>
              <a:rPr lang="es" sz="1558">
                <a:solidFill>
                  <a:schemeClr val="dk1"/>
                </a:solidFill>
              </a:rPr>
              <a:t> donde:</a:t>
            </a:r>
            <a:endParaRPr sz="1558">
              <a:solidFill>
                <a:schemeClr val="dk1"/>
              </a:solidFill>
            </a:endParaRPr>
          </a:p>
          <a:p>
            <a:pPr indent="-3304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1887">
                <a:solidFill>
                  <a:schemeClr val="dk1"/>
                </a:solidFill>
              </a:rPr>
              <a:t>K = V</a:t>
            </a:r>
            <a:r>
              <a:rPr baseline="-25000" lang="es" sz="1887">
                <a:solidFill>
                  <a:schemeClr val="dk1"/>
                </a:solidFill>
              </a:rPr>
              <a:t>n</a:t>
            </a:r>
            <a:r>
              <a:rPr lang="es" sz="1887">
                <a:solidFill>
                  <a:schemeClr val="dk1"/>
                </a:solidFill>
              </a:rPr>
              <a:t> U {A} </a:t>
            </a:r>
            <a:endParaRPr sz="1887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		</a:t>
            </a:r>
            <a:endParaRPr sz="1500">
              <a:solidFill>
                <a:schemeClr val="dk1"/>
              </a:solidFill>
            </a:endParaRPr>
          </a:p>
          <a:p>
            <a:pPr indent="-30956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1500">
                <a:solidFill>
                  <a:schemeClr val="dk1"/>
                </a:solidFill>
              </a:rPr>
              <a:t>Σ = </a:t>
            </a:r>
            <a:r>
              <a:rPr lang="es" sz="1500">
                <a:solidFill>
                  <a:schemeClr val="dk1"/>
                </a:solidFill>
              </a:rPr>
              <a:t>V</a:t>
            </a:r>
            <a:r>
              <a:rPr baseline="-25000" lang="es" sz="1500">
                <a:solidFill>
                  <a:schemeClr val="dk1"/>
                </a:solidFill>
              </a:rPr>
              <a:t>t </a:t>
            </a:r>
            <a:r>
              <a:rPr lang="es" sz="1500">
                <a:solidFill>
                  <a:schemeClr val="dk1"/>
                </a:solidFill>
              </a:rPr>
              <a:t> 	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		</a:t>
            </a:r>
            <a:endParaRPr sz="1500">
              <a:solidFill>
                <a:schemeClr val="dk1"/>
              </a:solidFill>
            </a:endParaRPr>
          </a:p>
          <a:p>
            <a:pPr indent="-30956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1500">
                <a:solidFill>
                  <a:schemeClr val="dk1"/>
                </a:solidFill>
              </a:rPr>
              <a:t>F = {A} U {S} (</a:t>
            </a:r>
            <a:r>
              <a:rPr i="1" lang="es" sz="1500">
                <a:solidFill>
                  <a:schemeClr val="dk1"/>
                </a:solidFill>
              </a:rPr>
              <a:t>si S → </a:t>
            </a:r>
            <a:r>
              <a:rPr lang="es" sz="1500">
                <a:solidFill>
                  <a:schemeClr val="dk1"/>
                </a:solidFill>
              </a:rPr>
              <a:t>λ </a:t>
            </a:r>
            <a:r>
              <a:rPr b="1" lang="es" sz="1500">
                <a:solidFill>
                  <a:schemeClr val="dk1"/>
                </a:solidFill>
              </a:rPr>
              <a:t>∊ P</a:t>
            </a:r>
            <a:r>
              <a:rPr lang="es" sz="1500">
                <a:solidFill>
                  <a:schemeClr val="dk1"/>
                </a:solidFill>
              </a:rPr>
              <a:t>), si no F = {A}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0956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1500">
                <a:solidFill>
                  <a:schemeClr val="dk1"/>
                </a:solidFill>
              </a:rPr>
              <a:t>Luego, por cada </a:t>
            </a:r>
            <a:r>
              <a:rPr b="1" lang="es" sz="1500">
                <a:solidFill>
                  <a:schemeClr val="dk1"/>
                </a:solidFill>
              </a:rPr>
              <a:t>producción en P</a:t>
            </a:r>
            <a:endParaRPr b="1" sz="1500">
              <a:solidFill>
                <a:schemeClr val="dk1"/>
              </a:solidFill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1500">
                <a:solidFill>
                  <a:schemeClr val="dk1"/>
                </a:solidFill>
              </a:rPr>
              <a:t>Si la producción es B → a	entonces δ(B,a) </a:t>
            </a:r>
            <a:r>
              <a:rPr b="1" lang="es" sz="1500">
                <a:solidFill>
                  <a:schemeClr val="dk1"/>
                </a:solidFill>
              </a:rPr>
              <a:t>⊇</a:t>
            </a:r>
            <a:r>
              <a:rPr lang="es" sz="1500">
                <a:solidFill>
                  <a:schemeClr val="dk1"/>
                </a:solidFill>
              </a:rPr>
              <a:t> {A}</a:t>
            </a:r>
            <a:endParaRPr sz="1500">
              <a:solidFill>
                <a:schemeClr val="dk1"/>
              </a:solidFill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1500">
                <a:solidFill>
                  <a:schemeClr val="dk1"/>
                </a:solidFill>
              </a:rPr>
              <a:t>Si la producción es B → aC	entonces δ(B,a) </a:t>
            </a:r>
            <a:r>
              <a:rPr b="1" lang="es" sz="1500">
                <a:solidFill>
                  <a:schemeClr val="dk1"/>
                </a:solidFill>
              </a:rPr>
              <a:t>⊇</a:t>
            </a:r>
            <a:r>
              <a:rPr lang="es" sz="1500">
                <a:solidFill>
                  <a:schemeClr val="dk1"/>
                </a:solidFill>
              </a:rPr>
              <a:t> {C}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379325" y="3720900"/>
            <a:ext cx="1497000" cy="77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Por </a:t>
            </a:r>
            <a:r>
              <a:rPr lang="es" sz="900"/>
              <a:t>qué</a:t>
            </a:r>
            <a:r>
              <a:rPr lang="es" sz="900"/>
              <a:t> usamos </a:t>
            </a:r>
            <a:r>
              <a:rPr b="1" lang="es" sz="1000">
                <a:solidFill>
                  <a:schemeClr val="lt1"/>
                </a:solidFill>
              </a:rPr>
              <a:t>⊇?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El </a:t>
            </a:r>
            <a:r>
              <a:rPr lang="es" sz="900"/>
              <a:t>autómata</a:t>
            </a:r>
            <a:r>
              <a:rPr lang="es" sz="900"/>
              <a:t> M </a:t>
            </a:r>
            <a:r>
              <a:rPr lang="es" sz="900"/>
              <a:t>será</a:t>
            </a:r>
            <a:r>
              <a:rPr lang="es" sz="900"/>
              <a:t> determinista?</a:t>
            </a:r>
            <a:r>
              <a:rPr lang="es" sz="900"/>
              <a:t> </a:t>
            </a:r>
            <a:endParaRPr sz="900"/>
          </a:p>
        </p:txBody>
      </p:sp>
      <p:sp>
        <p:nvSpPr>
          <p:cNvPr id="81" name="Google Shape;81;p17"/>
          <p:cNvSpPr/>
          <p:nvPr/>
        </p:nvSpPr>
        <p:spPr>
          <a:xfrm>
            <a:off x="5362000" y="3950250"/>
            <a:ext cx="967200" cy="31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5858750" y="1448700"/>
            <a:ext cx="3076500" cy="1229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300">
                <a:solidFill>
                  <a:schemeClr val="dk1"/>
                </a:solidFill>
              </a:rPr>
              <a:t>E</a:t>
            </a:r>
            <a:r>
              <a:rPr i="1" lang="es" sz="1300">
                <a:solidFill>
                  <a:schemeClr val="dk1"/>
                </a:solidFill>
              </a:rPr>
              <a:t>s decir, por cada no terminal en G creo un estado en M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300">
                <a:solidFill>
                  <a:schemeClr val="dk1"/>
                </a:solidFill>
              </a:rPr>
              <a:t>Luego agrego uno más llamado A (este nuevo estado no debe pertenecer a V</a:t>
            </a:r>
            <a:r>
              <a:rPr baseline="-25000" i="1" lang="es" sz="1300">
                <a:solidFill>
                  <a:schemeClr val="dk1"/>
                </a:solidFill>
              </a:rPr>
              <a:t>n</a:t>
            </a:r>
            <a:r>
              <a:rPr i="1" lang="es" sz="1300">
                <a:solidFill>
                  <a:schemeClr val="dk1"/>
                </a:solidFill>
              </a:rPr>
              <a:t>)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2712450" y="1997150"/>
            <a:ext cx="2820900" cy="615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 sz="1300">
                <a:solidFill>
                  <a:schemeClr val="dk1"/>
                </a:solidFill>
              </a:rPr>
              <a:t>el </a:t>
            </a:r>
            <a:r>
              <a:rPr i="1" lang="es" sz="1300">
                <a:solidFill>
                  <a:schemeClr val="dk1"/>
                </a:solidFill>
              </a:rPr>
              <a:t>alfabeto del autómata serán los terminales de G</a:t>
            </a:r>
            <a:endParaRPr sz="900"/>
          </a:p>
        </p:txBody>
      </p:sp>
      <p:sp>
        <p:nvSpPr>
          <p:cNvPr id="84" name="Google Shape;84;p17"/>
          <p:cNvSpPr txBox="1"/>
          <p:nvPr/>
        </p:nvSpPr>
        <p:spPr>
          <a:xfrm>
            <a:off x="3982250" y="2825463"/>
            <a:ext cx="3000000" cy="615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 sz="1300">
                <a:solidFill>
                  <a:schemeClr val="dk1"/>
                </a:solidFill>
              </a:rPr>
              <a:t>el estado A será el que me “indica” cuáles cadenas son aceptadas</a:t>
            </a:r>
            <a:endParaRPr sz="900"/>
          </a:p>
        </p:txBody>
      </p:sp>
      <p:sp>
        <p:nvSpPr>
          <p:cNvPr id="85" name="Google Shape;85;p17"/>
          <p:cNvSpPr/>
          <p:nvPr/>
        </p:nvSpPr>
        <p:spPr>
          <a:xfrm>
            <a:off x="2010125" y="1575034"/>
            <a:ext cx="3770400" cy="20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1382225" y="2280500"/>
            <a:ext cx="1242600" cy="20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988950" y="4555175"/>
            <a:ext cx="6267900" cy="615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</a:rPr>
              <a:t>Importante: </a:t>
            </a:r>
            <a:r>
              <a:rPr i="1" lang="es" sz="1300">
                <a:solidFill>
                  <a:schemeClr val="dk1"/>
                </a:solidFill>
              </a:rPr>
              <a:t>En el caso de que en </a:t>
            </a:r>
            <a:r>
              <a:rPr b="1" i="1" lang="es" sz="1300">
                <a:solidFill>
                  <a:schemeClr val="dk1"/>
                </a:solidFill>
              </a:rPr>
              <a:t>P</a:t>
            </a:r>
            <a:r>
              <a:rPr i="1" lang="es" sz="1300">
                <a:solidFill>
                  <a:schemeClr val="dk1"/>
                </a:solidFill>
              </a:rPr>
              <a:t> existan B → a, y B → aC </a:t>
            </a:r>
            <a:r>
              <a:rPr i="1" lang="es" sz="1300">
                <a:solidFill>
                  <a:schemeClr val="dk1"/>
                </a:solidFill>
              </a:rPr>
              <a:t>simultáneamente, se deben agregar ambas transiciones en </a:t>
            </a:r>
            <a:r>
              <a:rPr b="1" lang="es" sz="1558">
                <a:solidFill>
                  <a:schemeClr val="dk1"/>
                </a:solidFill>
              </a:rPr>
              <a:t>δ</a:t>
            </a:r>
            <a:endParaRPr i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1: De GR a AFD - Método 1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6028200" cy="37260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Siguiendo el algoritmo de la diapositiva anterior: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M = (</a:t>
            </a:r>
            <a:r>
              <a:rPr lang="es">
                <a:solidFill>
                  <a:schemeClr val="dk1"/>
                </a:solidFill>
              </a:rPr>
              <a:t>K, Σ, δ, S, F</a:t>
            </a:r>
            <a:r>
              <a:rPr lang="es" sz="1700">
                <a:solidFill>
                  <a:schemeClr val="dk1"/>
                </a:solidFill>
              </a:rPr>
              <a:t>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s" sz="1700">
                <a:solidFill>
                  <a:schemeClr val="dk1"/>
                </a:solidFill>
              </a:rPr>
              <a:t>K = V</a:t>
            </a:r>
            <a:r>
              <a:rPr baseline="-25000" lang="es" sz="1700">
                <a:solidFill>
                  <a:schemeClr val="dk1"/>
                </a:solidFill>
              </a:rPr>
              <a:t>n</a:t>
            </a:r>
            <a:r>
              <a:rPr lang="es" sz="1700">
                <a:solidFill>
                  <a:schemeClr val="dk1"/>
                </a:solidFill>
              </a:rPr>
              <a:t> U </a:t>
            </a:r>
            <a:r>
              <a:rPr b="1" lang="es" sz="1700">
                <a:solidFill>
                  <a:schemeClr val="dk1"/>
                </a:solidFill>
              </a:rPr>
              <a:t>{C}</a:t>
            </a:r>
            <a:r>
              <a:rPr lang="es" sz="1700">
                <a:solidFill>
                  <a:schemeClr val="dk1"/>
                </a:solidFill>
              </a:rPr>
              <a:t> = {S, A, B, C}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s">
                <a:solidFill>
                  <a:schemeClr val="dk1"/>
                </a:solidFill>
              </a:rPr>
              <a:t>Σ = 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 = {0, 1, 2}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F = </a:t>
            </a:r>
            <a:r>
              <a:rPr b="1" lang="es">
                <a:solidFill>
                  <a:schemeClr val="dk1"/>
                </a:solidFill>
              </a:rPr>
              <a:t>{C}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Analizo P: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>
                <a:solidFill>
                  <a:schemeClr val="dk1"/>
                </a:solidFill>
              </a:rPr>
              <a:t>S → 2A	</a:t>
            </a:r>
            <a:r>
              <a:rPr lang="es" sz="1500">
                <a:solidFill>
                  <a:schemeClr val="dk1"/>
                </a:solidFill>
              </a:rPr>
              <a:t>δ(S,2) </a:t>
            </a:r>
            <a:r>
              <a:rPr b="1" lang="es" sz="1500">
                <a:solidFill>
                  <a:schemeClr val="dk1"/>
                </a:solidFill>
              </a:rPr>
              <a:t>⊇</a:t>
            </a:r>
            <a:r>
              <a:rPr lang="es" sz="1500">
                <a:solidFill>
                  <a:schemeClr val="dk1"/>
                </a:solidFill>
              </a:rPr>
              <a:t> {A}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A → 0A 	δ(A,0) </a:t>
            </a:r>
            <a:r>
              <a:rPr b="1" lang="es" sz="1500">
                <a:solidFill>
                  <a:schemeClr val="dk1"/>
                </a:solidFill>
              </a:rPr>
              <a:t>⊇</a:t>
            </a:r>
            <a:r>
              <a:rPr lang="es" sz="1500">
                <a:solidFill>
                  <a:schemeClr val="dk1"/>
                </a:solidFill>
              </a:rPr>
              <a:t> {A}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A → 0B 	δ(A,0) </a:t>
            </a:r>
            <a:r>
              <a:rPr b="1" lang="es" sz="1500">
                <a:solidFill>
                  <a:schemeClr val="dk1"/>
                </a:solidFill>
              </a:rPr>
              <a:t>⊇</a:t>
            </a:r>
            <a:r>
              <a:rPr lang="es" sz="1500">
                <a:solidFill>
                  <a:schemeClr val="dk1"/>
                </a:solidFill>
              </a:rPr>
              <a:t> {B}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B → 1A 	δ(B,1) </a:t>
            </a:r>
            <a:r>
              <a:rPr b="1" lang="es" sz="1500">
                <a:solidFill>
                  <a:schemeClr val="dk1"/>
                </a:solidFill>
              </a:rPr>
              <a:t>⊇</a:t>
            </a:r>
            <a:r>
              <a:rPr lang="es" sz="1500">
                <a:solidFill>
                  <a:schemeClr val="dk1"/>
                </a:solidFill>
              </a:rPr>
              <a:t> {A}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B → 1	δ(B,1) </a:t>
            </a:r>
            <a:r>
              <a:rPr b="1" lang="es" sz="1500">
                <a:solidFill>
                  <a:schemeClr val="dk1"/>
                </a:solidFill>
              </a:rPr>
              <a:t>⊇</a:t>
            </a:r>
            <a:r>
              <a:rPr lang="es" sz="1500">
                <a:solidFill>
                  <a:schemeClr val="dk1"/>
                </a:solidFill>
              </a:rPr>
              <a:t> {C}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339900" y="0"/>
            <a:ext cx="28041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Considere la gramática regular  G = (V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, 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, S, P) donde: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V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 = {S, A, B}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  = {0, 1, 2}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P: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S → 2A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A → 0A | 0B	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B -&gt; 1A | 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3345425" y="3245125"/>
            <a:ext cx="222000" cy="1303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6" name="Google Shape;96;p18"/>
          <p:cNvGraphicFramePr/>
          <p:nvPr/>
        </p:nvGraphicFramePr>
        <p:xfrm>
          <a:off x="3686700" y="26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{2C708A36-3639-44AA-9ACF-2EF4E89BAE6D}</a:tableStyleId>
              </a:tblPr>
              <a:tblGrid>
                <a:gridCol w="645675"/>
                <a:gridCol w="645675"/>
                <a:gridCol w="645675"/>
                <a:gridCol w="6456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800">
                          <a:solidFill>
                            <a:schemeClr val="accent2"/>
                          </a:solidFill>
                        </a:rPr>
                        <a:t>δ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S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{A}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A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{A,B}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B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{A,C}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C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2"/>
                          </a:solidFill>
                        </a:rPr>
                        <a:t>-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7" name="Google Shape;97;p18"/>
          <p:cNvSpPr txBox="1"/>
          <p:nvPr/>
        </p:nvSpPr>
        <p:spPr>
          <a:xfrm>
            <a:off x="6516225" y="2925875"/>
            <a:ext cx="24237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Observación</a:t>
            </a:r>
            <a:r>
              <a:rPr b="1" lang="es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El estado nuevo que creamos como aceptador es </a:t>
            </a:r>
            <a:r>
              <a:rPr b="1" i="1" lang="es">
                <a:solidFill>
                  <a:schemeClr val="dk1"/>
                </a:solidFill>
              </a:rPr>
              <a:t>C</a:t>
            </a:r>
            <a:r>
              <a:rPr i="1" lang="es">
                <a:solidFill>
                  <a:schemeClr val="dk1"/>
                </a:solidFill>
              </a:rPr>
              <a:t>.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1: De GR a AFD - Método 1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768900" y="1381075"/>
            <a:ext cx="5154300" cy="28521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4" name="Google Shape;104;p19"/>
          <p:cNvSpPr txBox="1"/>
          <p:nvPr/>
        </p:nvSpPr>
        <p:spPr>
          <a:xfrm>
            <a:off x="6339900" y="0"/>
            <a:ext cx="28041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Considere la gramática regular  G = (V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, 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, S, P) donde: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V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 = {S, A, B}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  = {0, 1, 2}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P: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S → 2A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A → 0A | 0B	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B -&gt; 1A | 1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800" y="1457325"/>
            <a:ext cx="499110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I: GR → AF - </a:t>
            </a:r>
            <a:r>
              <a:rPr lang="es"/>
              <a:t>Método</a:t>
            </a:r>
            <a:r>
              <a:rPr lang="es"/>
              <a:t> 2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Otra forma de conseguir un </a:t>
            </a:r>
            <a:r>
              <a:rPr i="1" lang="es">
                <a:solidFill>
                  <a:schemeClr val="dk1"/>
                </a:solidFill>
              </a:rPr>
              <a:t>autómata</a:t>
            </a:r>
            <a:r>
              <a:rPr i="1" lang="es">
                <a:solidFill>
                  <a:schemeClr val="dk1"/>
                </a:solidFill>
              </a:rPr>
              <a:t> M que reconozca a L(G) consiste en primero entender el lenguaje en </a:t>
            </a:r>
            <a:r>
              <a:rPr i="1" lang="es">
                <a:solidFill>
                  <a:schemeClr val="dk1"/>
                </a:solidFill>
              </a:rPr>
              <a:t>sí</a:t>
            </a:r>
            <a:r>
              <a:rPr i="1" lang="es">
                <a:solidFill>
                  <a:schemeClr val="dk1"/>
                </a:solidFill>
              </a:rPr>
              <a:t> mismo, para luego definir M que reconozca ese lenguaje.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752175" y="2822500"/>
            <a:ext cx="1991400" cy="11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Gramática</a:t>
            </a:r>
            <a:r>
              <a:rPr lang="es"/>
              <a:t> Regular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</a:t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3347400" y="2822500"/>
            <a:ext cx="1991400" cy="11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 L(G)</a:t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5942625" y="2822500"/>
            <a:ext cx="1991400" cy="11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Autómata</a:t>
            </a:r>
            <a:r>
              <a:rPr lang="es"/>
              <a:t> Finito M</a:t>
            </a:r>
            <a:endParaRPr/>
          </a:p>
        </p:txBody>
      </p:sp>
      <p:cxnSp>
        <p:nvCxnSpPr>
          <p:cNvPr id="115" name="Google Shape;115;p20"/>
          <p:cNvCxnSpPr>
            <a:stCxn id="112" idx="3"/>
            <a:endCxn id="113" idx="1"/>
          </p:cNvCxnSpPr>
          <p:nvPr/>
        </p:nvCxnSpPr>
        <p:spPr>
          <a:xfrm>
            <a:off x="2743575" y="3374050"/>
            <a:ext cx="603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20"/>
          <p:cNvCxnSpPr>
            <a:stCxn id="113" idx="3"/>
            <a:endCxn id="114" idx="1"/>
          </p:cNvCxnSpPr>
          <p:nvPr/>
        </p:nvCxnSpPr>
        <p:spPr>
          <a:xfrm>
            <a:off x="5338800" y="3374050"/>
            <a:ext cx="603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20"/>
          <p:cNvSpPr txBox="1"/>
          <p:nvPr/>
        </p:nvSpPr>
        <p:spPr>
          <a:xfrm>
            <a:off x="1977175" y="4276700"/>
            <a:ext cx="22206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Árbol</a:t>
            </a:r>
            <a:r>
              <a:rPr lang="es" sz="1800">
                <a:solidFill>
                  <a:schemeClr val="lt2"/>
                </a:solidFill>
              </a:rPr>
              <a:t> de </a:t>
            </a:r>
            <a:r>
              <a:rPr lang="es" sz="1800">
                <a:solidFill>
                  <a:schemeClr val="lt2"/>
                </a:solidFill>
              </a:rPr>
              <a:t>derivación</a:t>
            </a:r>
            <a:r>
              <a:rPr lang="es" sz="1800">
                <a:solidFill>
                  <a:schemeClr val="lt2"/>
                </a:solidFill>
              </a:rPr>
              <a:t>!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118" name="Google Shape;118;p20"/>
          <p:cNvCxnSpPr>
            <a:stCxn id="117" idx="0"/>
          </p:cNvCxnSpPr>
          <p:nvPr/>
        </p:nvCxnSpPr>
        <p:spPr>
          <a:xfrm rot="10800000">
            <a:off x="3087475" y="3445700"/>
            <a:ext cx="0" cy="8310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I: De GR a AF - Método 2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232900" y="1116650"/>
            <a:ext cx="5799000" cy="38979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/>
              <a:t>Primero defino el árbol de derivación para “entender” el lenguaje L(G):</a:t>
            </a:r>
            <a:endParaRPr i="1" sz="1500"/>
          </a:p>
          <a:p>
            <a:pPr indent="0" lvl="0" marL="0" rtl="0" algn="just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125" name="Google Shape;125;p21"/>
          <p:cNvSpPr txBox="1"/>
          <p:nvPr/>
        </p:nvSpPr>
        <p:spPr>
          <a:xfrm>
            <a:off x="6110575" y="0"/>
            <a:ext cx="30000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2"/>
                </a:solidFill>
              </a:rPr>
              <a:t>Considere la gramática regular G = (V</a:t>
            </a:r>
            <a:r>
              <a:rPr baseline="-25000" lang="es" sz="1200">
                <a:solidFill>
                  <a:schemeClr val="lt2"/>
                </a:solidFill>
              </a:rPr>
              <a:t>n</a:t>
            </a:r>
            <a:r>
              <a:rPr lang="es" sz="1200">
                <a:solidFill>
                  <a:schemeClr val="lt2"/>
                </a:solidFill>
              </a:rPr>
              <a:t>, V</a:t>
            </a:r>
            <a:r>
              <a:rPr baseline="-25000" lang="es" sz="1200">
                <a:solidFill>
                  <a:schemeClr val="lt2"/>
                </a:solidFill>
              </a:rPr>
              <a:t>t</a:t>
            </a:r>
            <a:r>
              <a:rPr lang="es" sz="1200">
                <a:solidFill>
                  <a:schemeClr val="lt2"/>
                </a:solidFill>
              </a:rPr>
              <a:t>, S, P) donde: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V</a:t>
            </a:r>
            <a:r>
              <a:rPr baseline="-25000" lang="es" sz="1200">
                <a:solidFill>
                  <a:schemeClr val="lt2"/>
                </a:solidFill>
              </a:rPr>
              <a:t>n</a:t>
            </a:r>
            <a:r>
              <a:rPr lang="es" sz="1200">
                <a:solidFill>
                  <a:schemeClr val="lt2"/>
                </a:solidFill>
              </a:rPr>
              <a:t> = {S, A, B}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V</a:t>
            </a:r>
            <a:r>
              <a:rPr baseline="-25000" lang="es" sz="1200">
                <a:solidFill>
                  <a:schemeClr val="lt2"/>
                </a:solidFill>
              </a:rPr>
              <a:t>t</a:t>
            </a:r>
            <a:r>
              <a:rPr lang="es" sz="1200">
                <a:solidFill>
                  <a:schemeClr val="lt2"/>
                </a:solidFill>
              </a:rPr>
              <a:t>  = {0, 1,2}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P: </a:t>
            </a:r>
            <a:endParaRPr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S → 2A</a:t>
            </a:r>
            <a:endParaRPr b="1"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A → 0A | 0B		</a:t>
            </a:r>
            <a:endParaRPr b="1"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B → 1A | 1</a:t>
            </a:r>
            <a:endParaRPr b="1"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2743675" y="1534038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2743675" y="2050375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cxnSp>
        <p:nvCxnSpPr>
          <p:cNvPr id="128" name="Google Shape;128;p21"/>
          <p:cNvCxnSpPr>
            <a:stCxn id="126" idx="2"/>
            <a:endCxn id="127" idx="0"/>
          </p:cNvCxnSpPr>
          <p:nvPr/>
        </p:nvCxnSpPr>
        <p:spPr>
          <a:xfrm>
            <a:off x="3101875" y="1963938"/>
            <a:ext cx="0" cy="8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1"/>
          <p:cNvSpPr txBox="1"/>
          <p:nvPr/>
        </p:nvSpPr>
        <p:spPr>
          <a:xfrm>
            <a:off x="2027275" y="2565025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</a:t>
            </a:r>
            <a:r>
              <a:rPr lang="es" sz="1800">
                <a:solidFill>
                  <a:schemeClr val="dk1"/>
                </a:solidFill>
              </a:rPr>
              <a:t>0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363675" y="2565025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</a:t>
            </a:r>
            <a:r>
              <a:rPr lang="es" sz="1800" u="sng">
                <a:solidFill>
                  <a:schemeClr val="dk1"/>
                </a:solidFill>
              </a:rPr>
              <a:t>B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4572000" y="3191475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</a:t>
            </a:r>
            <a:r>
              <a:rPr lang="es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363675" y="322727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1307650" y="319147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200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2284213" y="319147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200</a:t>
            </a:r>
            <a:r>
              <a:rPr lang="es" sz="1800" u="sng">
                <a:solidFill>
                  <a:schemeClr val="dk1"/>
                </a:solidFill>
              </a:rPr>
              <a:t>B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1307650" y="4017250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20..0</a:t>
            </a:r>
            <a:r>
              <a:rPr lang="es" sz="1800" u="sng">
                <a:solidFill>
                  <a:schemeClr val="dk1"/>
                </a:solidFill>
              </a:rPr>
              <a:t>B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3015263" y="388952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200</a:t>
            </a:r>
            <a:r>
              <a:rPr lang="es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37" name="Google Shape;137;p21"/>
          <p:cNvCxnSpPr>
            <a:stCxn id="134" idx="2"/>
            <a:endCxn id="136" idx="0"/>
          </p:cNvCxnSpPr>
          <p:nvPr/>
        </p:nvCxnSpPr>
        <p:spPr>
          <a:xfrm>
            <a:off x="2745313" y="3621375"/>
            <a:ext cx="731100" cy="26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1"/>
          <p:cNvSpPr txBox="1"/>
          <p:nvPr/>
        </p:nvSpPr>
        <p:spPr>
          <a:xfrm>
            <a:off x="2441463" y="433257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2001A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39" name="Google Shape;139;p21"/>
          <p:cNvCxnSpPr>
            <a:stCxn id="134" idx="2"/>
            <a:endCxn id="138" idx="0"/>
          </p:cNvCxnSpPr>
          <p:nvPr/>
        </p:nvCxnSpPr>
        <p:spPr>
          <a:xfrm>
            <a:off x="2745313" y="3621375"/>
            <a:ext cx="157200" cy="71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1"/>
          <p:cNvSpPr txBox="1"/>
          <p:nvPr/>
        </p:nvSpPr>
        <p:spPr>
          <a:xfrm>
            <a:off x="4050225" y="3859650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</a:t>
            </a:r>
            <a:r>
              <a:rPr lang="es" sz="1800">
                <a:solidFill>
                  <a:schemeClr val="dk1"/>
                </a:solidFill>
              </a:rPr>
              <a:t>0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5047925" y="3859650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2010</a:t>
            </a:r>
            <a:r>
              <a:rPr lang="es" sz="1800" u="sng">
                <a:solidFill>
                  <a:schemeClr val="dk1"/>
                </a:solidFill>
              </a:rPr>
              <a:t>B</a:t>
            </a:r>
            <a:endParaRPr sz="1800" u="sng">
              <a:solidFill>
                <a:schemeClr val="dk1"/>
              </a:solidFill>
            </a:endParaRPr>
          </a:p>
        </p:txBody>
      </p:sp>
      <p:cxnSp>
        <p:nvCxnSpPr>
          <p:cNvPr id="142" name="Google Shape;142;p21"/>
          <p:cNvCxnSpPr>
            <a:stCxn id="132" idx="2"/>
            <a:endCxn id="140" idx="0"/>
          </p:cNvCxnSpPr>
          <p:nvPr/>
        </p:nvCxnSpPr>
        <p:spPr>
          <a:xfrm>
            <a:off x="3824775" y="3657175"/>
            <a:ext cx="686700" cy="20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1"/>
          <p:cNvCxnSpPr>
            <a:stCxn id="132" idx="2"/>
            <a:endCxn id="141" idx="0"/>
          </p:cNvCxnSpPr>
          <p:nvPr/>
        </p:nvCxnSpPr>
        <p:spPr>
          <a:xfrm>
            <a:off x="3824775" y="3657175"/>
            <a:ext cx="1684200" cy="20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1"/>
          <p:cNvSpPr txBox="1"/>
          <p:nvPr/>
        </p:nvSpPr>
        <p:spPr>
          <a:xfrm>
            <a:off x="5047925" y="4461550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2010</a:t>
            </a:r>
            <a:r>
              <a:rPr lang="es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45" name="Google Shape;145;p21"/>
          <p:cNvCxnSpPr>
            <a:stCxn id="144" idx="0"/>
            <a:endCxn id="144" idx="0"/>
          </p:cNvCxnSpPr>
          <p:nvPr/>
        </p:nvCxnSpPr>
        <p:spPr>
          <a:xfrm>
            <a:off x="5509025" y="44615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1"/>
          <p:cNvCxnSpPr>
            <a:stCxn id="127" idx="2"/>
            <a:endCxn id="129" idx="0"/>
          </p:cNvCxnSpPr>
          <p:nvPr/>
        </p:nvCxnSpPr>
        <p:spPr>
          <a:xfrm flipH="1">
            <a:off x="2385475" y="2480275"/>
            <a:ext cx="716400" cy="8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1"/>
          <p:cNvCxnSpPr>
            <a:stCxn id="127" idx="2"/>
            <a:endCxn id="130" idx="0"/>
          </p:cNvCxnSpPr>
          <p:nvPr/>
        </p:nvCxnSpPr>
        <p:spPr>
          <a:xfrm>
            <a:off x="3101875" y="2480275"/>
            <a:ext cx="620100" cy="8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1"/>
          <p:cNvCxnSpPr>
            <a:stCxn id="129" idx="2"/>
            <a:endCxn id="133" idx="0"/>
          </p:cNvCxnSpPr>
          <p:nvPr/>
        </p:nvCxnSpPr>
        <p:spPr>
          <a:xfrm flipH="1">
            <a:off x="1768675" y="2994925"/>
            <a:ext cx="616800" cy="1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1"/>
          <p:cNvCxnSpPr>
            <a:stCxn id="129" idx="2"/>
            <a:endCxn id="134" idx="0"/>
          </p:cNvCxnSpPr>
          <p:nvPr/>
        </p:nvCxnSpPr>
        <p:spPr>
          <a:xfrm>
            <a:off x="2385475" y="2994925"/>
            <a:ext cx="359700" cy="1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1"/>
          <p:cNvCxnSpPr>
            <a:stCxn id="133" idx="2"/>
            <a:endCxn id="135" idx="0"/>
          </p:cNvCxnSpPr>
          <p:nvPr/>
        </p:nvCxnSpPr>
        <p:spPr>
          <a:xfrm>
            <a:off x="1768750" y="3621375"/>
            <a:ext cx="0" cy="3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1"/>
          <p:cNvCxnSpPr>
            <a:stCxn id="130" idx="2"/>
            <a:endCxn id="132" idx="0"/>
          </p:cNvCxnSpPr>
          <p:nvPr/>
        </p:nvCxnSpPr>
        <p:spPr>
          <a:xfrm>
            <a:off x="3721875" y="2994925"/>
            <a:ext cx="102900" cy="23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1"/>
          <p:cNvCxnSpPr>
            <a:stCxn id="130" idx="2"/>
            <a:endCxn id="131" idx="0"/>
          </p:cNvCxnSpPr>
          <p:nvPr/>
        </p:nvCxnSpPr>
        <p:spPr>
          <a:xfrm>
            <a:off x="3721875" y="2994925"/>
            <a:ext cx="1208400" cy="1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1"/>
          <p:cNvCxnSpPr>
            <a:stCxn id="141" idx="2"/>
            <a:endCxn id="144" idx="0"/>
          </p:cNvCxnSpPr>
          <p:nvPr/>
        </p:nvCxnSpPr>
        <p:spPr>
          <a:xfrm>
            <a:off x="5509025" y="4289550"/>
            <a:ext cx="0" cy="17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I: De GR a AF - Método 2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232900" y="1116650"/>
            <a:ext cx="5799000" cy="3897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/>
              <a:t>Primero defino el árbol de derivación para “entender” el lenguaje L(G):</a:t>
            </a:r>
            <a:endParaRPr i="1" sz="1500"/>
          </a:p>
          <a:p>
            <a:pPr indent="0" lvl="0" marL="0" rtl="0" algn="just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160" name="Google Shape;160;p22"/>
          <p:cNvSpPr txBox="1"/>
          <p:nvPr/>
        </p:nvSpPr>
        <p:spPr>
          <a:xfrm>
            <a:off x="6110575" y="0"/>
            <a:ext cx="30000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2"/>
                </a:solidFill>
              </a:rPr>
              <a:t>Considere la gramática regular G = (V</a:t>
            </a:r>
            <a:r>
              <a:rPr baseline="-25000" lang="es" sz="1200">
                <a:solidFill>
                  <a:schemeClr val="lt2"/>
                </a:solidFill>
              </a:rPr>
              <a:t>n</a:t>
            </a:r>
            <a:r>
              <a:rPr lang="es" sz="1200">
                <a:solidFill>
                  <a:schemeClr val="lt2"/>
                </a:solidFill>
              </a:rPr>
              <a:t>, V</a:t>
            </a:r>
            <a:r>
              <a:rPr baseline="-25000" lang="es" sz="1200">
                <a:solidFill>
                  <a:schemeClr val="lt2"/>
                </a:solidFill>
              </a:rPr>
              <a:t>t</a:t>
            </a:r>
            <a:r>
              <a:rPr lang="es" sz="1200">
                <a:solidFill>
                  <a:schemeClr val="lt2"/>
                </a:solidFill>
              </a:rPr>
              <a:t>, S, P) donde: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V</a:t>
            </a:r>
            <a:r>
              <a:rPr baseline="-25000" lang="es" sz="1200">
                <a:solidFill>
                  <a:schemeClr val="lt2"/>
                </a:solidFill>
              </a:rPr>
              <a:t>n</a:t>
            </a:r>
            <a:r>
              <a:rPr lang="es" sz="1200">
                <a:solidFill>
                  <a:schemeClr val="lt2"/>
                </a:solidFill>
              </a:rPr>
              <a:t> = {S, A, B}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V</a:t>
            </a:r>
            <a:r>
              <a:rPr baseline="-25000" lang="es" sz="1200">
                <a:solidFill>
                  <a:schemeClr val="lt2"/>
                </a:solidFill>
              </a:rPr>
              <a:t>t</a:t>
            </a:r>
            <a:r>
              <a:rPr lang="es" sz="1200">
                <a:solidFill>
                  <a:schemeClr val="lt2"/>
                </a:solidFill>
              </a:rPr>
              <a:t>  = {0, 1,2}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P: </a:t>
            </a:r>
            <a:endParaRPr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S → 2A</a:t>
            </a:r>
            <a:endParaRPr b="1"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A → 0A | 0B		</a:t>
            </a:r>
            <a:endParaRPr b="1"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B → 1A | 1</a:t>
            </a:r>
            <a:endParaRPr b="1"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2743675" y="1534038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2743675" y="2050375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cxnSp>
        <p:nvCxnSpPr>
          <p:cNvPr id="163" name="Google Shape;163;p22"/>
          <p:cNvCxnSpPr>
            <a:stCxn id="161" idx="2"/>
            <a:endCxn id="162" idx="0"/>
          </p:cNvCxnSpPr>
          <p:nvPr/>
        </p:nvCxnSpPr>
        <p:spPr>
          <a:xfrm>
            <a:off x="3101875" y="1963938"/>
            <a:ext cx="0" cy="8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2"/>
          <p:cNvSpPr txBox="1"/>
          <p:nvPr/>
        </p:nvSpPr>
        <p:spPr>
          <a:xfrm>
            <a:off x="2027275" y="2565025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3363675" y="2565025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</a:t>
            </a:r>
            <a:r>
              <a:rPr lang="es" sz="1800" u="sng">
                <a:solidFill>
                  <a:schemeClr val="dk1"/>
                </a:solidFill>
              </a:rPr>
              <a:t>B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4572000" y="3191475"/>
            <a:ext cx="716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3363675" y="322727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1307650" y="319147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200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2284213" y="319147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200</a:t>
            </a:r>
            <a:r>
              <a:rPr lang="es" sz="1800" u="sng">
                <a:solidFill>
                  <a:schemeClr val="dk1"/>
                </a:solidFill>
              </a:rPr>
              <a:t>B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1307650" y="4017250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20..0</a:t>
            </a:r>
            <a:r>
              <a:rPr lang="es" sz="1800" u="sng">
                <a:solidFill>
                  <a:schemeClr val="dk1"/>
                </a:solidFill>
              </a:rPr>
              <a:t>B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3015263" y="388952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2001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72" name="Google Shape;172;p22"/>
          <p:cNvCxnSpPr>
            <a:stCxn id="169" idx="2"/>
            <a:endCxn id="171" idx="0"/>
          </p:cNvCxnSpPr>
          <p:nvPr/>
        </p:nvCxnSpPr>
        <p:spPr>
          <a:xfrm>
            <a:off x="2745313" y="3621375"/>
            <a:ext cx="731100" cy="26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2"/>
          <p:cNvSpPr txBox="1"/>
          <p:nvPr/>
        </p:nvSpPr>
        <p:spPr>
          <a:xfrm>
            <a:off x="2441463" y="4332575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2001A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74" name="Google Shape;174;p22"/>
          <p:cNvCxnSpPr>
            <a:stCxn id="169" idx="2"/>
            <a:endCxn id="173" idx="0"/>
          </p:cNvCxnSpPr>
          <p:nvPr/>
        </p:nvCxnSpPr>
        <p:spPr>
          <a:xfrm>
            <a:off x="2745313" y="3621375"/>
            <a:ext cx="157200" cy="71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2"/>
          <p:cNvSpPr txBox="1"/>
          <p:nvPr/>
        </p:nvSpPr>
        <p:spPr>
          <a:xfrm>
            <a:off x="4050225" y="3859650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2010</a:t>
            </a:r>
            <a:r>
              <a:rPr lang="es" sz="1800" u="sng">
                <a:solidFill>
                  <a:schemeClr val="dk1"/>
                </a:solidFill>
              </a:rPr>
              <a:t>A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5047925" y="3859650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2010</a:t>
            </a:r>
            <a:r>
              <a:rPr lang="es" sz="1800" u="sng">
                <a:solidFill>
                  <a:schemeClr val="dk1"/>
                </a:solidFill>
              </a:rPr>
              <a:t>B</a:t>
            </a:r>
            <a:endParaRPr sz="1800" u="sng">
              <a:solidFill>
                <a:schemeClr val="dk1"/>
              </a:solidFill>
            </a:endParaRPr>
          </a:p>
        </p:txBody>
      </p:sp>
      <p:cxnSp>
        <p:nvCxnSpPr>
          <p:cNvPr id="177" name="Google Shape;177;p22"/>
          <p:cNvCxnSpPr>
            <a:stCxn id="167" idx="2"/>
            <a:endCxn id="175" idx="0"/>
          </p:cNvCxnSpPr>
          <p:nvPr/>
        </p:nvCxnSpPr>
        <p:spPr>
          <a:xfrm>
            <a:off x="3824775" y="3657175"/>
            <a:ext cx="686700" cy="20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2"/>
          <p:cNvCxnSpPr>
            <a:stCxn id="167" idx="2"/>
            <a:endCxn id="176" idx="0"/>
          </p:cNvCxnSpPr>
          <p:nvPr/>
        </p:nvCxnSpPr>
        <p:spPr>
          <a:xfrm>
            <a:off x="3824775" y="3657175"/>
            <a:ext cx="1684200" cy="20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2"/>
          <p:cNvSpPr txBox="1"/>
          <p:nvPr/>
        </p:nvSpPr>
        <p:spPr>
          <a:xfrm>
            <a:off x="5047925" y="4461550"/>
            <a:ext cx="922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20101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80" name="Google Shape;180;p22"/>
          <p:cNvCxnSpPr>
            <a:stCxn id="179" idx="0"/>
            <a:endCxn id="179" idx="0"/>
          </p:cNvCxnSpPr>
          <p:nvPr/>
        </p:nvCxnSpPr>
        <p:spPr>
          <a:xfrm>
            <a:off x="5509025" y="44615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2"/>
          <p:cNvCxnSpPr>
            <a:stCxn id="162" idx="2"/>
            <a:endCxn id="164" idx="0"/>
          </p:cNvCxnSpPr>
          <p:nvPr/>
        </p:nvCxnSpPr>
        <p:spPr>
          <a:xfrm flipH="1">
            <a:off x="2385475" y="2480275"/>
            <a:ext cx="716400" cy="8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2"/>
          <p:cNvCxnSpPr>
            <a:stCxn id="162" idx="2"/>
            <a:endCxn id="165" idx="0"/>
          </p:cNvCxnSpPr>
          <p:nvPr/>
        </p:nvCxnSpPr>
        <p:spPr>
          <a:xfrm>
            <a:off x="3101875" y="2480275"/>
            <a:ext cx="620100" cy="8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2"/>
          <p:cNvCxnSpPr>
            <a:stCxn id="164" idx="2"/>
            <a:endCxn id="168" idx="0"/>
          </p:cNvCxnSpPr>
          <p:nvPr/>
        </p:nvCxnSpPr>
        <p:spPr>
          <a:xfrm flipH="1">
            <a:off x="1768675" y="2994925"/>
            <a:ext cx="616800" cy="1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2"/>
          <p:cNvCxnSpPr>
            <a:stCxn id="164" idx="2"/>
            <a:endCxn id="169" idx="0"/>
          </p:cNvCxnSpPr>
          <p:nvPr/>
        </p:nvCxnSpPr>
        <p:spPr>
          <a:xfrm>
            <a:off x="2385475" y="2994925"/>
            <a:ext cx="359700" cy="1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2"/>
          <p:cNvCxnSpPr>
            <a:stCxn id="168" idx="2"/>
            <a:endCxn id="170" idx="0"/>
          </p:cNvCxnSpPr>
          <p:nvPr/>
        </p:nvCxnSpPr>
        <p:spPr>
          <a:xfrm>
            <a:off x="1768750" y="3621375"/>
            <a:ext cx="0" cy="3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2"/>
          <p:cNvCxnSpPr>
            <a:stCxn id="165" idx="2"/>
            <a:endCxn id="167" idx="0"/>
          </p:cNvCxnSpPr>
          <p:nvPr/>
        </p:nvCxnSpPr>
        <p:spPr>
          <a:xfrm>
            <a:off x="3721875" y="2994925"/>
            <a:ext cx="102900" cy="23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2"/>
          <p:cNvCxnSpPr>
            <a:stCxn id="165" idx="2"/>
            <a:endCxn id="166" idx="0"/>
          </p:cNvCxnSpPr>
          <p:nvPr/>
        </p:nvCxnSpPr>
        <p:spPr>
          <a:xfrm>
            <a:off x="3721875" y="2994925"/>
            <a:ext cx="1208400" cy="1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2"/>
          <p:cNvCxnSpPr>
            <a:stCxn id="176" idx="2"/>
            <a:endCxn id="179" idx="0"/>
          </p:cNvCxnSpPr>
          <p:nvPr/>
        </p:nvCxnSpPr>
        <p:spPr>
          <a:xfrm>
            <a:off x="5509025" y="4289550"/>
            <a:ext cx="0" cy="17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2"/>
          <p:cNvSpPr/>
          <p:nvPr/>
        </p:nvSpPr>
        <p:spPr>
          <a:xfrm>
            <a:off x="232900" y="3217575"/>
            <a:ext cx="1056300" cy="120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La A nos permite generar 0’s </a:t>
            </a:r>
            <a:endParaRPr sz="1100"/>
          </a:p>
        </p:txBody>
      </p:sp>
      <p:sp>
        <p:nvSpPr>
          <p:cNvPr id="190" name="Google Shape;190;p22"/>
          <p:cNvSpPr/>
          <p:nvPr/>
        </p:nvSpPr>
        <p:spPr>
          <a:xfrm>
            <a:off x="1375425" y="3732250"/>
            <a:ext cx="157200" cy="20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5574525" y="2463800"/>
            <a:ext cx="1056300" cy="120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La B nos permite poner un 1 y </a:t>
            </a:r>
            <a:r>
              <a:rPr b="1" lang="es" sz="1100"/>
              <a:t>frenar,</a:t>
            </a:r>
            <a:r>
              <a:rPr lang="es" sz="1100"/>
              <a:t> o poner un 1 y volver a A</a:t>
            </a:r>
            <a:endParaRPr sz="1100"/>
          </a:p>
        </p:txBody>
      </p:sp>
      <p:sp>
        <p:nvSpPr>
          <p:cNvPr id="192" name="Google Shape;192;p22"/>
          <p:cNvSpPr/>
          <p:nvPr/>
        </p:nvSpPr>
        <p:spPr>
          <a:xfrm rot="10800000">
            <a:off x="4190725" y="2678725"/>
            <a:ext cx="1348200" cy="20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3916125" y="1660150"/>
            <a:ext cx="1056300" cy="88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S nos pone un 2 al comienzo</a:t>
            </a:r>
            <a:endParaRPr sz="1100"/>
          </a:p>
        </p:txBody>
      </p:sp>
      <p:sp>
        <p:nvSpPr>
          <p:cNvPr id="194" name="Google Shape;194;p22"/>
          <p:cNvSpPr/>
          <p:nvPr/>
        </p:nvSpPr>
        <p:spPr>
          <a:xfrm rot="10800000">
            <a:off x="3281075" y="1690125"/>
            <a:ext cx="590700" cy="20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I: De GR a AF - Método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6110575" y="0"/>
            <a:ext cx="30000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2"/>
                </a:solidFill>
              </a:rPr>
              <a:t>Considere la gramática regular G = (V</a:t>
            </a:r>
            <a:r>
              <a:rPr baseline="-25000" lang="es" sz="1200">
                <a:solidFill>
                  <a:schemeClr val="lt2"/>
                </a:solidFill>
              </a:rPr>
              <a:t>n</a:t>
            </a:r>
            <a:r>
              <a:rPr lang="es" sz="1200">
                <a:solidFill>
                  <a:schemeClr val="lt2"/>
                </a:solidFill>
              </a:rPr>
              <a:t>, V</a:t>
            </a:r>
            <a:r>
              <a:rPr baseline="-25000" lang="es" sz="1200">
                <a:solidFill>
                  <a:schemeClr val="lt2"/>
                </a:solidFill>
              </a:rPr>
              <a:t>t</a:t>
            </a:r>
            <a:r>
              <a:rPr lang="es" sz="1200">
                <a:solidFill>
                  <a:schemeClr val="lt2"/>
                </a:solidFill>
              </a:rPr>
              <a:t>, S, P) donde: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V</a:t>
            </a:r>
            <a:r>
              <a:rPr baseline="-25000" lang="es" sz="1200">
                <a:solidFill>
                  <a:schemeClr val="lt2"/>
                </a:solidFill>
              </a:rPr>
              <a:t>n</a:t>
            </a:r>
            <a:r>
              <a:rPr lang="es" sz="1200">
                <a:solidFill>
                  <a:schemeClr val="lt2"/>
                </a:solidFill>
              </a:rPr>
              <a:t> = {S, A, B}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V</a:t>
            </a:r>
            <a:r>
              <a:rPr baseline="-25000" lang="es" sz="1200">
                <a:solidFill>
                  <a:schemeClr val="lt2"/>
                </a:solidFill>
              </a:rPr>
              <a:t>t</a:t>
            </a:r>
            <a:r>
              <a:rPr lang="es" sz="1200">
                <a:solidFill>
                  <a:schemeClr val="lt2"/>
                </a:solidFill>
              </a:rPr>
              <a:t>  = {0, 1,2}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P: </a:t>
            </a:r>
            <a:endParaRPr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S → 2A</a:t>
            </a:r>
            <a:endParaRPr b="1"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A → 0A | 0B		</a:t>
            </a:r>
            <a:endParaRPr b="1"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B → 1A | 1</a:t>
            </a:r>
            <a:endParaRPr b="1"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232900" y="1116650"/>
            <a:ext cx="5799000" cy="38979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/>
              <a:t>Ahora defino el lenguaje a reconocer:</a:t>
            </a:r>
            <a:endParaRPr i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/>
              <a:t>La S nos genera un 2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/>
              <a:t>La A nos permite generar 0’s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/>
              <a:t>La B nos coloca un 1 y nos permite </a:t>
            </a:r>
            <a:r>
              <a:rPr b="1" lang="es" sz="1500"/>
              <a:t>frenar, </a:t>
            </a:r>
            <a:r>
              <a:rPr lang="es" sz="1500"/>
              <a:t>o volver a (2)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Algunas cadenas que obtuvimos del </a:t>
            </a:r>
            <a:r>
              <a:rPr lang="es" sz="1500"/>
              <a:t>árbol</a:t>
            </a:r>
            <a:r>
              <a:rPr lang="es" sz="1500"/>
              <a:t> {201, 2001, 20101..}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500"/>
              <a:t>El lenguaje entonces </a:t>
            </a:r>
            <a:r>
              <a:rPr i="1" lang="es" sz="1500"/>
              <a:t>será</a:t>
            </a:r>
            <a:r>
              <a:rPr i="1" lang="es" sz="1500"/>
              <a:t>:</a:t>
            </a:r>
            <a:endParaRPr i="1"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500"/>
              <a:t>2 </a:t>
            </a:r>
            <a:r>
              <a:rPr b="1" i="1" lang="es" sz="1500"/>
              <a:t>0</a:t>
            </a:r>
            <a:r>
              <a:rPr b="1" baseline="30000" i="1" lang="es" sz="1500"/>
              <a:t>n</a:t>
            </a:r>
            <a:r>
              <a:rPr b="1" i="1" lang="es" sz="1500"/>
              <a:t>1 …</a:t>
            </a:r>
            <a:r>
              <a:rPr b="1" i="1" lang="es" sz="1500"/>
              <a:t> 0</a:t>
            </a:r>
            <a:r>
              <a:rPr b="1" baseline="30000" i="1" lang="es" sz="1500"/>
              <a:t>p</a:t>
            </a:r>
            <a:r>
              <a:rPr b="1" i="1" lang="es" sz="1500"/>
              <a:t>1</a:t>
            </a:r>
            <a:endParaRPr b="1" i="1"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500"/>
              <a:t>m veces</a:t>
            </a:r>
            <a:endParaRPr b="1"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500"/>
              <a:t>Donde m, n, p, ... &gt; 0 </a:t>
            </a:r>
            <a:endParaRPr b="1"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500"/>
          </a:p>
          <a:p>
            <a:pPr indent="0" lvl="0" marL="0" rtl="0" algn="just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202" name="Google Shape;202;p23"/>
          <p:cNvSpPr/>
          <p:nvPr/>
        </p:nvSpPr>
        <p:spPr>
          <a:xfrm rot="5400000">
            <a:off x="3106375" y="3281925"/>
            <a:ext cx="222000" cy="886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I: De GR a AF - Método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6110575" y="0"/>
            <a:ext cx="30000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2"/>
                </a:solidFill>
              </a:rPr>
              <a:t>Considere la gramática regular G = (V</a:t>
            </a:r>
            <a:r>
              <a:rPr baseline="-25000" lang="es" sz="1200">
                <a:solidFill>
                  <a:schemeClr val="lt2"/>
                </a:solidFill>
              </a:rPr>
              <a:t>n</a:t>
            </a:r>
            <a:r>
              <a:rPr lang="es" sz="1200">
                <a:solidFill>
                  <a:schemeClr val="lt2"/>
                </a:solidFill>
              </a:rPr>
              <a:t>, V</a:t>
            </a:r>
            <a:r>
              <a:rPr baseline="-25000" lang="es" sz="1200">
                <a:solidFill>
                  <a:schemeClr val="lt2"/>
                </a:solidFill>
              </a:rPr>
              <a:t>t</a:t>
            </a:r>
            <a:r>
              <a:rPr lang="es" sz="1200">
                <a:solidFill>
                  <a:schemeClr val="lt2"/>
                </a:solidFill>
              </a:rPr>
              <a:t>, S, P) donde: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V</a:t>
            </a:r>
            <a:r>
              <a:rPr baseline="-25000" lang="es" sz="1200">
                <a:solidFill>
                  <a:schemeClr val="lt2"/>
                </a:solidFill>
              </a:rPr>
              <a:t>n</a:t>
            </a:r>
            <a:r>
              <a:rPr lang="es" sz="1200">
                <a:solidFill>
                  <a:schemeClr val="lt2"/>
                </a:solidFill>
              </a:rPr>
              <a:t> = {S, A, B}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V</a:t>
            </a:r>
            <a:r>
              <a:rPr baseline="-25000" lang="es" sz="1200">
                <a:solidFill>
                  <a:schemeClr val="lt2"/>
                </a:solidFill>
              </a:rPr>
              <a:t>t</a:t>
            </a:r>
            <a:r>
              <a:rPr lang="es" sz="1200">
                <a:solidFill>
                  <a:schemeClr val="lt2"/>
                </a:solidFill>
              </a:rPr>
              <a:t>  = {0, 1,2}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es" sz="1200">
                <a:solidFill>
                  <a:schemeClr val="lt2"/>
                </a:solidFill>
              </a:rPr>
              <a:t>P: </a:t>
            </a:r>
            <a:endParaRPr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S → 2A</a:t>
            </a:r>
            <a:endParaRPr b="1"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A → 0A | 0B		</a:t>
            </a:r>
            <a:endParaRPr b="1" sz="1200">
              <a:solidFill>
                <a:schemeClr val="lt2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2"/>
                </a:solidFill>
              </a:rPr>
              <a:t>B → 1A | 1</a:t>
            </a:r>
            <a:endParaRPr b="1"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232900" y="1116650"/>
            <a:ext cx="5799000" cy="38979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500"/>
          </a:p>
          <a:p>
            <a:pPr indent="0" lvl="0" marL="0" rtl="0" algn="just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700"/>
          </a:p>
        </p:txBody>
      </p:sp>
      <p:pic>
        <p:nvPicPr>
          <p:cNvPr id="210" name="Google Shape;2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1900"/>
            <a:ext cx="5720200" cy="163673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232900" y="4513100"/>
            <a:ext cx="55407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2"/>
                </a:solidFill>
              </a:rPr>
              <a:t>Notas diferencias entre el AF del </a:t>
            </a:r>
            <a:r>
              <a:rPr i="1" lang="es" sz="1800">
                <a:solidFill>
                  <a:schemeClr val="lt2"/>
                </a:solidFill>
              </a:rPr>
              <a:t>Método</a:t>
            </a:r>
            <a:r>
              <a:rPr i="1" lang="es" sz="1800">
                <a:solidFill>
                  <a:schemeClr val="lt2"/>
                </a:solidFill>
              </a:rPr>
              <a:t> 1 y este?</a:t>
            </a:r>
            <a:endParaRPr i="1" sz="1800">
              <a:solidFill>
                <a:schemeClr val="lt2"/>
              </a:solidFill>
            </a:endParaRPr>
          </a:p>
        </p:txBody>
      </p:sp>
      <p:sp>
        <p:nvSpPr>
          <p:cNvPr id="212" name="Google Shape;212;p24"/>
          <p:cNvSpPr/>
          <p:nvPr/>
        </p:nvSpPr>
        <p:spPr>
          <a:xfrm rot="5400000">
            <a:off x="1422925" y="1747200"/>
            <a:ext cx="222000" cy="2004000"/>
          </a:xfrm>
          <a:prstGeom prst="rightBrace">
            <a:avLst>
              <a:gd fmla="val 50000" name="adj1"/>
              <a:gd fmla="val 49522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692125" y="2951425"/>
            <a:ext cx="1683600" cy="96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Primero un 2…</a:t>
            </a:r>
            <a:endParaRPr i="1"/>
          </a:p>
        </p:txBody>
      </p:sp>
      <p:sp>
        <p:nvSpPr>
          <p:cNvPr id="214" name="Google Shape;214;p24"/>
          <p:cNvSpPr/>
          <p:nvPr/>
        </p:nvSpPr>
        <p:spPr>
          <a:xfrm rot="5400000">
            <a:off x="3354500" y="1864475"/>
            <a:ext cx="222000" cy="1679700"/>
          </a:xfrm>
          <a:prstGeom prst="rightBrace">
            <a:avLst>
              <a:gd fmla="val 50000" name="adj1"/>
              <a:gd fmla="val 49522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2535925" y="2951425"/>
            <a:ext cx="1683600" cy="96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Luego, 1 o </a:t>
            </a:r>
            <a:r>
              <a:rPr i="1" lang="es"/>
              <a:t>más</a:t>
            </a:r>
            <a:r>
              <a:rPr i="1" lang="es"/>
              <a:t> 0s</a:t>
            </a:r>
            <a:endParaRPr i="1"/>
          </a:p>
        </p:txBody>
      </p:sp>
      <p:sp>
        <p:nvSpPr>
          <p:cNvPr id="216" name="Google Shape;216;p24"/>
          <p:cNvSpPr/>
          <p:nvPr/>
        </p:nvSpPr>
        <p:spPr>
          <a:xfrm>
            <a:off x="4348300" y="2951425"/>
            <a:ext cx="1503900" cy="96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Por </a:t>
            </a:r>
            <a:r>
              <a:rPr i="1" lang="es"/>
              <a:t>último</a:t>
            </a:r>
            <a:r>
              <a:rPr i="1" lang="es"/>
              <a:t>, un 1 o </a:t>
            </a:r>
            <a:r>
              <a:rPr i="1" lang="es" u="sng"/>
              <a:t>1 y vuelvo a esperar 0’s</a:t>
            </a:r>
            <a:endParaRPr i="1" u="sng"/>
          </a:p>
        </p:txBody>
      </p:sp>
      <p:sp>
        <p:nvSpPr>
          <p:cNvPr id="217" name="Google Shape;217;p24"/>
          <p:cNvSpPr/>
          <p:nvPr/>
        </p:nvSpPr>
        <p:spPr>
          <a:xfrm rot="5400000">
            <a:off x="5022850" y="2067738"/>
            <a:ext cx="222000" cy="1362900"/>
          </a:xfrm>
          <a:prstGeom prst="rightBrace">
            <a:avLst>
              <a:gd fmla="val 50000" name="adj1"/>
              <a:gd fmla="val 49522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II: De AF a GR</a:t>
            </a:r>
            <a:endParaRPr/>
          </a:p>
        </p:txBody>
      </p:sp>
      <p:sp>
        <p:nvSpPr>
          <p:cNvPr id="223" name="Google Shape;223;p25"/>
          <p:cNvSpPr txBox="1"/>
          <p:nvPr>
            <p:ph idx="1" type="body"/>
          </p:nvPr>
        </p:nvSpPr>
        <p:spPr>
          <a:xfrm>
            <a:off x="311700" y="1152475"/>
            <a:ext cx="8520600" cy="38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Dado un </a:t>
            </a:r>
            <a:r>
              <a:rPr lang="es">
                <a:solidFill>
                  <a:schemeClr val="dk1"/>
                </a:solidFill>
              </a:rPr>
              <a:t>Autómata</a:t>
            </a:r>
            <a:r>
              <a:rPr lang="es">
                <a:solidFill>
                  <a:schemeClr val="dk1"/>
                </a:solidFill>
              </a:rPr>
              <a:t> Finito Determinista M = </a:t>
            </a:r>
            <a:r>
              <a:rPr lang="es">
                <a:solidFill>
                  <a:schemeClr val="dk1"/>
                </a:solidFill>
              </a:rPr>
              <a:t>(S, Σ, δ, s</a:t>
            </a:r>
            <a:r>
              <a:rPr baseline="-25000" lang="es">
                <a:solidFill>
                  <a:schemeClr val="dk1"/>
                </a:solidFill>
              </a:rPr>
              <a:t>0</a:t>
            </a:r>
            <a:r>
              <a:rPr lang="es">
                <a:solidFill>
                  <a:schemeClr val="dk1"/>
                </a:solidFill>
              </a:rPr>
              <a:t>, F) construimos una gramática G = (V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, 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, s</a:t>
            </a:r>
            <a:r>
              <a:rPr baseline="-25000" lang="es">
                <a:solidFill>
                  <a:schemeClr val="dk1"/>
                </a:solidFill>
              </a:rPr>
              <a:t>0</a:t>
            </a:r>
            <a:r>
              <a:rPr lang="es">
                <a:solidFill>
                  <a:schemeClr val="dk1"/>
                </a:solidFill>
              </a:rPr>
              <a:t>, P) donde: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V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= S		(</a:t>
            </a:r>
            <a:r>
              <a:rPr i="1" lang="es">
                <a:solidFill>
                  <a:schemeClr val="dk1"/>
                </a:solidFill>
              </a:rPr>
              <a:t>es decir, cada símbolo no terminal es un estado en M</a:t>
            </a:r>
            <a:r>
              <a:rPr lang="e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V</a:t>
            </a:r>
            <a:r>
              <a:rPr baseline="-25000" lang="es">
                <a:solidFill>
                  <a:schemeClr val="dk1"/>
                </a:solidFill>
              </a:rPr>
              <a:t>t</a:t>
            </a:r>
            <a:r>
              <a:rPr lang="es">
                <a:solidFill>
                  <a:schemeClr val="dk1"/>
                </a:solidFill>
              </a:rPr>
              <a:t> =  Σ		(</a:t>
            </a:r>
            <a:r>
              <a:rPr i="1" lang="es">
                <a:solidFill>
                  <a:schemeClr val="dk1"/>
                </a:solidFill>
              </a:rPr>
              <a:t>cada no terminal será un símbolo del alfabeto de M</a:t>
            </a:r>
            <a:r>
              <a:rPr lang="e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P  lo construyó analizando δ y F: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si s</a:t>
            </a:r>
            <a:r>
              <a:rPr baseline="-25000" lang="es">
                <a:solidFill>
                  <a:schemeClr val="dk1"/>
                </a:solidFill>
              </a:rPr>
              <a:t>0 </a:t>
            </a:r>
            <a:r>
              <a:rPr lang="es">
                <a:solidFill>
                  <a:schemeClr val="dk1"/>
                </a:solidFill>
              </a:rPr>
              <a:t>∊ F, entonces  s</a:t>
            </a:r>
            <a:r>
              <a:rPr baseline="-25000" lang="es">
                <a:solidFill>
                  <a:schemeClr val="dk1"/>
                </a:solidFill>
              </a:rPr>
              <a:t>0</a:t>
            </a:r>
            <a:r>
              <a:rPr lang="es">
                <a:solidFill>
                  <a:schemeClr val="dk1"/>
                </a:solidFill>
              </a:rPr>
              <a:t> → λ ∊ P.		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si δ(B,a) = C y C ∊ F entonces B → a	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si δ(B,a) = C entonces B → aC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Veamos un ejemplo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191125" y="3314700"/>
            <a:ext cx="152400" cy="571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5476875" y="3267000"/>
            <a:ext cx="3238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Ojo!</a:t>
            </a:r>
            <a:r>
              <a:rPr lang="es" sz="1800">
                <a:solidFill>
                  <a:schemeClr val="dk1"/>
                </a:solidFill>
              </a:rPr>
              <a:t> Si C es aceptador, tenemos que hacer ambas!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II: De AF a GR</a:t>
            </a:r>
            <a:endParaRPr/>
          </a:p>
        </p:txBody>
      </p:sp>
      <p:sp>
        <p:nvSpPr>
          <p:cNvPr id="231" name="Google Shape;231;p26"/>
          <p:cNvSpPr txBox="1"/>
          <p:nvPr>
            <p:ph idx="1" type="body"/>
          </p:nvPr>
        </p:nvSpPr>
        <p:spPr>
          <a:xfrm>
            <a:off x="189150" y="1162000"/>
            <a:ext cx="8765700" cy="38118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Ejemplo: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Considere el siguiente </a:t>
            </a:r>
            <a:r>
              <a:rPr lang="es">
                <a:solidFill>
                  <a:schemeClr val="dk1"/>
                </a:solidFill>
              </a:rPr>
              <a:t>autómata</a:t>
            </a:r>
            <a:r>
              <a:rPr lang="es">
                <a:solidFill>
                  <a:schemeClr val="dk1"/>
                </a:solidFill>
              </a:rPr>
              <a:t> finito determinista M = </a:t>
            </a:r>
            <a:r>
              <a:rPr lang="es">
                <a:solidFill>
                  <a:schemeClr val="dk1"/>
                </a:solidFill>
              </a:rPr>
              <a:t>({s</a:t>
            </a:r>
            <a:r>
              <a:rPr baseline="-25000" lang="es">
                <a:solidFill>
                  <a:schemeClr val="dk1"/>
                </a:solidFill>
              </a:rPr>
              <a:t>0</a:t>
            </a:r>
            <a:r>
              <a:rPr lang="es">
                <a:solidFill>
                  <a:schemeClr val="dk1"/>
                </a:solidFill>
              </a:rPr>
              <a:t>,s</a:t>
            </a:r>
            <a:r>
              <a:rPr baseline="-25000" lang="es">
                <a:solidFill>
                  <a:schemeClr val="dk1"/>
                </a:solidFill>
              </a:rPr>
              <a:t>1</a:t>
            </a:r>
            <a:r>
              <a:rPr lang="es">
                <a:solidFill>
                  <a:schemeClr val="dk1"/>
                </a:solidFill>
              </a:rPr>
              <a:t>,s</a:t>
            </a:r>
            <a:r>
              <a:rPr baseline="-25000" lang="es">
                <a:solidFill>
                  <a:schemeClr val="dk1"/>
                </a:solidFill>
              </a:rPr>
              <a:t>2</a:t>
            </a:r>
            <a:r>
              <a:rPr lang="es">
                <a:solidFill>
                  <a:schemeClr val="dk1"/>
                </a:solidFill>
              </a:rPr>
              <a:t>,s</a:t>
            </a:r>
            <a:r>
              <a:rPr baseline="-25000" lang="es">
                <a:solidFill>
                  <a:schemeClr val="dk1"/>
                </a:solidFill>
              </a:rPr>
              <a:t>3</a:t>
            </a:r>
            <a:r>
              <a:rPr lang="es">
                <a:solidFill>
                  <a:schemeClr val="dk1"/>
                </a:solidFill>
              </a:rPr>
              <a:t>}, {a,b}, δ, s</a:t>
            </a:r>
            <a:r>
              <a:rPr baseline="-25000" lang="es">
                <a:solidFill>
                  <a:schemeClr val="dk1"/>
                </a:solidFill>
              </a:rPr>
              <a:t>0</a:t>
            </a:r>
            <a:r>
              <a:rPr lang="es">
                <a:solidFill>
                  <a:schemeClr val="dk1"/>
                </a:solidFill>
              </a:rPr>
              <a:t>, {s</a:t>
            </a:r>
            <a:r>
              <a:rPr baseline="-25000" lang="es">
                <a:solidFill>
                  <a:schemeClr val="dk1"/>
                </a:solidFill>
              </a:rPr>
              <a:t>3</a:t>
            </a:r>
            <a:r>
              <a:rPr lang="es">
                <a:solidFill>
                  <a:schemeClr val="dk1"/>
                </a:solidFill>
              </a:rPr>
              <a:t>})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Encuentre una gramática G tal que L(G) = L(M).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32" name="Google Shape;232;p26"/>
          <p:cNvGraphicFramePr/>
          <p:nvPr/>
        </p:nvGraphicFramePr>
        <p:xfrm>
          <a:off x="2257425" y="229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{2C708A36-3639-44AA-9ACF-2EF4E89BAE6D}</a:tableStyleId>
              </a:tblPr>
              <a:tblGrid>
                <a:gridCol w="1543050"/>
                <a:gridCol w="1543050"/>
                <a:gridCol w="154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2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→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>
            <p:ph type="title"/>
          </p:nvPr>
        </p:nvSpPr>
        <p:spPr>
          <a:xfrm>
            <a:off x="311700" y="445025"/>
            <a:ext cx="576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II: De AF a GR</a:t>
            </a:r>
            <a:endParaRPr/>
          </a:p>
        </p:txBody>
      </p:sp>
      <p:sp>
        <p:nvSpPr>
          <p:cNvPr id="238" name="Google Shape;238;p27"/>
          <p:cNvSpPr txBox="1"/>
          <p:nvPr>
            <p:ph idx="1" type="body"/>
          </p:nvPr>
        </p:nvSpPr>
        <p:spPr>
          <a:xfrm>
            <a:off x="189150" y="1162000"/>
            <a:ext cx="5706900" cy="37053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Definimos G = (V</a:t>
            </a:r>
            <a:r>
              <a:rPr baseline="-25000" i="1" lang="es"/>
              <a:t>n</a:t>
            </a:r>
            <a:r>
              <a:rPr i="1" lang="es"/>
              <a:t>, V</a:t>
            </a:r>
            <a:r>
              <a:rPr baseline="-25000" i="1" lang="es"/>
              <a:t>t</a:t>
            </a:r>
            <a:r>
              <a:rPr i="1" lang="es"/>
              <a:t>, S, P)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V</a:t>
            </a:r>
            <a:r>
              <a:rPr baseline="-25000" lang="es"/>
              <a:t>n</a:t>
            </a:r>
            <a:r>
              <a:rPr lang="es"/>
              <a:t> = S = </a:t>
            </a:r>
            <a:r>
              <a:rPr lang="es"/>
              <a:t>{s</a:t>
            </a:r>
            <a:r>
              <a:rPr baseline="-25000" lang="es"/>
              <a:t>0</a:t>
            </a:r>
            <a:r>
              <a:rPr lang="es"/>
              <a:t>,s</a:t>
            </a:r>
            <a:r>
              <a:rPr baseline="-25000" lang="es"/>
              <a:t>1</a:t>
            </a:r>
            <a:r>
              <a:rPr lang="es"/>
              <a:t>,s</a:t>
            </a:r>
            <a:r>
              <a:rPr baseline="-25000" lang="es"/>
              <a:t>2</a:t>
            </a:r>
            <a:r>
              <a:rPr lang="es"/>
              <a:t>,s</a:t>
            </a:r>
            <a:r>
              <a:rPr baseline="-25000" lang="es"/>
              <a:t>3</a:t>
            </a:r>
            <a:r>
              <a:rPr lang="es"/>
              <a:t>}		V</a:t>
            </a:r>
            <a:r>
              <a:rPr baseline="-25000" lang="es"/>
              <a:t>t</a:t>
            </a:r>
            <a:r>
              <a:rPr lang="es"/>
              <a:t> = {a,b}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 = s</a:t>
            </a:r>
            <a:r>
              <a:rPr baseline="-25000" lang="es"/>
              <a:t>0</a:t>
            </a:r>
            <a:r>
              <a:rPr lang="es"/>
              <a:t>		y definimos P mirando δ y F = {s</a:t>
            </a:r>
            <a:r>
              <a:rPr baseline="-25000" lang="es"/>
              <a:t>3</a:t>
            </a:r>
            <a:r>
              <a:rPr lang="es"/>
              <a:t>}: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 sz="1500"/>
              <a:t>δ(s</a:t>
            </a:r>
            <a:r>
              <a:rPr baseline="-25000" lang="es" sz="1500"/>
              <a:t>0</a:t>
            </a:r>
            <a:r>
              <a:rPr lang="es" sz="1500"/>
              <a:t>, a) </a:t>
            </a:r>
            <a:r>
              <a:rPr b="1" lang="es" sz="1500"/>
              <a:t>= s</a:t>
            </a:r>
            <a:r>
              <a:rPr b="1" baseline="-25000" lang="es" sz="1500"/>
              <a:t>1</a:t>
            </a:r>
            <a:r>
              <a:rPr b="1" lang="es" sz="1500"/>
              <a:t> 		</a:t>
            </a:r>
            <a:endParaRPr b="1"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δ(s</a:t>
            </a:r>
            <a:r>
              <a:rPr baseline="-25000" lang="es" sz="1500"/>
              <a:t>0</a:t>
            </a:r>
            <a:r>
              <a:rPr lang="es" sz="1500"/>
              <a:t>, b) </a:t>
            </a:r>
            <a:r>
              <a:rPr b="1" lang="es" sz="1500"/>
              <a:t>= s</a:t>
            </a:r>
            <a:r>
              <a:rPr b="1" baseline="-25000" lang="es" sz="1500"/>
              <a:t>2</a:t>
            </a:r>
            <a:endParaRPr b="1" baseline="-25000"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δ(s</a:t>
            </a:r>
            <a:r>
              <a:rPr baseline="-25000" lang="es" sz="1500"/>
              <a:t>1</a:t>
            </a:r>
            <a:r>
              <a:rPr lang="es" sz="1500"/>
              <a:t>, a) </a:t>
            </a:r>
            <a:r>
              <a:rPr b="1" lang="es" sz="1500"/>
              <a:t>= s</a:t>
            </a:r>
            <a:r>
              <a:rPr b="1" baseline="-25000" lang="es" sz="1500"/>
              <a:t>1</a:t>
            </a:r>
            <a:endParaRPr b="1" baseline="-25000"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δ(s</a:t>
            </a:r>
            <a:r>
              <a:rPr baseline="-25000" lang="es" sz="1500"/>
              <a:t>1</a:t>
            </a:r>
            <a:r>
              <a:rPr lang="es" sz="1500"/>
              <a:t>, b) </a:t>
            </a:r>
            <a:r>
              <a:rPr b="1" lang="es" sz="1500"/>
              <a:t>= s</a:t>
            </a:r>
            <a:r>
              <a:rPr b="1" baseline="-25000" lang="es" sz="1500"/>
              <a:t>3 	</a:t>
            </a:r>
            <a:r>
              <a:rPr b="1" lang="es" sz="1500"/>
              <a:t>(s</a:t>
            </a:r>
            <a:r>
              <a:rPr b="1" baseline="-25000" lang="es" sz="1500"/>
              <a:t>3 </a:t>
            </a:r>
            <a:r>
              <a:rPr b="1" lang="es" sz="1500"/>
              <a:t>aceptador)</a:t>
            </a:r>
            <a:endParaRPr b="1"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δ(s</a:t>
            </a:r>
            <a:r>
              <a:rPr baseline="-25000" lang="es" sz="1500"/>
              <a:t>2</a:t>
            </a:r>
            <a:r>
              <a:rPr lang="es" sz="1500"/>
              <a:t>, a) </a:t>
            </a:r>
            <a:r>
              <a:rPr b="1" lang="es" sz="1500"/>
              <a:t>= s</a:t>
            </a:r>
            <a:r>
              <a:rPr b="1" baseline="-25000" lang="es" sz="1500"/>
              <a:t>3	</a:t>
            </a:r>
            <a:r>
              <a:rPr b="1" lang="es" sz="1500"/>
              <a:t>(s</a:t>
            </a:r>
            <a:r>
              <a:rPr b="1" baseline="-25000" lang="es" sz="1500"/>
              <a:t>3 </a:t>
            </a:r>
            <a:r>
              <a:rPr b="1" lang="es" sz="1500"/>
              <a:t>aceptador)</a:t>
            </a:r>
            <a:endParaRPr b="1" baseline="-25000"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δ(s</a:t>
            </a:r>
            <a:r>
              <a:rPr baseline="-25000" lang="es" sz="1500"/>
              <a:t>2</a:t>
            </a:r>
            <a:r>
              <a:rPr lang="es" sz="1500"/>
              <a:t>, b) </a:t>
            </a:r>
            <a:r>
              <a:rPr b="1" lang="es" sz="1500"/>
              <a:t>= s</a:t>
            </a:r>
            <a:r>
              <a:rPr b="1" baseline="-25000" lang="es" sz="1500"/>
              <a:t>2</a:t>
            </a:r>
            <a:endParaRPr b="1" sz="1500"/>
          </a:p>
        </p:txBody>
      </p:sp>
      <p:graphicFrame>
        <p:nvGraphicFramePr>
          <p:cNvPr id="239" name="Google Shape;239;p27"/>
          <p:cNvGraphicFramePr/>
          <p:nvPr/>
        </p:nvGraphicFramePr>
        <p:xfrm>
          <a:off x="594367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{2C708A36-3639-44AA-9ACF-2EF4E89BAE6D}</a:tableStyleId>
              </a:tblPr>
              <a:tblGrid>
                <a:gridCol w="1008100"/>
                <a:gridCol w="1008100"/>
                <a:gridCol w="100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2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→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0" name="Google Shape;240;p27"/>
          <p:cNvSpPr txBox="1"/>
          <p:nvPr/>
        </p:nvSpPr>
        <p:spPr>
          <a:xfrm>
            <a:off x="5955825" y="6667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M = ({s</a:t>
            </a:r>
            <a:r>
              <a:rPr baseline="-25000" lang="es" sz="1800">
                <a:solidFill>
                  <a:schemeClr val="lt2"/>
                </a:solidFill>
              </a:rPr>
              <a:t>0</a:t>
            </a:r>
            <a:r>
              <a:rPr lang="es" sz="1800">
                <a:solidFill>
                  <a:schemeClr val="lt2"/>
                </a:solidFill>
              </a:rPr>
              <a:t>,s</a:t>
            </a:r>
            <a:r>
              <a:rPr baseline="-25000" lang="es" sz="1800">
                <a:solidFill>
                  <a:schemeClr val="lt2"/>
                </a:solidFill>
              </a:rPr>
              <a:t>1</a:t>
            </a:r>
            <a:r>
              <a:rPr lang="es" sz="1800">
                <a:solidFill>
                  <a:schemeClr val="lt2"/>
                </a:solidFill>
              </a:rPr>
              <a:t>,s</a:t>
            </a:r>
            <a:r>
              <a:rPr baseline="-25000" lang="es" sz="1800">
                <a:solidFill>
                  <a:schemeClr val="lt2"/>
                </a:solidFill>
              </a:rPr>
              <a:t>2</a:t>
            </a:r>
            <a:r>
              <a:rPr lang="es" sz="1800">
                <a:solidFill>
                  <a:schemeClr val="lt2"/>
                </a:solidFill>
              </a:rPr>
              <a:t>,s</a:t>
            </a:r>
            <a:r>
              <a:rPr baseline="-25000" lang="es" sz="1800">
                <a:solidFill>
                  <a:schemeClr val="lt2"/>
                </a:solidFill>
              </a:rPr>
              <a:t>3</a:t>
            </a:r>
            <a:r>
              <a:rPr lang="es" sz="1800">
                <a:solidFill>
                  <a:schemeClr val="lt2"/>
                </a:solidFill>
              </a:rPr>
              <a:t>}, {a,b}, δ, s</a:t>
            </a:r>
            <a:r>
              <a:rPr baseline="-25000" lang="es" sz="1800">
                <a:solidFill>
                  <a:schemeClr val="lt2"/>
                </a:solidFill>
              </a:rPr>
              <a:t>0</a:t>
            </a:r>
            <a:r>
              <a:rPr lang="es" sz="1800">
                <a:solidFill>
                  <a:schemeClr val="lt2"/>
                </a:solidFill>
              </a:rPr>
              <a:t>, {s</a:t>
            </a:r>
            <a:r>
              <a:rPr baseline="-25000" lang="es" sz="1800">
                <a:solidFill>
                  <a:schemeClr val="lt2"/>
                </a:solidFill>
              </a:rPr>
              <a:t>3</a:t>
            </a:r>
            <a:r>
              <a:rPr lang="es" sz="1800">
                <a:solidFill>
                  <a:schemeClr val="lt2"/>
                </a:solidFill>
              </a:rPr>
              <a:t>})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3457575" y="2609850"/>
            <a:ext cx="142800" cy="1800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"/>
          <p:cNvSpPr txBox="1"/>
          <p:nvPr/>
        </p:nvSpPr>
        <p:spPr>
          <a:xfrm>
            <a:off x="3781425" y="2571750"/>
            <a:ext cx="18861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</a:rPr>
              <a:t>P = {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</a:rPr>
              <a:t>  s</a:t>
            </a:r>
            <a:r>
              <a:rPr baseline="-25000" lang="es" sz="1600">
                <a:solidFill>
                  <a:schemeClr val="lt2"/>
                </a:solidFill>
              </a:rPr>
              <a:t>0</a:t>
            </a:r>
            <a:r>
              <a:rPr lang="es" sz="1600">
                <a:solidFill>
                  <a:schemeClr val="lt2"/>
                </a:solidFill>
              </a:rPr>
              <a:t> → as</a:t>
            </a:r>
            <a:r>
              <a:rPr baseline="-25000" lang="es" sz="1600">
                <a:solidFill>
                  <a:schemeClr val="lt2"/>
                </a:solidFill>
              </a:rPr>
              <a:t>1</a:t>
            </a:r>
            <a:r>
              <a:rPr lang="es" sz="1600">
                <a:solidFill>
                  <a:schemeClr val="lt2"/>
                </a:solidFill>
              </a:rPr>
              <a:t> | bs</a:t>
            </a:r>
            <a:r>
              <a:rPr baseline="-25000" lang="es" sz="1600">
                <a:solidFill>
                  <a:schemeClr val="lt2"/>
                </a:solidFill>
              </a:rPr>
              <a:t>2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</a:rPr>
              <a:t>  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</a:rPr>
              <a:t>  s</a:t>
            </a:r>
            <a:r>
              <a:rPr baseline="-25000" lang="es" sz="1600">
                <a:solidFill>
                  <a:schemeClr val="lt2"/>
                </a:solidFill>
              </a:rPr>
              <a:t>1</a:t>
            </a:r>
            <a:r>
              <a:rPr lang="es" sz="1600">
                <a:solidFill>
                  <a:schemeClr val="lt2"/>
                </a:solidFill>
              </a:rPr>
              <a:t> → as1 | </a:t>
            </a:r>
            <a:r>
              <a:rPr b="1" lang="es" sz="1600">
                <a:solidFill>
                  <a:schemeClr val="lt2"/>
                </a:solidFill>
              </a:rPr>
              <a:t>b</a:t>
            </a:r>
            <a:r>
              <a:rPr lang="es" sz="1600">
                <a:solidFill>
                  <a:schemeClr val="lt2"/>
                </a:solidFill>
              </a:rPr>
              <a:t> | bs</a:t>
            </a:r>
            <a:r>
              <a:rPr baseline="-25000" lang="es" sz="1600">
                <a:solidFill>
                  <a:schemeClr val="lt2"/>
                </a:solidFill>
              </a:rPr>
              <a:t>3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</a:rPr>
              <a:t>  s</a:t>
            </a:r>
            <a:r>
              <a:rPr baseline="-25000" lang="es" sz="1600">
                <a:solidFill>
                  <a:schemeClr val="lt2"/>
                </a:solidFill>
              </a:rPr>
              <a:t>2</a:t>
            </a:r>
            <a:r>
              <a:rPr lang="es" sz="1600">
                <a:solidFill>
                  <a:schemeClr val="lt2"/>
                </a:solidFill>
              </a:rPr>
              <a:t> → </a:t>
            </a:r>
            <a:r>
              <a:rPr b="1" lang="es" sz="1600">
                <a:solidFill>
                  <a:schemeClr val="lt2"/>
                </a:solidFill>
              </a:rPr>
              <a:t>a</a:t>
            </a:r>
            <a:r>
              <a:rPr lang="es" sz="1600">
                <a:solidFill>
                  <a:schemeClr val="lt2"/>
                </a:solidFill>
              </a:rPr>
              <a:t> | as</a:t>
            </a:r>
            <a:r>
              <a:rPr baseline="-25000" lang="es" sz="1600">
                <a:solidFill>
                  <a:schemeClr val="lt2"/>
                </a:solidFill>
              </a:rPr>
              <a:t>3</a:t>
            </a:r>
            <a:r>
              <a:rPr lang="es" sz="1600">
                <a:solidFill>
                  <a:schemeClr val="lt2"/>
                </a:solidFill>
              </a:rPr>
              <a:t> | bs</a:t>
            </a:r>
            <a:r>
              <a:rPr baseline="-25000" lang="es" sz="1600">
                <a:solidFill>
                  <a:schemeClr val="lt2"/>
                </a:solidFill>
              </a:rPr>
              <a:t>2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</a:rPr>
              <a:t>}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ctrTitle"/>
          </p:nvPr>
        </p:nvSpPr>
        <p:spPr>
          <a:xfrm>
            <a:off x="311700" y="1059950"/>
            <a:ext cx="8520600" cy="16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/>
              <a:t>Muchas gracias por su atención</a:t>
            </a:r>
            <a:endParaRPr sz="4400"/>
          </a:p>
        </p:txBody>
      </p:sp>
      <p:sp>
        <p:nvSpPr>
          <p:cNvPr id="248" name="Google Shape;248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Preguntas?</a:t>
            </a:r>
            <a:endParaRPr/>
          </a:p>
        </p:txBody>
      </p:sp>
      <p:cxnSp>
        <p:nvCxnSpPr>
          <p:cNvPr id="249" name="Google Shape;249;p28"/>
          <p:cNvCxnSpPr/>
          <p:nvPr/>
        </p:nvCxnSpPr>
        <p:spPr>
          <a:xfrm>
            <a:off x="310925" y="2748850"/>
            <a:ext cx="85293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