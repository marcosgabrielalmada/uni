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T Sans Narrow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518D3A-EFE4-4AD1-A865-E06958C1EF9C}">
  <a:tblStyle styleId="{AB518D3A-EFE4-4AD1-A865-E06958C1EF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5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21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TSansNarrow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TSansNarrow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281c7838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281c7838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e281c7838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e281c7838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281c7838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e281c7838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e281c7838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e281c7838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e284ca900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e284ca900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e284ca900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e284ca900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e284ca900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e284ca900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e281c7838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e281c7838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e281c7838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e281c7838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Autómatas Traductores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Diseño de autómatas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2658300" y="4205575"/>
            <a:ext cx="382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E93D8"/>
                </a:solidFill>
                <a:latin typeface="Open Sans"/>
                <a:ea typeface="Open Sans"/>
                <a:cs typeface="Open Sans"/>
                <a:sym typeface="Open Sans"/>
              </a:rPr>
              <a:t>Explicación hecha por Valentina Cambiaso :)</a:t>
            </a:r>
            <a:endParaRPr>
              <a:solidFill>
                <a:srgbClr val="CE93D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Enunciado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266325"/>
            <a:ext cx="8520600" cy="13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0"/>
              <a:t>Se está diseñando un sistema de codificación para transmitir una cadena en {a, b, c}* como una secuencia de 0’s y 1’s. La codificación sigue la siguiente tabla:</a:t>
            </a:r>
            <a:endParaRPr sz="8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5" name="Google Shape;75;p14"/>
          <p:cNvGraphicFramePr/>
          <p:nvPr/>
        </p:nvGraphicFramePr>
        <p:xfrm>
          <a:off x="2912100" y="227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{AB518D3A-EFE4-4AD1-A865-E06958C1EF9C}</a:tableStyleId>
              </a:tblPr>
              <a:tblGrid>
                <a:gridCol w="1659900"/>
                <a:gridCol w="16599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Letra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Codificación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01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b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10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- (Nada)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" name="Google Shape;76;p14"/>
          <p:cNvSpPr txBox="1"/>
          <p:nvPr/>
        </p:nvSpPr>
        <p:spPr>
          <a:xfrm>
            <a:off x="311700" y="3859675"/>
            <a:ext cx="86424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Open Sans"/>
              <a:buAutoNum type="arabicPeriod"/>
            </a:pPr>
            <a:r>
              <a:rPr lang="es-419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Diseñe un autómata traductor que se encargue de la codificación descripta.</a:t>
            </a:r>
            <a:endParaRPr sz="17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Open Sans"/>
              <a:buAutoNum type="arabicPeriod"/>
            </a:pPr>
            <a:r>
              <a:rPr lang="es-419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Sabiendo que un </a:t>
            </a:r>
            <a:r>
              <a:rPr lang="es-419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autómata</a:t>
            </a:r>
            <a:r>
              <a:rPr lang="es-419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traductor puede verse como una </a:t>
            </a:r>
            <a:r>
              <a:rPr b="1" lang="es-419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función</a:t>
            </a:r>
            <a:r>
              <a:rPr lang="es-419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… Cuál sería la imagen de la misma?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47907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Diseñar un autómata traductor</a:t>
            </a:r>
            <a:endParaRPr/>
          </a:p>
        </p:txBody>
      </p:sp>
      <p:graphicFrame>
        <p:nvGraphicFramePr>
          <p:cNvPr id="82" name="Google Shape;82;p15"/>
          <p:cNvGraphicFramePr/>
          <p:nvPr/>
        </p:nvGraphicFramePr>
        <p:xfrm>
          <a:off x="5716400" y="14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{AB518D3A-EFE4-4AD1-A865-E06958C1EF9C}</a:tableStyleId>
              </a:tblPr>
              <a:tblGrid>
                <a:gridCol w="1659900"/>
                <a:gridCol w="16599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Letra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Codificación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01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b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10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- (Nada)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" name="Google Shape;83;p15"/>
          <p:cNvSpPr txBox="1"/>
          <p:nvPr/>
        </p:nvSpPr>
        <p:spPr>
          <a:xfrm>
            <a:off x="311700" y="1329450"/>
            <a:ext cx="52968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Vamos a hacer un autómata traductor de Moore (la salida es en los estados) pero se podría hacer un autómata traductor de Mealy (la salida es en las transiciones) ya que </a:t>
            </a:r>
            <a:r>
              <a:rPr b="1" lang="es-419" sz="2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todo lo que puedo hacer con Moore lo puedo hacer con Mealy y </a:t>
            </a:r>
            <a:r>
              <a:rPr b="1" lang="es-419" sz="2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todo lo que puedo hacer con Mealy lo puedo hacer con Moore</a:t>
            </a:r>
            <a:endParaRPr b="1" sz="2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47907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Diseñar un autómata traductor</a:t>
            </a:r>
            <a:endParaRPr/>
          </a:p>
        </p:txBody>
      </p:sp>
      <p:graphicFrame>
        <p:nvGraphicFramePr>
          <p:cNvPr id="89" name="Google Shape;89;p16"/>
          <p:cNvGraphicFramePr/>
          <p:nvPr/>
        </p:nvGraphicFramePr>
        <p:xfrm>
          <a:off x="5716400" y="14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{AB518D3A-EFE4-4AD1-A865-E06958C1EF9C}</a:tableStyleId>
              </a:tblPr>
              <a:tblGrid>
                <a:gridCol w="1659900"/>
                <a:gridCol w="16599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Letra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Codificación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accent2"/>
                          </a:highlight>
                        </a:rPr>
                        <a:t>a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accent2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accent2"/>
                          </a:highlight>
                        </a:rPr>
                        <a:t>01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accent2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accent1"/>
                          </a:highlight>
                        </a:rPr>
                        <a:t>b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accent1"/>
                          </a:highlight>
                        </a:rPr>
                        <a:t>10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accent3"/>
                          </a:highlight>
                        </a:rPr>
                        <a:t>c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accent3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  <a:highlight>
                            <a:schemeClr val="accent3"/>
                          </a:highlight>
                        </a:rPr>
                        <a:t>- (Nada)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accent3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6"/>
          <p:cNvSpPr txBox="1"/>
          <p:nvPr/>
        </p:nvSpPr>
        <p:spPr>
          <a:xfrm>
            <a:off x="311700" y="1329450"/>
            <a:ext cx="5296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Antes de comenzar a diseñar, es conveniente hacer ejemplos:</a:t>
            </a:r>
            <a:endParaRPr b="1" sz="2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11694" y="2125355"/>
            <a:ext cx="86622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Si el autómata recibe como entrada la cadena:</a:t>
            </a:r>
            <a:endParaRPr sz="2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abbcab</a:t>
            </a:r>
            <a:endParaRPr sz="3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>
            <a:off x="3994425" y="3036866"/>
            <a:ext cx="1641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6"/>
          <p:cNvCxnSpPr/>
          <p:nvPr/>
        </p:nvCxnSpPr>
        <p:spPr>
          <a:xfrm>
            <a:off x="4902948" y="3036866"/>
            <a:ext cx="1641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6"/>
          <p:cNvCxnSpPr/>
          <p:nvPr/>
        </p:nvCxnSpPr>
        <p:spPr>
          <a:xfrm>
            <a:off x="4242582" y="3030989"/>
            <a:ext cx="164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6"/>
          <p:cNvCxnSpPr/>
          <p:nvPr/>
        </p:nvCxnSpPr>
        <p:spPr>
          <a:xfrm>
            <a:off x="4490738" y="3032914"/>
            <a:ext cx="164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6"/>
          <p:cNvCxnSpPr/>
          <p:nvPr/>
        </p:nvCxnSpPr>
        <p:spPr>
          <a:xfrm>
            <a:off x="5121820" y="3032914"/>
            <a:ext cx="164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6"/>
          <p:cNvCxnSpPr/>
          <p:nvPr/>
        </p:nvCxnSpPr>
        <p:spPr>
          <a:xfrm>
            <a:off x="4707584" y="3036866"/>
            <a:ext cx="1641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6"/>
          <p:cNvCxnSpPr>
            <a:endCxn id="99" idx="0"/>
          </p:cNvCxnSpPr>
          <p:nvPr/>
        </p:nvCxnSpPr>
        <p:spPr>
          <a:xfrm flipH="1">
            <a:off x="3797875" y="3118975"/>
            <a:ext cx="264900" cy="5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6"/>
          <p:cNvSpPr txBox="1"/>
          <p:nvPr/>
        </p:nvSpPr>
        <p:spPr>
          <a:xfrm>
            <a:off x="3476425" y="3625075"/>
            <a:ext cx="642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sz="2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3857425" y="3625075"/>
            <a:ext cx="642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sz="2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4293143" y="3625075"/>
            <a:ext cx="642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sz="2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4140743" y="3625075"/>
            <a:ext cx="642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4771825" y="3625075"/>
            <a:ext cx="642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sz="2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5131343" y="3625075"/>
            <a:ext cx="642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sz="25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5" name="Google Shape;105;p16"/>
          <p:cNvCxnSpPr/>
          <p:nvPr/>
        </p:nvCxnSpPr>
        <p:spPr>
          <a:xfrm flipH="1">
            <a:off x="4186000" y="3159975"/>
            <a:ext cx="95700" cy="4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6"/>
          <p:cNvCxnSpPr/>
          <p:nvPr/>
        </p:nvCxnSpPr>
        <p:spPr>
          <a:xfrm>
            <a:off x="3605525" y="4138375"/>
            <a:ext cx="287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6"/>
          <p:cNvCxnSpPr/>
          <p:nvPr/>
        </p:nvCxnSpPr>
        <p:spPr>
          <a:xfrm>
            <a:off x="4900925" y="4138375"/>
            <a:ext cx="287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6"/>
          <p:cNvCxnSpPr/>
          <p:nvPr/>
        </p:nvCxnSpPr>
        <p:spPr>
          <a:xfrm>
            <a:off x="3986525" y="4138375"/>
            <a:ext cx="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6"/>
          <p:cNvCxnSpPr/>
          <p:nvPr/>
        </p:nvCxnSpPr>
        <p:spPr>
          <a:xfrm>
            <a:off x="4443725" y="4138375"/>
            <a:ext cx="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6"/>
          <p:cNvCxnSpPr/>
          <p:nvPr/>
        </p:nvCxnSpPr>
        <p:spPr>
          <a:xfrm>
            <a:off x="5281925" y="4138375"/>
            <a:ext cx="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6"/>
          <p:cNvCxnSpPr/>
          <p:nvPr/>
        </p:nvCxnSpPr>
        <p:spPr>
          <a:xfrm>
            <a:off x="4529550" y="3089650"/>
            <a:ext cx="0" cy="60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6"/>
          <p:cNvCxnSpPr/>
          <p:nvPr/>
        </p:nvCxnSpPr>
        <p:spPr>
          <a:xfrm>
            <a:off x="4969583" y="3132616"/>
            <a:ext cx="95700" cy="4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6"/>
          <p:cNvCxnSpPr/>
          <p:nvPr/>
        </p:nvCxnSpPr>
        <p:spPr>
          <a:xfrm>
            <a:off x="5183205" y="3118925"/>
            <a:ext cx="264900" cy="5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6"/>
          <p:cNvSpPr txBox="1"/>
          <p:nvPr/>
        </p:nvSpPr>
        <p:spPr>
          <a:xfrm>
            <a:off x="311825" y="3640375"/>
            <a:ext cx="3200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Devuelve la cadena:</a:t>
            </a:r>
            <a:endParaRPr sz="2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311700" y="445025"/>
            <a:ext cx="47907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Diseñar un autómata traductor</a:t>
            </a:r>
            <a:endParaRPr/>
          </a:p>
        </p:txBody>
      </p:sp>
      <p:graphicFrame>
        <p:nvGraphicFramePr>
          <p:cNvPr id="120" name="Google Shape;120;p17"/>
          <p:cNvGraphicFramePr/>
          <p:nvPr/>
        </p:nvGraphicFramePr>
        <p:xfrm>
          <a:off x="5716400" y="14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{AB518D3A-EFE4-4AD1-A865-E06958C1EF9C}</a:tableStyleId>
              </a:tblPr>
              <a:tblGrid>
                <a:gridCol w="1659900"/>
                <a:gridCol w="16599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Letra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Codificación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01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b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10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- (Nada)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17"/>
          <p:cNvSpPr/>
          <p:nvPr/>
        </p:nvSpPr>
        <p:spPr>
          <a:xfrm>
            <a:off x="1270875" y="1725675"/>
            <a:ext cx="1176600" cy="1176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00">
                <a:solidFill>
                  <a:schemeClr val="dk2"/>
                </a:solidFill>
              </a:rPr>
              <a:t>C/-</a:t>
            </a:r>
            <a:endParaRPr sz="3100">
              <a:solidFill>
                <a:schemeClr val="dk2"/>
              </a:solidFill>
            </a:endParaRPr>
          </a:p>
        </p:txBody>
      </p:sp>
      <p:cxnSp>
        <p:nvCxnSpPr>
          <p:cNvPr id="122" name="Google Shape;122;p17"/>
          <p:cNvCxnSpPr>
            <a:endCxn id="121" idx="2"/>
          </p:cNvCxnSpPr>
          <p:nvPr/>
        </p:nvCxnSpPr>
        <p:spPr>
          <a:xfrm>
            <a:off x="490875" y="2313975"/>
            <a:ext cx="78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3" name="Google Shape;123;p17"/>
          <p:cNvSpPr txBox="1"/>
          <p:nvPr/>
        </p:nvSpPr>
        <p:spPr>
          <a:xfrm>
            <a:off x="135350" y="3162175"/>
            <a:ext cx="3027000" cy="1046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El estado inicial no imprime nada ya que aún no comenzamos a leer la cadena y no sabemos qué codificar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4277225" y="1235275"/>
            <a:ext cx="1176600" cy="1176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</a:rPr>
              <a:t>A</a:t>
            </a:r>
            <a:r>
              <a:rPr lang="es-419" sz="2400">
                <a:solidFill>
                  <a:schemeClr val="dk2"/>
                </a:solidFill>
              </a:rPr>
              <a:t>/01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4277225" y="3568125"/>
            <a:ext cx="1176600" cy="1176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</a:rPr>
              <a:t>B</a:t>
            </a:r>
            <a:r>
              <a:rPr lang="es-419" sz="2400">
                <a:solidFill>
                  <a:schemeClr val="dk2"/>
                </a:solidFill>
              </a:rPr>
              <a:t>/10</a:t>
            </a:r>
            <a:endParaRPr sz="3100">
              <a:solidFill>
                <a:schemeClr val="dk2"/>
              </a:solidFill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5716400" y="2571750"/>
            <a:ext cx="3027000" cy="615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Agregamos un estado que imprime cada codificación</a:t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311700" y="445025"/>
            <a:ext cx="47907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Diseñar un autómata traductor</a:t>
            </a:r>
            <a:endParaRPr/>
          </a:p>
        </p:txBody>
      </p:sp>
      <p:graphicFrame>
        <p:nvGraphicFramePr>
          <p:cNvPr id="132" name="Google Shape;132;p18"/>
          <p:cNvGraphicFramePr/>
          <p:nvPr/>
        </p:nvGraphicFramePr>
        <p:xfrm>
          <a:off x="5716400" y="14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{AB518D3A-EFE4-4AD1-A865-E06958C1EF9C}</a:tableStyleId>
              </a:tblPr>
              <a:tblGrid>
                <a:gridCol w="1659900"/>
                <a:gridCol w="16599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Letra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Codificación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01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b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10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- (Nada)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18"/>
          <p:cNvSpPr/>
          <p:nvPr/>
        </p:nvSpPr>
        <p:spPr>
          <a:xfrm>
            <a:off x="1270875" y="1725675"/>
            <a:ext cx="1176600" cy="1176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00">
                <a:solidFill>
                  <a:schemeClr val="dk2"/>
                </a:solidFill>
              </a:rPr>
              <a:t>C/-</a:t>
            </a:r>
            <a:endParaRPr sz="3100">
              <a:solidFill>
                <a:schemeClr val="dk2"/>
              </a:solidFill>
            </a:endParaRPr>
          </a:p>
        </p:txBody>
      </p:sp>
      <p:cxnSp>
        <p:nvCxnSpPr>
          <p:cNvPr id="134" name="Google Shape;134;p18"/>
          <p:cNvCxnSpPr>
            <a:endCxn id="133" idx="2"/>
          </p:cNvCxnSpPr>
          <p:nvPr/>
        </p:nvCxnSpPr>
        <p:spPr>
          <a:xfrm>
            <a:off x="490875" y="2313975"/>
            <a:ext cx="78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5" name="Google Shape;135;p18"/>
          <p:cNvSpPr/>
          <p:nvPr/>
        </p:nvSpPr>
        <p:spPr>
          <a:xfrm>
            <a:off x="4277225" y="1235275"/>
            <a:ext cx="1176600" cy="1176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</a:rPr>
              <a:t>A/01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277225" y="3568125"/>
            <a:ext cx="1176600" cy="1176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</a:rPr>
              <a:t>B/10</a:t>
            </a:r>
            <a:endParaRPr sz="3100">
              <a:solidFill>
                <a:schemeClr val="dk2"/>
              </a:solidFill>
            </a:endParaRPr>
          </a:p>
        </p:txBody>
      </p:sp>
      <p:cxnSp>
        <p:nvCxnSpPr>
          <p:cNvPr id="137" name="Google Shape;137;p18"/>
          <p:cNvCxnSpPr>
            <a:stCxn id="133" idx="7"/>
            <a:endCxn id="135" idx="2"/>
          </p:cNvCxnSpPr>
          <p:nvPr/>
        </p:nvCxnSpPr>
        <p:spPr>
          <a:xfrm flipH="1" rot="10800000">
            <a:off x="2275166" y="1823584"/>
            <a:ext cx="2002200" cy="7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" name="Google Shape;138;p18"/>
          <p:cNvCxnSpPr>
            <a:stCxn id="135" idx="3"/>
            <a:endCxn id="133" idx="6"/>
          </p:cNvCxnSpPr>
          <p:nvPr/>
        </p:nvCxnSpPr>
        <p:spPr>
          <a:xfrm flipH="1">
            <a:off x="2447334" y="2239566"/>
            <a:ext cx="2002200" cy="7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" name="Google Shape;139;p18"/>
          <p:cNvCxnSpPr>
            <a:stCxn id="136" idx="7"/>
            <a:endCxn id="135" idx="5"/>
          </p:cNvCxnSpPr>
          <p:nvPr/>
        </p:nvCxnSpPr>
        <p:spPr>
          <a:xfrm rot="10800000">
            <a:off x="5281516" y="2239534"/>
            <a:ext cx="0" cy="15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" name="Google Shape;140;p18"/>
          <p:cNvCxnSpPr>
            <a:stCxn id="135" idx="4"/>
            <a:endCxn id="136" idx="0"/>
          </p:cNvCxnSpPr>
          <p:nvPr/>
        </p:nvCxnSpPr>
        <p:spPr>
          <a:xfrm>
            <a:off x="4865525" y="2411875"/>
            <a:ext cx="0" cy="115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" name="Google Shape;141;p18"/>
          <p:cNvCxnSpPr>
            <a:stCxn id="136" idx="1"/>
            <a:endCxn id="133" idx="5"/>
          </p:cNvCxnSpPr>
          <p:nvPr/>
        </p:nvCxnSpPr>
        <p:spPr>
          <a:xfrm rot="10800000">
            <a:off x="2275134" y="2730034"/>
            <a:ext cx="2174400" cy="1010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" name="Google Shape;142;p18"/>
          <p:cNvCxnSpPr>
            <a:stCxn id="133" idx="4"/>
            <a:endCxn id="136" idx="2"/>
          </p:cNvCxnSpPr>
          <p:nvPr/>
        </p:nvCxnSpPr>
        <p:spPr>
          <a:xfrm>
            <a:off x="1859175" y="2902275"/>
            <a:ext cx="2418000" cy="1254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" name="Google Shape;143;p18"/>
          <p:cNvCxnSpPr/>
          <p:nvPr/>
        </p:nvCxnSpPr>
        <p:spPr>
          <a:xfrm rot="-5400000">
            <a:off x="1574445" y="1626983"/>
            <a:ext cx="138000" cy="333000"/>
          </a:xfrm>
          <a:prstGeom prst="curvedConnector3">
            <a:avLst>
              <a:gd fmla="val 400328" name="adj1"/>
            </a:avLst>
          </a:prstGeom>
          <a:noFill/>
          <a:ln cap="flat" cmpd="sng" w="28575">
            <a:solidFill>
              <a:srgbClr val="695D4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" name="Google Shape;144;p18"/>
          <p:cNvCxnSpPr>
            <a:stCxn id="135" idx="0"/>
            <a:endCxn id="135" idx="7"/>
          </p:cNvCxnSpPr>
          <p:nvPr/>
        </p:nvCxnSpPr>
        <p:spPr>
          <a:xfrm flipH="1" rot="-5400000">
            <a:off x="4987475" y="1113325"/>
            <a:ext cx="172200" cy="416100"/>
          </a:xfrm>
          <a:prstGeom prst="curvedConnector3">
            <a:avLst>
              <a:gd fmla="val -138284" name="adj1"/>
            </a:avLst>
          </a:prstGeom>
          <a:noFill/>
          <a:ln cap="flat" cmpd="sng" w="28575">
            <a:solidFill>
              <a:srgbClr val="695D4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" name="Google Shape;145;p18"/>
          <p:cNvCxnSpPr>
            <a:stCxn id="136" idx="6"/>
            <a:endCxn id="136" idx="5"/>
          </p:cNvCxnSpPr>
          <p:nvPr/>
        </p:nvCxnSpPr>
        <p:spPr>
          <a:xfrm flipH="1">
            <a:off x="5281625" y="4156425"/>
            <a:ext cx="172200" cy="416100"/>
          </a:xfrm>
          <a:prstGeom prst="curvedConnector4">
            <a:avLst>
              <a:gd fmla="val -138284" name="adj1"/>
              <a:gd fmla="val 198612" name="adj2"/>
            </a:avLst>
          </a:prstGeom>
          <a:noFill/>
          <a:ln cap="flat" cmpd="sng" w="28575">
            <a:solidFill>
              <a:srgbClr val="695D4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6" name="Google Shape;146;p18"/>
          <p:cNvSpPr txBox="1"/>
          <p:nvPr/>
        </p:nvSpPr>
        <p:spPr>
          <a:xfrm>
            <a:off x="5281525" y="2736050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3068225" y="1442050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073475" y="679300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4449525" y="2662488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2652125" y="3401113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692075" y="4315675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1180875" y="1235275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3157150" y="2172163"/>
            <a:ext cx="41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3309550" y="2857963"/>
            <a:ext cx="41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868800" y="2724150"/>
            <a:ext cx="3027000" cy="831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Agregamos los saltos entre estados según la letra que se consume de la cadena de entrada</a:t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>
            <p:ph type="title"/>
          </p:nvPr>
        </p:nvSpPr>
        <p:spPr>
          <a:xfrm>
            <a:off x="311700" y="445025"/>
            <a:ext cx="47907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Diseñar un autómata traductor</a:t>
            </a:r>
            <a:endParaRPr/>
          </a:p>
        </p:txBody>
      </p:sp>
      <p:graphicFrame>
        <p:nvGraphicFramePr>
          <p:cNvPr id="161" name="Google Shape;161;p19"/>
          <p:cNvGraphicFramePr/>
          <p:nvPr/>
        </p:nvGraphicFramePr>
        <p:xfrm>
          <a:off x="5716400" y="14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{AB518D3A-EFE4-4AD1-A865-E06958C1EF9C}</a:tableStyleId>
              </a:tblPr>
              <a:tblGrid>
                <a:gridCol w="1659900"/>
                <a:gridCol w="16599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Letra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Codificación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01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b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10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- (Nada)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19"/>
          <p:cNvSpPr/>
          <p:nvPr/>
        </p:nvSpPr>
        <p:spPr>
          <a:xfrm>
            <a:off x="1270875" y="1725675"/>
            <a:ext cx="1176600" cy="1176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00">
                <a:solidFill>
                  <a:schemeClr val="dk2"/>
                </a:solidFill>
              </a:rPr>
              <a:t>C/-</a:t>
            </a:r>
            <a:endParaRPr sz="3100">
              <a:solidFill>
                <a:schemeClr val="dk2"/>
              </a:solidFill>
            </a:endParaRPr>
          </a:p>
        </p:txBody>
      </p:sp>
      <p:cxnSp>
        <p:nvCxnSpPr>
          <p:cNvPr id="163" name="Google Shape;163;p19"/>
          <p:cNvCxnSpPr>
            <a:endCxn id="162" idx="2"/>
          </p:cNvCxnSpPr>
          <p:nvPr/>
        </p:nvCxnSpPr>
        <p:spPr>
          <a:xfrm>
            <a:off x="490875" y="2313975"/>
            <a:ext cx="78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4" name="Google Shape;164;p19"/>
          <p:cNvSpPr/>
          <p:nvPr/>
        </p:nvSpPr>
        <p:spPr>
          <a:xfrm>
            <a:off x="4277225" y="1235275"/>
            <a:ext cx="1176600" cy="1176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</a:rPr>
              <a:t>A/01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277225" y="3568125"/>
            <a:ext cx="1176600" cy="1176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</a:rPr>
              <a:t>B/10</a:t>
            </a:r>
            <a:endParaRPr sz="3100">
              <a:solidFill>
                <a:schemeClr val="dk2"/>
              </a:solidFill>
            </a:endParaRPr>
          </a:p>
        </p:txBody>
      </p:sp>
      <p:cxnSp>
        <p:nvCxnSpPr>
          <p:cNvPr id="166" name="Google Shape;166;p19"/>
          <p:cNvCxnSpPr>
            <a:stCxn id="162" idx="7"/>
            <a:endCxn id="164" idx="2"/>
          </p:cNvCxnSpPr>
          <p:nvPr/>
        </p:nvCxnSpPr>
        <p:spPr>
          <a:xfrm flipH="1" rot="10800000">
            <a:off x="2275166" y="1823584"/>
            <a:ext cx="2002200" cy="7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7" name="Google Shape;167;p19"/>
          <p:cNvCxnSpPr>
            <a:stCxn id="164" idx="3"/>
            <a:endCxn id="162" idx="6"/>
          </p:cNvCxnSpPr>
          <p:nvPr/>
        </p:nvCxnSpPr>
        <p:spPr>
          <a:xfrm flipH="1">
            <a:off x="2447334" y="2239566"/>
            <a:ext cx="2002200" cy="7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" name="Google Shape;168;p19"/>
          <p:cNvCxnSpPr>
            <a:stCxn id="165" idx="7"/>
            <a:endCxn id="164" idx="5"/>
          </p:cNvCxnSpPr>
          <p:nvPr/>
        </p:nvCxnSpPr>
        <p:spPr>
          <a:xfrm rot="10800000">
            <a:off x="5281516" y="2239534"/>
            <a:ext cx="0" cy="15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9" name="Google Shape;169;p19"/>
          <p:cNvCxnSpPr>
            <a:stCxn id="164" idx="4"/>
            <a:endCxn id="165" idx="0"/>
          </p:cNvCxnSpPr>
          <p:nvPr/>
        </p:nvCxnSpPr>
        <p:spPr>
          <a:xfrm>
            <a:off x="4865525" y="2411875"/>
            <a:ext cx="0" cy="115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" name="Google Shape;170;p19"/>
          <p:cNvCxnSpPr>
            <a:stCxn id="165" idx="1"/>
            <a:endCxn id="162" idx="5"/>
          </p:cNvCxnSpPr>
          <p:nvPr/>
        </p:nvCxnSpPr>
        <p:spPr>
          <a:xfrm rot="10800000">
            <a:off x="2275134" y="2730034"/>
            <a:ext cx="2174400" cy="1010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" name="Google Shape;171;p19"/>
          <p:cNvCxnSpPr>
            <a:stCxn id="162" idx="4"/>
            <a:endCxn id="165" idx="2"/>
          </p:cNvCxnSpPr>
          <p:nvPr/>
        </p:nvCxnSpPr>
        <p:spPr>
          <a:xfrm>
            <a:off x="1859175" y="2902275"/>
            <a:ext cx="2418000" cy="1254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2" name="Google Shape;172;p19"/>
          <p:cNvCxnSpPr/>
          <p:nvPr/>
        </p:nvCxnSpPr>
        <p:spPr>
          <a:xfrm rot="-5400000">
            <a:off x="1574445" y="1626983"/>
            <a:ext cx="138000" cy="333000"/>
          </a:xfrm>
          <a:prstGeom prst="curvedConnector3">
            <a:avLst>
              <a:gd fmla="val 400328" name="adj1"/>
            </a:avLst>
          </a:prstGeom>
          <a:noFill/>
          <a:ln cap="flat" cmpd="sng" w="28575">
            <a:solidFill>
              <a:srgbClr val="695D4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" name="Google Shape;173;p19"/>
          <p:cNvCxnSpPr>
            <a:stCxn id="164" idx="0"/>
            <a:endCxn id="164" idx="7"/>
          </p:cNvCxnSpPr>
          <p:nvPr/>
        </p:nvCxnSpPr>
        <p:spPr>
          <a:xfrm flipH="1" rot="-5400000">
            <a:off x="4987475" y="1113325"/>
            <a:ext cx="172200" cy="416100"/>
          </a:xfrm>
          <a:prstGeom prst="curvedConnector3">
            <a:avLst>
              <a:gd fmla="val -138284" name="adj1"/>
            </a:avLst>
          </a:prstGeom>
          <a:noFill/>
          <a:ln cap="flat" cmpd="sng" w="28575">
            <a:solidFill>
              <a:srgbClr val="695D4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" name="Google Shape;174;p19"/>
          <p:cNvCxnSpPr>
            <a:stCxn id="165" idx="6"/>
            <a:endCxn id="165" idx="5"/>
          </p:cNvCxnSpPr>
          <p:nvPr/>
        </p:nvCxnSpPr>
        <p:spPr>
          <a:xfrm flipH="1">
            <a:off x="5281625" y="4156425"/>
            <a:ext cx="172200" cy="416100"/>
          </a:xfrm>
          <a:prstGeom prst="curvedConnector4">
            <a:avLst>
              <a:gd fmla="val -138284" name="adj1"/>
              <a:gd fmla="val 198612" name="adj2"/>
            </a:avLst>
          </a:prstGeom>
          <a:noFill/>
          <a:ln cap="flat" cmpd="sng" w="28575">
            <a:solidFill>
              <a:srgbClr val="695D4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5" name="Google Shape;175;p19"/>
          <p:cNvSpPr txBox="1"/>
          <p:nvPr/>
        </p:nvSpPr>
        <p:spPr>
          <a:xfrm>
            <a:off x="5281525" y="2736050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3068225" y="1442050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5073475" y="679300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4449525" y="2662488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2652125" y="3401113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692075" y="4315675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1180875" y="1235275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3157150" y="2172163"/>
            <a:ext cx="41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3309550" y="2857963"/>
            <a:ext cx="41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311700" y="3401125"/>
            <a:ext cx="2245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 = (S, Σ, Γ ,δ, C, f</a:t>
            </a:r>
            <a:r>
              <a:rPr baseline="-25000" lang="es-419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s-419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7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 = {A, B, C}</a:t>
            </a:r>
            <a:endParaRPr sz="17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Σ = {a, b, c}</a:t>
            </a:r>
            <a:endParaRPr sz="17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Γ = {0, 1}</a:t>
            </a:r>
            <a:endParaRPr sz="17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85" name="Google Shape;185;p19"/>
          <p:cNvGraphicFramePr/>
          <p:nvPr/>
        </p:nvGraphicFramePr>
        <p:xfrm>
          <a:off x="6422700" y="274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{AB518D3A-EFE4-4AD1-A865-E06958C1EF9C}</a:tableStyleId>
              </a:tblPr>
              <a:tblGrid>
                <a:gridCol w="449025"/>
                <a:gridCol w="449025"/>
                <a:gridCol w="449025"/>
                <a:gridCol w="449025"/>
                <a:gridCol w="44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δ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a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b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c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r>
                        <a:rPr baseline="-25000" lang="es-419" sz="18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A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A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B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C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01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B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A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B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C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10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C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A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B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C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-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311700" y="445025"/>
            <a:ext cx="47907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Diseñar un autómata traductor</a:t>
            </a:r>
            <a:endParaRPr/>
          </a:p>
        </p:txBody>
      </p:sp>
      <p:graphicFrame>
        <p:nvGraphicFramePr>
          <p:cNvPr id="191" name="Google Shape;191;p20"/>
          <p:cNvGraphicFramePr/>
          <p:nvPr/>
        </p:nvGraphicFramePr>
        <p:xfrm>
          <a:off x="5716400" y="14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{AB518D3A-EFE4-4AD1-A865-E06958C1EF9C}</a:tableStyleId>
              </a:tblPr>
              <a:tblGrid>
                <a:gridCol w="1659900"/>
                <a:gridCol w="16599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Letra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Codificación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01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b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10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c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- (Nada)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0"/>
          <p:cNvSpPr/>
          <p:nvPr/>
        </p:nvSpPr>
        <p:spPr>
          <a:xfrm>
            <a:off x="1270875" y="1725675"/>
            <a:ext cx="1176600" cy="1176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00">
                <a:solidFill>
                  <a:schemeClr val="dk2"/>
                </a:solidFill>
              </a:rPr>
              <a:t>C/-</a:t>
            </a:r>
            <a:endParaRPr sz="3100">
              <a:solidFill>
                <a:schemeClr val="dk2"/>
              </a:solidFill>
            </a:endParaRPr>
          </a:p>
        </p:txBody>
      </p:sp>
      <p:cxnSp>
        <p:nvCxnSpPr>
          <p:cNvPr id="193" name="Google Shape;193;p20"/>
          <p:cNvCxnSpPr>
            <a:endCxn id="192" idx="2"/>
          </p:cNvCxnSpPr>
          <p:nvPr/>
        </p:nvCxnSpPr>
        <p:spPr>
          <a:xfrm>
            <a:off x="490875" y="2313975"/>
            <a:ext cx="78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" name="Google Shape;194;p20"/>
          <p:cNvSpPr/>
          <p:nvPr/>
        </p:nvSpPr>
        <p:spPr>
          <a:xfrm>
            <a:off x="4277225" y="1235275"/>
            <a:ext cx="1176600" cy="1176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</a:rPr>
              <a:t>A/01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277225" y="3568125"/>
            <a:ext cx="1176600" cy="1176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</a:rPr>
              <a:t>B/10</a:t>
            </a:r>
            <a:endParaRPr sz="3100">
              <a:solidFill>
                <a:schemeClr val="dk2"/>
              </a:solidFill>
            </a:endParaRPr>
          </a:p>
        </p:txBody>
      </p:sp>
      <p:cxnSp>
        <p:nvCxnSpPr>
          <p:cNvPr id="196" name="Google Shape;196;p20"/>
          <p:cNvCxnSpPr>
            <a:stCxn id="192" idx="7"/>
            <a:endCxn id="194" idx="2"/>
          </p:cNvCxnSpPr>
          <p:nvPr/>
        </p:nvCxnSpPr>
        <p:spPr>
          <a:xfrm flipH="1" rot="10800000">
            <a:off x="2275166" y="1823584"/>
            <a:ext cx="2002200" cy="7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7" name="Google Shape;197;p20"/>
          <p:cNvCxnSpPr>
            <a:stCxn id="194" idx="3"/>
            <a:endCxn id="192" idx="6"/>
          </p:cNvCxnSpPr>
          <p:nvPr/>
        </p:nvCxnSpPr>
        <p:spPr>
          <a:xfrm flipH="1">
            <a:off x="2447334" y="2239566"/>
            <a:ext cx="2002200" cy="7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" name="Google Shape;198;p20"/>
          <p:cNvCxnSpPr>
            <a:stCxn id="195" idx="7"/>
            <a:endCxn id="194" idx="5"/>
          </p:cNvCxnSpPr>
          <p:nvPr/>
        </p:nvCxnSpPr>
        <p:spPr>
          <a:xfrm rot="10800000">
            <a:off x="5281516" y="2239534"/>
            <a:ext cx="0" cy="15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" name="Google Shape;199;p20"/>
          <p:cNvCxnSpPr>
            <a:stCxn id="194" idx="4"/>
            <a:endCxn id="195" idx="0"/>
          </p:cNvCxnSpPr>
          <p:nvPr/>
        </p:nvCxnSpPr>
        <p:spPr>
          <a:xfrm>
            <a:off x="4865525" y="2411875"/>
            <a:ext cx="0" cy="115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" name="Google Shape;200;p20"/>
          <p:cNvCxnSpPr>
            <a:stCxn id="195" idx="1"/>
            <a:endCxn id="192" idx="5"/>
          </p:cNvCxnSpPr>
          <p:nvPr/>
        </p:nvCxnSpPr>
        <p:spPr>
          <a:xfrm rot="10800000">
            <a:off x="2275134" y="2730034"/>
            <a:ext cx="2174400" cy="1010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" name="Google Shape;201;p20"/>
          <p:cNvCxnSpPr>
            <a:stCxn id="192" idx="4"/>
            <a:endCxn id="195" idx="2"/>
          </p:cNvCxnSpPr>
          <p:nvPr/>
        </p:nvCxnSpPr>
        <p:spPr>
          <a:xfrm>
            <a:off x="1859175" y="2902275"/>
            <a:ext cx="2418000" cy="1254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" name="Google Shape;202;p20"/>
          <p:cNvCxnSpPr/>
          <p:nvPr/>
        </p:nvCxnSpPr>
        <p:spPr>
          <a:xfrm rot="-5400000">
            <a:off x="1574445" y="1626983"/>
            <a:ext cx="138000" cy="333000"/>
          </a:xfrm>
          <a:prstGeom prst="curvedConnector3">
            <a:avLst>
              <a:gd fmla="val 400328" name="adj1"/>
            </a:avLst>
          </a:prstGeom>
          <a:noFill/>
          <a:ln cap="flat" cmpd="sng" w="28575">
            <a:solidFill>
              <a:srgbClr val="695D4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" name="Google Shape;203;p20"/>
          <p:cNvCxnSpPr>
            <a:stCxn id="194" idx="0"/>
            <a:endCxn id="194" idx="7"/>
          </p:cNvCxnSpPr>
          <p:nvPr/>
        </p:nvCxnSpPr>
        <p:spPr>
          <a:xfrm flipH="1" rot="-5400000">
            <a:off x="4987475" y="1113325"/>
            <a:ext cx="172200" cy="416100"/>
          </a:xfrm>
          <a:prstGeom prst="curvedConnector3">
            <a:avLst>
              <a:gd fmla="val -138284" name="adj1"/>
            </a:avLst>
          </a:prstGeom>
          <a:noFill/>
          <a:ln cap="flat" cmpd="sng" w="28575">
            <a:solidFill>
              <a:srgbClr val="695D4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" name="Google Shape;204;p20"/>
          <p:cNvCxnSpPr>
            <a:stCxn id="195" idx="6"/>
            <a:endCxn id="195" idx="5"/>
          </p:cNvCxnSpPr>
          <p:nvPr/>
        </p:nvCxnSpPr>
        <p:spPr>
          <a:xfrm flipH="1">
            <a:off x="5281625" y="4156425"/>
            <a:ext cx="172200" cy="416100"/>
          </a:xfrm>
          <a:prstGeom prst="curvedConnector4">
            <a:avLst>
              <a:gd fmla="val -138284" name="adj1"/>
              <a:gd fmla="val 198612" name="adj2"/>
            </a:avLst>
          </a:prstGeom>
          <a:noFill/>
          <a:ln cap="flat" cmpd="sng" w="28575">
            <a:solidFill>
              <a:srgbClr val="695D4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5" name="Google Shape;205;p20"/>
          <p:cNvSpPr txBox="1"/>
          <p:nvPr/>
        </p:nvSpPr>
        <p:spPr>
          <a:xfrm>
            <a:off x="5281525" y="2736050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068225" y="1442050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073475" y="679300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449525" y="2662488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652125" y="3401113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692075" y="4315675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1180875" y="1235275"/>
            <a:ext cx="4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157150" y="2172163"/>
            <a:ext cx="41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3309550" y="2857963"/>
            <a:ext cx="41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066375" y="1981100"/>
            <a:ext cx="2842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Ejemplo</a:t>
            </a:r>
            <a:endParaRPr u="sng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Input: abcb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AutoNum type="arabicPeriod"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C/-	Salida: -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AutoNum type="arabicPeriod"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Leemos </a:t>
            </a:r>
            <a:r>
              <a:rPr b="1"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y vamos a A/01 Salida: 01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AutoNum type="arabicPeriod"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Leemos </a:t>
            </a:r>
            <a:r>
              <a:rPr b="1"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y vamos a B/10 Salida: 0110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AutoNum type="arabicPeriod"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Leemos </a:t>
            </a:r>
            <a:r>
              <a:rPr b="1"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y vamos a C/- Salida: 0110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AutoNum type="arabicPeriod"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Leemos </a:t>
            </a:r>
            <a:r>
              <a:rPr b="1"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y vamos a B/10 Salida: 011010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Output: 011010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lenguaje es?</a:t>
            </a:r>
            <a:endParaRPr/>
          </a:p>
        </p:txBody>
      </p:sp>
      <p:sp>
        <p:nvSpPr>
          <p:cNvPr id="220" name="Google Shape;220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Algunas de las cadenas que el </a:t>
            </a:r>
            <a:r>
              <a:rPr lang="es-419"/>
              <a:t>autómata</a:t>
            </a:r>
            <a:r>
              <a:rPr lang="es-419"/>
              <a:t> </a:t>
            </a:r>
            <a:r>
              <a:rPr lang="es-419"/>
              <a:t>M </a:t>
            </a:r>
            <a:r>
              <a:rPr lang="es-419"/>
              <a:t>transforma son: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λ, 10, 01, 0101, 1010, 1001, 0110, 010101, 101010,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Entonces, la imagen de la </a:t>
            </a:r>
            <a:r>
              <a:rPr b="1" lang="es-419"/>
              <a:t>función</a:t>
            </a:r>
            <a:r>
              <a:rPr b="1" lang="es-419"/>
              <a:t> de M </a:t>
            </a:r>
            <a:r>
              <a:rPr lang="es-419"/>
              <a:t>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L(M) = {w | w ∈ {01, 10}*}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</a:t>
            </a:r>
            <a:endParaRPr/>
          </a:p>
        </p:txBody>
      </p:sp>
      <p:sp>
        <p:nvSpPr>
          <p:cNvPr id="226" name="Google Shape;226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Suponga que entra la cadena acbbca, ¿cuál es la cadena que se genera como salida del autómata?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¿Se podría hacer un autómata que “decodifique” dicha salida?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¿Podemos decir entonces que el sistema de codificación es bueno?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