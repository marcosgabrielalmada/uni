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27c5027a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27c5027a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27c5027a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27c5027a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e280d6b2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e280d6b2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280d6b2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280d6b2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e27c5027a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e27c5027a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280d6b23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280d6b23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27c5027a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e27c5027a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281d02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281d02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Lenguajes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Operaciones sobre lenguajes y gramáticas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58300" y="4205575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E93D8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Valentina Cambiaso :)</a:t>
            </a:r>
            <a:endParaRPr>
              <a:solidFill>
                <a:srgbClr val="CE93D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Enunciado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Considere los siguientes lenguajes: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L1 = {001, 100}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L2 = L(E1)			E1 = (00)*1*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L3 = L(G) 			G = ({S}, {0, 1}, S, P) con P = {S → 0S1 | 01}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L4 = {a  |n ≥ 0}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Definir por comprensión los siguientes lenguajes: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(L1)* ⋅ L4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-419"/>
              <a:t>L2 ∩ L3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Definir una gramática que genere el lenguaje del inciso (b)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1024330" y="2685629"/>
            <a:ext cx="81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3n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Definir por comprensión (L1)* ⋅ L4 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Hay dos operaciones a hacer: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Estrella de Kleene: L1</a:t>
            </a:r>
            <a:r>
              <a:rPr b="1" lang="es-419">
                <a:solidFill>
                  <a:schemeClr val="accent5"/>
                </a:solidFill>
              </a:rPr>
              <a:t>*</a:t>
            </a:r>
            <a:r>
              <a:rPr lang="es-419"/>
              <a:t> = {w</a:t>
            </a:r>
            <a:r>
              <a:rPr lang="es-419" sz="1000"/>
              <a:t>1</a:t>
            </a:r>
            <a:r>
              <a:rPr lang="es-419"/>
              <a:t>w</a:t>
            </a:r>
            <a:r>
              <a:rPr lang="es-419" sz="1000"/>
              <a:t>2</a:t>
            </a:r>
            <a:r>
              <a:rPr lang="es-419"/>
              <a:t> … w</a:t>
            </a:r>
            <a:r>
              <a:rPr lang="es-419" sz="1000"/>
              <a:t>n</a:t>
            </a:r>
            <a:r>
              <a:rPr lang="es-419"/>
              <a:t> | w</a:t>
            </a:r>
            <a:r>
              <a:rPr lang="es-419" sz="1000"/>
              <a:t>i</a:t>
            </a:r>
            <a:r>
              <a:rPr lang="es-419"/>
              <a:t> </a:t>
            </a:r>
            <a:r>
              <a:rPr lang="es-419" sz="2100"/>
              <a:t>∊</a:t>
            </a:r>
            <a:r>
              <a:rPr lang="es-419"/>
              <a:t> L1, n ≥ 0}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Concatenación: (</a:t>
            </a:r>
            <a:r>
              <a:rPr lang="es-419"/>
              <a:t>L1)* </a:t>
            </a:r>
            <a:r>
              <a:rPr b="1" lang="es-419">
                <a:solidFill>
                  <a:schemeClr val="accent5"/>
                </a:solidFill>
              </a:rPr>
              <a:t>⋅</a:t>
            </a:r>
            <a:r>
              <a:rPr lang="es-419"/>
              <a:t> L4 = {w1w2 | w1 </a:t>
            </a:r>
            <a:r>
              <a:rPr lang="es-419" sz="2100"/>
              <a:t>∊</a:t>
            </a:r>
            <a:r>
              <a:rPr lang="es-419"/>
              <a:t> (L1)* y w2 </a:t>
            </a:r>
            <a:r>
              <a:rPr lang="es-419" sz="2100"/>
              <a:t>∊</a:t>
            </a:r>
            <a:r>
              <a:rPr lang="es-419"/>
              <a:t> L4}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142125" y="474725"/>
            <a:ext cx="1513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L1 = {001, 100}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L4 = {a  |n ≥ 0}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692507" y="707354"/>
            <a:ext cx="81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3n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Definir por comprensión (L1)* ⋅ L4 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Estrella de Kleene: L1</a:t>
            </a:r>
            <a:r>
              <a:rPr b="1" lang="es-419">
                <a:solidFill>
                  <a:schemeClr val="accent5"/>
                </a:solidFill>
              </a:rPr>
              <a:t>*</a:t>
            </a:r>
            <a:r>
              <a:rPr lang="es-419"/>
              <a:t> = {w</a:t>
            </a:r>
            <a:r>
              <a:rPr lang="es-419" sz="1000"/>
              <a:t>1</a:t>
            </a:r>
            <a:r>
              <a:rPr lang="es-419"/>
              <a:t>w</a:t>
            </a:r>
            <a:r>
              <a:rPr lang="es-419" sz="1000"/>
              <a:t>2</a:t>
            </a:r>
            <a:r>
              <a:rPr lang="es-419"/>
              <a:t> … w</a:t>
            </a:r>
            <a:r>
              <a:rPr lang="es-419" sz="1000"/>
              <a:t>n</a:t>
            </a:r>
            <a:r>
              <a:rPr lang="es-419"/>
              <a:t> | w</a:t>
            </a:r>
            <a:r>
              <a:rPr lang="es-419" sz="1000"/>
              <a:t>i</a:t>
            </a:r>
            <a:r>
              <a:rPr lang="es-419"/>
              <a:t> </a:t>
            </a:r>
            <a:r>
              <a:rPr lang="es-419" sz="2100"/>
              <a:t>∊</a:t>
            </a:r>
            <a:r>
              <a:rPr lang="es-419"/>
              <a:t> L1, n ≥ 0}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Sabiendo que L1 = {001,100}, podemos encontrar algunas cadenas que pertenecen a L1*: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L1* = {λ, 001, 100, 001001, 100100, 100001, 001100, …}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Entonces, L1* = {w</a:t>
            </a:r>
            <a:r>
              <a:rPr lang="es-419" sz="1000"/>
              <a:t>1</a:t>
            </a:r>
            <a:r>
              <a:rPr lang="es-419"/>
              <a:t>w</a:t>
            </a:r>
            <a:r>
              <a:rPr lang="es-419" sz="1000"/>
              <a:t>2</a:t>
            </a:r>
            <a:r>
              <a:rPr lang="es-419"/>
              <a:t> … w</a:t>
            </a:r>
            <a:r>
              <a:rPr lang="es-419" sz="1000"/>
              <a:t>n</a:t>
            </a:r>
            <a:r>
              <a:rPr lang="es-419"/>
              <a:t> | w</a:t>
            </a:r>
            <a:r>
              <a:rPr lang="es-419" sz="1000"/>
              <a:t>i</a:t>
            </a:r>
            <a:r>
              <a:rPr lang="es-419"/>
              <a:t> </a:t>
            </a:r>
            <a:r>
              <a:rPr lang="es-419" sz="2100"/>
              <a:t>∊</a:t>
            </a:r>
            <a:r>
              <a:rPr lang="es-419"/>
              <a:t> {001, 100}, n ≥ 0}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6142125" y="474725"/>
            <a:ext cx="1513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L1 = {001, 100}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L4 = {a  |n ≥ 0}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692507" y="707354"/>
            <a:ext cx="81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3n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Definir por comprensión (L1)* ⋅ L4 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266325"/>
            <a:ext cx="8520600" cy="37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1155" lvl="0" marL="457200" rtl="0" algn="l">
              <a:spcBef>
                <a:spcPts val="0"/>
              </a:spcBef>
              <a:spcAft>
                <a:spcPts val="0"/>
              </a:spcAft>
              <a:buSzPct val="101276"/>
              <a:buAutoNum type="arabicPeriod" startAt="2"/>
            </a:pPr>
            <a:r>
              <a:rPr lang="es-419" sz="2241"/>
              <a:t>Concatenación: (L1)* </a:t>
            </a:r>
            <a:r>
              <a:rPr b="1" lang="es-419" sz="2241">
                <a:solidFill>
                  <a:schemeClr val="accent5"/>
                </a:solidFill>
              </a:rPr>
              <a:t>⋅</a:t>
            </a:r>
            <a:r>
              <a:rPr lang="es-419" sz="2241"/>
              <a:t> L4 = {w1w2 | w1 </a:t>
            </a:r>
            <a:r>
              <a:rPr lang="es-419" sz="2541"/>
              <a:t>∊</a:t>
            </a:r>
            <a:r>
              <a:rPr lang="es-419" sz="2241"/>
              <a:t> (L1)* y w2 </a:t>
            </a:r>
            <a:r>
              <a:rPr lang="es-419" sz="2541"/>
              <a:t>∊</a:t>
            </a:r>
            <a:r>
              <a:rPr lang="es-419" sz="2241"/>
              <a:t> L4}</a:t>
            </a:r>
            <a:endParaRPr sz="224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41"/>
              <a:t>Sabiendo que </a:t>
            </a:r>
            <a:r>
              <a:rPr lang="es-419" sz="2241"/>
              <a:t>L1* = {w</a:t>
            </a:r>
            <a:r>
              <a:rPr lang="es-419" sz="1441"/>
              <a:t>1</a:t>
            </a:r>
            <a:r>
              <a:rPr lang="es-419" sz="2241"/>
              <a:t>w</a:t>
            </a:r>
            <a:r>
              <a:rPr lang="es-419" sz="1441"/>
              <a:t>2</a:t>
            </a:r>
            <a:r>
              <a:rPr lang="es-419" sz="2241"/>
              <a:t> … w</a:t>
            </a:r>
            <a:r>
              <a:rPr lang="es-419" sz="1441"/>
              <a:t>n</a:t>
            </a:r>
            <a:r>
              <a:rPr lang="es-419" sz="2241"/>
              <a:t> | w</a:t>
            </a:r>
            <a:r>
              <a:rPr lang="es-419" sz="1441"/>
              <a:t>i</a:t>
            </a:r>
            <a:r>
              <a:rPr lang="es-419" sz="2241"/>
              <a:t> </a:t>
            </a:r>
            <a:r>
              <a:rPr lang="es-419" sz="2541"/>
              <a:t>∊</a:t>
            </a:r>
            <a:r>
              <a:rPr lang="es-419" sz="2241"/>
              <a:t> {001, 100}, n ≥ 0} y L4 = {a</a:t>
            </a:r>
            <a:r>
              <a:rPr baseline="30000" lang="es-419" sz="2241"/>
              <a:t>3n</a:t>
            </a:r>
            <a:r>
              <a:rPr lang="es-419" sz="2241"/>
              <a:t>|n ≥ 0}, podemos encontrar algunas cadenas que pertenecen a (L1)* ⋅ L4:</a:t>
            </a:r>
            <a:endParaRPr sz="224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41"/>
              <a:t>(L1)* = {λ, 001, 100, 001001, 100100, 100001, 001100, …}</a:t>
            </a:r>
            <a:endParaRPr sz="224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41"/>
              <a:t>L4 = {λ, aaa, aaaaaa, aaaaaaaaa, …}</a:t>
            </a:r>
            <a:endParaRPr sz="224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41"/>
              <a:t>(L1)* ⋅ L4 = {λ, 001, 100, aaa, 001aaa, 100aaa, …}</a:t>
            </a:r>
            <a:endParaRPr sz="224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41"/>
              <a:t>Las cadenas serán aquellas que pertenecen a (L1)* </a:t>
            </a:r>
            <a:r>
              <a:rPr lang="es-419" sz="2241" u="sng"/>
              <a:t>seguidas</a:t>
            </a:r>
            <a:r>
              <a:rPr lang="es-419" sz="2241"/>
              <a:t> de las que pertenecen a L4.</a:t>
            </a:r>
            <a:endParaRPr sz="224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241"/>
              <a:t>Entonces, </a:t>
            </a:r>
            <a:r>
              <a:rPr b="1" lang="es-419" sz="2241"/>
              <a:t>(L1)* ⋅ L4 = {w</a:t>
            </a:r>
            <a:r>
              <a:rPr b="1" lang="es-419" sz="2200"/>
              <a:t>a</a:t>
            </a:r>
            <a:r>
              <a:rPr b="1" baseline="30000" lang="es-419" sz="2200"/>
              <a:t>3n</a:t>
            </a:r>
            <a:r>
              <a:rPr b="1" lang="es-419" sz="2241"/>
              <a:t> | w </a:t>
            </a:r>
            <a:r>
              <a:rPr b="1" lang="es-419" sz="2541"/>
              <a:t>∊</a:t>
            </a:r>
            <a:r>
              <a:rPr b="1" lang="es-419" sz="2241"/>
              <a:t> {001, 100}*, n ≥ 0}</a:t>
            </a:r>
            <a:endParaRPr b="1" sz="2241"/>
          </a:p>
        </p:txBody>
      </p:sp>
      <p:sp>
        <p:nvSpPr>
          <p:cNvPr id="100" name="Google Shape;100;p17"/>
          <p:cNvSpPr txBox="1"/>
          <p:nvPr/>
        </p:nvSpPr>
        <p:spPr>
          <a:xfrm>
            <a:off x="6142125" y="474725"/>
            <a:ext cx="1513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L1 = {001, 100}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L4 = {a  |n ≥ 0}</a:t>
            </a:r>
            <a:endParaRPr sz="1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692507" y="707354"/>
            <a:ext cx="81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3n</a:t>
            </a:r>
            <a:endParaRPr sz="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Definir por comprensión </a:t>
            </a:r>
            <a:r>
              <a:rPr lang="es-419"/>
              <a:t>L2 ∩ L3</a:t>
            </a:r>
            <a:r>
              <a:rPr lang="es-419"/>
              <a:t> 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266325"/>
            <a:ext cx="8832300" cy="35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Intersección: L2 ∩ L3 = {w | w ∊ L2 y w ∊ L3}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Veamos qué forma tienen las cadenas que pertenecen a cada lenguaje: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L2 = {</a:t>
            </a:r>
            <a:r>
              <a:rPr lang="es-419"/>
              <a:t>λ, 00, 0000, 000000, 1, 11, 111, 1111, 001, 0011, 000011, 00001111, …</a:t>
            </a:r>
            <a:r>
              <a:rPr lang="es-419"/>
              <a:t>}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→ Las cadenas que pertenecen a L2 son aquellas que tienen una cantidad par de 0’s ≥ 0 seguidas de una cantidad de 1’s ≥ 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L3 = {01, 0011, 000111, 00001111, 0000011111, …}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	→ Las cadenas que pertenecen a L3 son aquellas que tienen 0’s seguidos de 1’s y la cantidad de 0’s = cantidad de 1’s &gt; 0.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5359350" y="524375"/>
            <a:ext cx="383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L2 = L(E1)	E1 = (00)*1*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L3 = L(G) 	G = ({S}, {0, 1}, S, P) con P = {S → 0S1 | 01}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Definir por comprensión L2 ∩ L3 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266325"/>
            <a:ext cx="8832300" cy="35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Intersección: L2 ∩ L3 = {w | w ∊ L2 y w ∊ L3}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Conociendo qué forma tienen las cadenas que pertenecen a cada lenguaje, encontremos cadenas en común: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L2 = {λ, 00, 0000, 000000, 1, 11, 111, 1111, 001, 0011, 000011, 00001111, …}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L3 = {01, 0011, 000111, 00001111, 0000011111, …}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Tendrán en común aquellas cadenas que tienen </a:t>
            </a:r>
            <a:r>
              <a:rPr b="1" lang="es-419"/>
              <a:t>igual cantidad 0’s que de 1’s</a:t>
            </a:r>
            <a:r>
              <a:rPr lang="es-419"/>
              <a:t> y además la </a:t>
            </a:r>
            <a:r>
              <a:rPr b="1" lang="es-419"/>
              <a:t>cantidad de ambos es par</a:t>
            </a:r>
            <a:r>
              <a:rPr lang="es-419"/>
              <a:t> y </a:t>
            </a:r>
            <a:r>
              <a:rPr b="1" lang="es-419"/>
              <a:t>&gt; 0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Entonces, </a:t>
            </a:r>
            <a:r>
              <a:rPr b="1" lang="es-419"/>
              <a:t>L2 ∩ L3 = {0</a:t>
            </a:r>
            <a:r>
              <a:rPr b="1" baseline="30000" lang="es-419"/>
              <a:t>2n</a:t>
            </a:r>
            <a:r>
              <a:rPr b="1" lang="es-419"/>
              <a:t>1</a:t>
            </a:r>
            <a:r>
              <a:rPr b="1" baseline="30000" lang="es-419"/>
              <a:t>2n</a:t>
            </a:r>
            <a:r>
              <a:rPr b="1" lang="es-419"/>
              <a:t>| n &gt; 0</a:t>
            </a:r>
            <a:r>
              <a:rPr b="1" lang="es-419"/>
              <a:t>}</a:t>
            </a:r>
            <a:endParaRPr b="1"/>
          </a:p>
        </p:txBody>
      </p:sp>
      <p:sp>
        <p:nvSpPr>
          <p:cNvPr id="116" name="Google Shape;116;p19"/>
          <p:cNvSpPr txBox="1"/>
          <p:nvPr/>
        </p:nvSpPr>
        <p:spPr>
          <a:xfrm>
            <a:off x="5359350" y="524375"/>
            <a:ext cx="383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L2 = L(E1)	E1 = (00)*1*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L3 = L(G) 	G = ({S}, {0, 1}, S, P) con P = {S → 0S1 | 01}</a:t>
            </a:r>
            <a:endParaRPr sz="700"/>
          </a:p>
        </p:txBody>
      </p:sp>
      <p:cxnSp>
        <p:nvCxnSpPr>
          <p:cNvPr id="117" name="Google Shape;117;p19"/>
          <p:cNvCxnSpPr/>
          <p:nvPr/>
        </p:nvCxnSpPr>
        <p:spPr>
          <a:xfrm>
            <a:off x="1402775" y="3359275"/>
            <a:ext cx="46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5441375" y="2902075"/>
            <a:ext cx="46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2926775" y="3359275"/>
            <a:ext cx="10233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>
            <a:off x="7016965" y="2902075"/>
            <a:ext cx="10233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Gramática que genere</a:t>
            </a:r>
            <a:r>
              <a:rPr lang="es-419"/>
              <a:t> L(L2 ∩ L3)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266325"/>
            <a:ext cx="8520600" cy="3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/>
              <a:t>Sabiendo que</a:t>
            </a:r>
            <a:r>
              <a:rPr lang="es-419" sz="2100"/>
              <a:t> </a:t>
            </a:r>
            <a:r>
              <a:rPr lang="es-419" sz="2100"/>
              <a:t>L2 ∩ L3 = {0</a:t>
            </a:r>
            <a:r>
              <a:rPr baseline="30000" lang="es-419" sz="2100"/>
              <a:t>2n</a:t>
            </a:r>
            <a:r>
              <a:rPr lang="es-419" sz="2100"/>
              <a:t>1</a:t>
            </a:r>
            <a:r>
              <a:rPr baseline="30000" lang="es-419" sz="2100"/>
              <a:t>2n</a:t>
            </a:r>
            <a:r>
              <a:rPr lang="es-419" sz="2100"/>
              <a:t>| n &gt; 0}, queremos hallar una gramática G que genere L(L2 ∩ L3).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100"/>
              <a:t>Sea G = {V</a:t>
            </a:r>
            <a:r>
              <a:rPr baseline="-25000" lang="es-419" sz="2100"/>
              <a:t>N</a:t>
            </a:r>
            <a:r>
              <a:rPr lang="es-419" sz="2100"/>
              <a:t>, V</a:t>
            </a:r>
            <a:r>
              <a:rPr baseline="-25000" lang="es-419" sz="2100"/>
              <a:t>T</a:t>
            </a:r>
            <a:r>
              <a:rPr lang="es-419" sz="2100"/>
              <a:t>, S, P}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100"/>
              <a:t>V</a:t>
            </a:r>
            <a:r>
              <a:rPr baseline="-25000" lang="es-419" sz="2100"/>
              <a:t>N </a:t>
            </a:r>
            <a:r>
              <a:rPr lang="es-419" sz="2100"/>
              <a:t>= {S}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100"/>
              <a:t>V</a:t>
            </a:r>
            <a:r>
              <a:rPr baseline="-25000" lang="es-419" sz="2100"/>
              <a:t>T </a:t>
            </a:r>
            <a:r>
              <a:rPr lang="es-419" sz="2100"/>
              <a:t>= {0,1}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100"/>
              <a:t>P = {S → 0011 | 00S11}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100"/>
              <a:t>Cadenas que genera G: 0011, 00001111, 000000111111, … 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Hacer un autómata que </a:t>
            </a:r>
            <a:r>
              <a:rPr b="1" lang="es-419"/>
              <a:t>reconozca </a:t>
            </a:r>
            <a:r>
              <a:rPr lang="es-419"/>
              <a:t>al lenguaje del inciso 1a):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(L1)* ⋅ L4 = </a:t>
            </a:r>
            <a:r>
              <a:rPr b="1" lang="es-419" sz="2241"/>
              <a:t>{w</a:t>
            </a:r>
            <a:r>
              <a:rPr b="1" lang="es-419" sz="2200"/>
              <a:t>a</a:t>
            </a:r>
            <a:r>
              <a:rPr b="1" baseline="30000" lang="es-419" sz="2200"/>
              <a:t>3n</a:t>
            </a:r>
            <a:r>
              <a:rPr b="1" lang="es-419" sz="2241"/>
              <a:t> | w </a:t>
            </a:r>
            <a:r>
              <a:rPr b="1" lang="es-419" sz="2541"/>
              <a:t>∊</a:t>
            </a:r>
            <a:r>
              <a:rPr b="1" lang="es-419" sz="2241"/>
              <a:t> {001, 100}*, n ≥ 0}</a:t>
            </a:r>
            <a:endParaRPr b="1" sz="224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