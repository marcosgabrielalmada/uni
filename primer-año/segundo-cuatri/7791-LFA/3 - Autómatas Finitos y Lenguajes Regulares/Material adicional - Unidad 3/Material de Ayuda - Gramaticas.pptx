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T Sans Narrow"/>
      <p:regular r:id="rId17"/>
      <p:bold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TSansNarrow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PTSansNarrow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2791b572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e2791b572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e2791b572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e2791b572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e2791b572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e2791b572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e2791b572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e2791b572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e2791b572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e2791b572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2791b5723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e2791b5723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e2791b5723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e2791b5723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e2791b5723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e2791b5723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e2791b5723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e2791b5723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e2791b5723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e2791b5723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883300" cy="3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Gramáticas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Encontrar lenguajes y autómatas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2658300" y="4205575"/>
            <a:ext cx="382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E93D8"/>
                </a:solidFill>
                <a:latin typeface="Open Sans"/>
                <a:ea typeface="Open Sans"/>
                <a:cs typeface="Open Sans"/>
                <a:sym typeface="Open Sans"/>
              </a:rPr>
              <a:t>Explicación hecha por Valentina Cambiaso :)</a:t>
            </a:r>
            <a:endParaRPr>
              <a:solidFill>
                <a:srgbClr val="CE93D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Enunciado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266325"/>
            <a:ext cx="8883300" cy="3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Sea G = &lt;{A,S}, {0,1}, S, P&gt; una gramática tal que P es el conjunto de las siguientes producciones: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	S ⟶ 00A | 00S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	A ⟶ 1 | 1S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Encontrar L(G).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Dar un autómata finito que reconozca a L(G).</a:t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 flipH="1" rot="-4292931">
            <a:off x="2472136" y="2663021"/>
            <a:ext cx="457910" cy="609266"/>
          </a:xfrm>
          <a:custGeom>
            <a:rect b="b" l="l" r="r" t="t"/>
            <a:pathLst>
              <a:path extrusionOk="0" h="7970" w="9102">
                <a:moveTo>
                  <a:pt x="7382" y="1"/>
                </a:moveTo>
                <a:cubicBezTo>
                  <a:pt x="7318" y="1"/>
                  <a:pt x="7267" y="1"/>
                  <a:pt x="7231" y="1"/>
                </a:cubicBezTo>
                <a:cubicBezTo>
                  <a:pt x="5803" y="1"/>
                  <a:pt x="4414" y="508"/>
                  <a:pt x="3255" y="1321"/>
                </a:cubicBezTo>
                <a:cubicBezTo>
                  <a:pt x="2273" y="2012"/>
                  <a:pt x="1482" y="2949"/>
                  <a:pt x="1121" y="4100"/>
                </a:cubicBezTo>
                <a:cubicBezTo>
                  <a:pt x="876" y="4921"/>
                  <a:pt x="638" y="6057"/>
                  <a:pt x="883" y="6955"/>
                </a:cubicBezTo>
                <a:cubicBezTo>
                  <a:pt x="668" y="6709"/>
                  <a:pt x="428" y="6494"/>
                  <a:pt x="187" y="6494"/>
                </a:cubicBezTo>
                <a:cubicBezTo>
                  <a:pt x="135" y="6494"/>
                  <a:pt x="83" y="6504"/>
                  <a:pt x="31" y="6525"/>
                </a:cubicBezTo>
                <a:cubicBezTo>
                  <a:pt x="8" y="6541"/>
                  <a:pt x="1" y="6571"/>
                  <a:pt x="16" y="6602"/>
                </a:cubicBezTo>
                <a:cubicBezTo>
                  <a:pt x="108" y="6809"/>
                  <a:pt x="331" y="6971"/>
                  <a:pt x="469" y="7155"/>
                </a:cubicBezTo>
                <a:cubicBezTo>
                  <a:pt x="661" y="7423"/>
                  <a:pt x="868" y="7669"/>
                  <a:pt x="1106" y="7907"/>
                </a:cubicBezTo>
                <a:cubicBezTo>
                  <a:pt x="1151" y="7949"/>
                  <a:pt x="1209" y="7969"/>
                  <a:pt x="1266" y="7969"/>
                </a:cubicBezTo>
                <a:cubicBezTo>
                  <a:pt x="1345" y="7969"/>
                  <a:pt x="1422" y="7932"/>
                  <a:pt x="1467" y="7861"/>
                </a:cubicBezTo>
                <a:cubicBezTo>
                  <a:pt x="1735" y="7354"/>
                  <a:pt x="2019" y="6848"/>
                  <a:pt x="2303" y="6349"/>
                </a:cubicBezTo>
                <a:cubicBezTo>
                  <a:pt x="2415" y="6147"/>
                  <a:pt x="2240" y="5964"/>
                  <a:pt x="2066" y="5964"/>
                </a:cubicBezTo>
                <a:cubicBezTo>
                  <a:pt x="1988" y="5964"/>
                  <a:pt x="1910" y="6000"/>
                  <a:pt x="1858" y="6088"/>
                </a:cubicBezTo>
                <a:cubicBezTo>
                  <a:pt x="1666" y="6433"/>
                  <a:pt x="1482" y="6779"/>
                  <a:pt x="1313" y="7132"/>
                </a:cubicBezTo>
                <a:cubicBezTo>
                  <a:pt x="1190" y="6218"/>
                  <a:pt x="1244" y="5290"/>
                  <a:pt x="1467" y="4392"/>
                </a:cubicBezTo>
                <a:cubicBezTo>
                  <a:pt x="1758" y="3240"/>
                  <a:pt x="2518" y="2350"/>
                  <a:pt x="3447" y="1644"/>
                </a:cubicBezTo>
                <a:cubicBezTo>
                  <a:pt x="4406" y="915"/>
                  <a:pt x="5573" y="508"/>
                  <a:pt x="6763" y="377"/>
                </a:cubicBezTo>
                <a:cubicBezTo>
                  <a:pt x="6969" y="354"/>
                  <a:pt x="7176" y="343"/>
                  <a:pt x="7384" y="343"/>
                </a:cubicBezTo>
                <a:cubicBezTo>
                  <a:pt x="7664" y="343"/>
                  <a:pt x="7944" y="364"/>
                  <a:pt x="8221" y="408"/>
                </a:cubicBezTo>
                <a:cubicBezTo>
                  <a:pt x="8428" y="439"/>
                  <a:pt x="8812" y="423"/>
                  <a:pt x="8989" y="500"/>
                </a:cubicBezTo>
                <a:cubicBezTo>
                  <a:pt x="9000" y="506"/>
                  <a:pt x="9014" y="509"/>
                  <a:pt x="9027" y="509"/>
                </a:cubicBezTo>
                <a:cubicBezTo>
                  <a:pt x="9065" y="509"/>
                  <a:pt x="9102" y="484"/>
                  <a:pt x="9096" y="439"/>
                </a:cubicBezTo>
                <a:cubicBezTo>
                  <a:pt x="9062" y="25"/>
                  <a:pt x="7871" y="1"/>
                  <a:pt x="7382" y="1"/>
                </a:cubicBezTo>
                <a:close/>
              </a:path>
            </a:pathLst>
          </a:custGeom>
          <a:solidFill>
            <a:srgbClr val="4DB6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3128450" y="2903400"/>
            <a:ext cx="4531200" cy="40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L(G) es el lenguaje que se genera con la gramática G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Encontrar L(G)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11700" y="1266325"/>
            <a:ext cx="8520600" cy="8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Para encontrar el lenguaje generado por una gramática, es aconsejable hacer un </a:t>
            </a:r>
            <a:r>
              <a:rPr b="1" lang="es-419"/>
              <a:t>árbol de derivación</a:t>
            </a:r>
            <a:r>
              <a:rPr lang="es-419"/>
              <a:t> que nos permita encontrar un patrón.</a:t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3137900" y="209975"/>
            <a:ext cx="53790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Sea G = &lt;{A,S}, {0,1}, S, P&gt; una gramática tal que P es el conjunto de las siguientes producciones: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S ⟶ 00A | 00S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A ⟶ 1 | 1S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3675600" y="2197725"/>
            <a:ext cx="54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      </a:t>
            </a: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comenzamos con el símbolo inicial de la gramática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5" name="Google Shape;85;p15"/>
          <p:cNvCxnSpPr/>
          <p:nvPr/>
        </p:nvCxnSpPr>
        <p:spPr>
          <a:xfrm flipH="1" rot="10800000">
            <a:off x="4767600" y="510325"/>
            <a:ext cx="219000" cy="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5"/>
          <p:cNvSpPr/>
          <p:nvPr/>
        </p:nvSpPr>
        <p:spPr>
          <a:xfrm>
            <a:off x="3666250" y="2281650"/>
            <a:ext cx="300600" cy="2964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 rot="-7469165">
            <a:off x="3903305" y="2414605"/>
            <a:ext cx="457908" cy="609256"/>
          </a:xfrm>
          <a:custGeom>
            <a:rect b="b" l="l" r="r" t="t"/>
            <a:pathLst>
              <a:path extrusionOk="0" h="7970" w="9102">
                <a:moveTo>
                  <a:pt x="7382" y="1"/>
                </a:moveTo>
                <a:cubicBezTo>
                  <a:pt x="7318" y="1"/>
                  <a:pt x="7267" y="1"/>
                  <a:pt x="7231" y="1"/>
                </a:cubicBezTo>
                <a:cubicBezTo>
                  <a:pt x="5803" y="1"/>
                  <a:pt x="4414" y="508"/>
                  <a:pt x="3255" y="1321"/>
                </a:cubicBezTo>
                <a:cubicBezTo>
                  <a:pt x="2273" y="2012"/>
                  <a:pt x="1482" y="2949"/>
                  <a:pt x="1121" y="4100"/>
                </a:cubicBezTo>
                <a:cubicBezTo>
                  <a:pt x="876" y="4921"/>
                  <a:pt x="638" y="6057"/>
                  <a:pt x="883" y="6955"/>
                </a:cubicBezTo>
                <a:cubicBezTo>
                  <a:pt x="668" y="6709"/>
                  <a:pt x="428" y="6494"/>
                  <a:pt x="187" y="6494"/>
                </a:cubicBezTo>
                <a:cubicBezTo>
                  <a:pt x="135" y="6494"/>
                  <a:pt x="83" y="6504"/>
                  <a:pt x="31" y="6525"/>
                </a:cubicBezTo>
                <a:cubicBezTo>
                  <a:pt x="8" y="6541"/>
                  <a:pt x="1" y="6571"/>
                  <a:pt x="16" y="6602"/>
                </a:cubicBezTo>
                <a:cubicBezTo>
                  <a:pt x="108" y="6809"/>
                  <a:pt x="331" y="6971"/>
                  <a:pt x="469" y="7155"/>
                </a:cubicBezTo>
                <a:cubicBezTo>
                  <a:pt x="661" y="7423"/>
                  <a:pt x="868" y="7669"/>
                  <a:pt x="1106" y="7907"/>
                </a:cubicBezTo>
                <a:cubicBezTo>
                  <a:pt x="1151" y="7949"/>
                  <a:pt x="1209" y="7969"/>
                  <a:pt x="1266" y="7969"/>
                </a:cubicBezTo>
                <a:cubicBezTo>
                  <a:pt x="1345" y="7969"/>
                  <a:pt x="1422" y="7932"/>
                  <a:pt x="1467" y="7861"/>
                </a:cubicBezTo>
                <a:cubicBezTo>
                  <a:pt x="1735" y="7354"/>
                  <a:pt x="2019" y="6848"/>
                  <a:pt x="2303" y="6349"/>
                </a:cubicBezTo>
                <a:cubicBezTo>
                  <a:pt x="2415" y="6147"/>
                  <a:pt x="2240" y="5964"/>
                  <a:pt x="2066" y="5964"/>
                </a:cubicBezTo>
                <a:cubicBezTo>
                  <a:pt x="1988" y="5964"/>
                  <a:pt x="1910" y="6000"/>
                  <a:pt x="1858" y="6088"/>
                </a:cubicBezTo>
                <a:cubicBezTo>
                  <a:pt x="1666" y="6433"/>
                  <a:pt x="1482" y="6779"/>
                  <a:pt x="1313" y="7132"/>
                </a:cubicBezTo>
                <a:cubicBezTo>
                  <a:pt x="1190" y="6218"/>
                  <a:pt x="1244" y="5290"/>
                  <a:pt x="1467" y="4392"/>
                </a:cubicBezTo>
                <a:cubicBezTo>
                  <a:pt x="1758" y="3240"/>
                  <a:pt x="2518" y="2350"/>
                  <a:pt x="3447" y="1644"/>
                </a:cubicBezTo>
                <a:cubicBezTo>
                  <a:pt x="4406" y="915"/>
                  <a:pt x="5573" y="508"/>
                  <a:pt x="6763" y="377"/>
                </a:cubicBezTo>
                <a:cubicBezTo>
                  <a:pt x="6969" y="354"/>
                  <a:pt x="7176" y="343"/>
                  <a:pt x="7384" y="343"/>
                </a:cubicBezTo>
                <a:cubicBezTo>
                  <a:pt x="7664" y="343"/>
                  <a:pt x="7944" y="364"/>
                  <a:pt x="8221" y="408"/>
                </a:cubicBezTo>
                <a:cubicBezTo>
                  <a:pt x="8428" y="439"/>
                  <a:pt x="8812" y="423"/>
                  <a:pt x="8989" y="500"/>
                </a:cubicBezTo>
                <a:cubicBezTo>
                  <a:pt x="9000" y="506"/>
                  <a:pt x="9014" y="509"/>
                  <a:pt x="9027" y="509"/>
                </a:cubicBezTo>
                <a:cubicBezTo>
                  <a:pt x="9065" y="509"/>
                  <a:pt x="9102" y="484"/>
                  <a:pt x="9096" y="439"/>
                </a:cubicBezTo>
                <a:cubicBezTo>
                  <a:pt x="9062" y="25"/>
                  <a:pt x="7871" y="1"/>
                  <a:pt x="738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Encontrar L(G)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1266325"/>
            <a:ext cx="8520600" cy="8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Para encontrar el lenguaje generado por una gramática, es aconsejable hacer un </a:t>
            </a:r>
            <a:r>
              <a:rPr b="1" lang="es-419"/>
              <a:t>árbol de derivación</a:t>
            </a:r>
            <a:r>
              <a:rPr lang="es-419"/>
              <a:t> que nos permita encontrar un patrón.</a:t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3137900" y="209975"/>
            <a:ext cx="53790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Sea G = &lt;{A,S}, {0,1}, S, P&gt; una gramática tal que P es el conjunto de las siguientes producciones: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S ⟶ 00A | 00S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A ⟶ 1 | 1S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3675600" y="2197725"/>
            <a:ext cx="33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6" name="Google Shape;96;p16"/>
          <p:cNvCxnSpPr/>
          <p:nvPr/>
        </p:nvCxnSpPr>
        <p:spPr>
          <a:xfrm rot="10800000">
            <a:off x="4104700" y="953375"/>
            <a:ext cx="226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6"/>
          <p:cNvCxnSpPr/>
          <p:nvPr/>
        </p:nvCxnSpPr>
        <p:spPr>
          <a:xfrm rot="10800000">
            <a:off x="4561900" y="953375"/>
            <a:ext cx="226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6"/>
          <p:cNvCxnSpPr/>
          <p:nvPr/>
        </p:nvCxnSpPr>
        <p:spPr>
          <a:xfrm flipH="1">
            <a:off x="3382750" y="2571750"/>
            <a:ext cx="348600" cy="41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6"/>
          <p:cNvCxnSpPr/>
          <p:nvPr/>
        </p:nvCxnSpPr>
        <p:spPr>
          <a:xfrm>
            <a:off x="3916150" y="2571750"/>
            <a:ext cx="348600" cy="41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" name="Google Shape;100;p16"/>
          <p:cNvSpPr txBox="1"/>
          <p:nvPr/>
        </p:nvSpPr>
        <p:spPr>
          <a:xfrm>
            <a:off x="2989600" y="2924750"/>
            <a:ext cx="5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00A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4014000" y="2924750"/>
            <a:ext cx="5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2" name="Google Shape;102;p16"/>
          <p:cNvCxnSpPr/>
          <p:nvPr/>
        </p:nvCxnSpPr>
        <p:spPr>
          <a:xfrm rot="10800000">
            <a:off x="3158500" y="3307550"/>
            <a:ext cx="279000" cy="2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6"/>
          <p:cNvCxnSpPr/>
          <p:nvPr/>
        </p:nvCxnSpPr>
        <p:spPr>
          <a:xfrm rot="10800000">
            <a:off x="4149100" y="3307550"/>
            <a:ext cx="279000" cy="27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6"/>
          <p:cNvCxnSpPr/>
          <p:nvPr/>
        </p:nvCxnSpPr>
        <p:spPr>
          <a:xfrm rot="10800000">
            <a:off x="3691900" y="2545550"/>
            <a:ext cx="2790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6"/>
          <p:cNvSpPr txBox="1"/>
          <p:nvPr/>
        </p:nvSpPr>
        <p:spPr>
          <a:xfrm>
            <a:off x="4375175" y="2848550"/>
            <a:ext cx="54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   </a:t>
            </a: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vemos qué derivaciones hay a partir del no terminal 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043675" y="3025850"/>
            <a:ext cx="1518300" cy="360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 rot="-8552749">
            <a:off x="4446072" y="3159573"/>
            <a:ext cx="457886" cy="609275"/>
          </a:xfrm>
          <a:custGeom>
            <a:rect b="b" l="l" r="r" t="t"/>
            <a:pathLst>
              <a:path extrusionOk="0" h="7970" w="9102">
                <a:moveTo>
                  <a:pt x="7382" y="1"/>
                </a:moveTo>
                <a:cubicBezTo>
                  <a:pt x="7318" y="1"/>
                  <a:pt x="7267" y="1"/>
                  <a:pt x="7231" y="1"/>
                </a:cubicBezTo>
                <a:cubicBezTo>
                  <a:pt x="5803" y="1"/>
                  <a:pt x="4414" y="508"/>
                  <a:pt x="3255" y="1321"/>
                </a:cubicBezTo>
                <a:cubicBezTo>
                  <a:pt x="2273" y="2012"/>
                  <a:pt x="1482" y="2949"/>
                  <a:pt x="1121" y="4100"/>
                </a:cubicBezTo>
                <a:cubicBezTo>
                  <a:pt x="876" y="4921"/>
                  <a:pt x="638" y="6057"/>
                  <a:pt x="883" y="6955"/>
                </a:cubicBezTo>
                <a:cubicBezTo>
                  <a:pt x="668" y="6709"/>
                  <a:pt x="428" y="6494"/>
                  <a:pt x="187" y="6494"/>
                </a:cubicBezTo>
                <a:cubicBezTo>
                  <a:pt x="135" y="6494"/>
                  <a:pt x="83" y="6504"/>
                  <a:pt x="31" y="6525"/>
                </a:cubicBezTo>
                <a:cubicBezTo>
                  <a:pt x="8" y="6541"/>
                  <a:pt x="1" y="6571"/>
                  <a:pt x="16" y="6602"/>
                </a:cubicBezTo>
                <a:cubicBezTo>
                  <a:pt x="108" y="6809"/>
                  <a:pt x="331" y="6971"/>
                  <a:pt x="469" y="7155"/>
                </a:cubicBezTo>
                <a:cubicBezTo>
                  <a:pt x="661" y="7423"/>
                  <a:pt x="868" y="7669"/>
                  <a:pt x="1106" y="7907"/>
                </a:cubicBezTo>
                <a:cubicBezTo>
                  <a:pt x="1151" y="7949"/>
                  <a:pt x="1209" y="7969"/>
                  <a:pt x="1266" y="7969"/>
                </a:cubicBezTo>
                <a:cubicBezTo>
                  <a:pt x="1345" y="7969"/>
                  <a:pt x="1422" y="7932"/>
                  <a:pt x="1467" y="7861"/>
                </a:cubicBezTo>
                <a:cubicBezTo>
                  <a:pt x="1735" y="7354"/>
                  <a:pt x="2019" y="6848"/>
                  <a:pt x="2303" y="6349"/>
                </a:cubicBezTo>
                <a:cubicBezTo>
                  <a:pt x="2415" y="6147"/>
                  <a:pt x="2240" y="5964"/>
                  <a:pt x="2066" y="5964"/>
                </a:cubicBezTo>
                <a:cubicBezTo>
                  <a:pt x="1988" y="5964"/>
                  <a:pt x="1910" y="6000"/>
                  <a:pt x="1858" y="6088"/>
                </a:cubicBezTo>
                <a:cubicBezTo>
                  <a:pt x="1666" y="6433"/>
                  <a:pt x="1482" y="6779"/>
                  <a:pt x="1313" y="7132"/>
                </a:cubicBezTo>
                <a:cubicBezTo>
                  <a:pt x="1190" y="6218"/>
                  <a:pt x="1244" y="5290"/>
                  <a:pt x="1467" y="4392"/>
                </a:cubicBezTo>
                <a:cubicBezTo>
                  <a:pt x="1758" y="3240"/>
                  <a:pt x="2518" y="2350"/>
                  <a:pt x="3447" y="1644"/>
                </a:cubicBezTo>
                <a:cubicBezTo>
                  <a:pt x="4406" y="915"/>
                  <a:pt x="5573" y="508"/>
                  <a:pt x="6763" y="377"/>
                </a:cubicBezTo>
                <a:cubicBezTo>
                  <a:pt x="6969" y="354"/>
                  <a:pt x="7176" y="343"/>
                  <a:pt x="7384" y="343"/>
                </a:cubicBezTo>
                <a:cubicBezTo>
                  <a:pt x="7664" y="343"/>
                  <a:pt x="7944" y="364"/>
                  <a:pt x="8221" y="408"/>
                </a:cubicBezTo>
                <a:cubicBezTo>
                  <a:pt x="8428" y="439"/>
                  <a:pt x="8812" y="423"/>
                  <a:pt x="8989" y="500"/>
                </a:cubicBezTo>
                <a:cubicBezTo>
                  <a:pt x="9000" y="506"/>
                  <a:pt x="9014" y="509"/>
                  <a:pt x="9027" y="509"/>
                </a:cubicBezTo>
                <a:cubicBezTo>
                  <a:pt x="9065" y="509"/>
                  <a:pt x="9102" y="484"/>
                  <a:pt x="9096" y="439"/>
                </a:cubicBezTo>
                <a:cubicBezTo>
                  <a:pt x="9062" y="25"/>
                  <a:pt x="7871" y="1"/>
                  <a:pt x="7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Encontrar L(G)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11700" y="1266325"/>
            <a:ext cx="8520600" cy="8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Para encontrar el lenguaje generado por una gramática, es aconsejable hacer un </a:t>
            </a:r>
            <a:r>
              <a:rPr b="1" lang="es-419"/>
              <a:t>árbol de derivación</a:t>
            </a:r>
            <a:r>
              <a:rPr lang="es-419"/>
              <a:t> que nos permita encontrar un patrón.</a:t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3137900" y="209975"/>
            <a:ext cx="53790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Sea G = &lt;{A,S}, {0,1}, S, P&gt; una gramática tal que P es el conjunto de las siguientes producciones: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S ⟶ 00A | 00S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A ⟶ 1 | 1S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3675600" y="2197725"/>
            <a:ext cx="33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6" name="Google Shape;116;p17"/>
          <p:cNvCxnSpPr/>
          <p:nvPr/>
        </p:nvCxnSpPr>
        <p:spPr>
          <a:xfrm rot="10800000">
            <a:off x="4104700" y="953375"/>
            <a:ext cx="226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7"/>
          <p:cNvCxnSpPr/>
          <p:nvPr/>
        </p:nvCxnSpPr>
        <p:spPr>
          <a:xfrm rot="10800000">
            <a:off x="4561900" y="953375"/>
            <a:ext cx="226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7"/>
          <p:cNvCxnSpPr/>
          <p:nvPr/>
        </p:nvCxnSpPr>
        <p:spPr>
          <a:xfrm flipH="1">
            <a:off x="3382750" y="2571750"/>
            <a:ext cx="348600" cy="41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7"/>
          <p:cNvCxnSpPr/>
          <p:nvPr/>
        </p:nvCxnSpPr>
        <p:spPr>
          <a:xfrm>
            <a:off x="3916150" y="2571750"/>
            <a:ext cx="348600" cy="41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17"/>
          <p:cNvSpPr txBox="1"/>
          <p:nvPr/>
        </p:nvSpPr>
        <p:spPr>
          <a:xfrm>
            <a:off x="2989600" y="2924750"/>
            <a:ext cx="5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00A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014000" y="2924750"/>
            <a:ext cx="5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2" name="Google Shape;122;p17"/>
          <p:cNvCxnSpPr/>
          <p:nvPr/>
        </p:nvCxnSpPr>
        <p:spPr>
          <a:xfrm rot="10800000">
            <a:off x="4279200" y="3308900"/>
            <a:ext cx="235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7"/>
          <p:cNvCxnSpPr/>
          <p:nvPr/>
        </p:nvCxnSpPr>
        <p:spPr>
          <a:xfrm rot="10800000">
            <a:off x="3288600" y="3308900"/>
            <a:ext cx="235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7"/>
          <p:cNvCxnSpPr/>
          <p:nvPr/>
        </p:nvCxnSpPr>
        <p:spPr>
          <a:xfrm flipH="1">
            <a:off x="2863800" y="3386450"/>
            <a:ext cx="348600" cy="41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7"/>
          <p:cNvCxnSpPr/>
          <p:nvPr/>
        </p:nvCxnSpPr>
        <p:spPr>
          <a:xfrm>
            <a:off x="3447900" y="3394850"/>
            <a:ext cx="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7"/>
          <p:cNvCxnSpPr/>
          <p:nvPr/>
        </p:nvCxnSpPr>
        <p:spPr>
          <a:xfrm>
            <a:off x="4286100" y="3394850"/>
            <a:ext cx="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7"/>
          <p:cNvCxnSpPr/>
          <p:nvPr/>
        </p:nvCxnSpPr>
        <p:spPr>
          <a:xfrm>
            <a:off x="4540200" y="3386450"/>
            <a:ext cx="348600" cy="41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17"/>
          <p:cNvCxnSpPr/>
          <p:nvPr/>
        </p:nvCxnSpPr>
        <p:spPr>
          <a:xfrm rot="10800000">
            <a:off x="4028375" y="1181975"/>
            <a:ext cx="174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7"/>
          <p:cNvCxnSpPr/>
          <p:nvPr/>
        </p:nvCxnSpPr>
        <p:spPr>
          <a:xfrm rot="10800000">
            <a:off x="4333125" y="1181975"/>
            <a:ext cx="2178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7"/>
          <p:cNvSpPr txBox="1"/>
          <p:nvPr/>
        </p:nvSpPr>
        <p:spPr>
          <a:xfrm>
            <a:off x="2470700" y="3698900"/>
            <a:ext cx="5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1" name="Google Shape;131;p17"/>
          <p:cNvCxnSpPr/>
          <p:nvPr/>
        </p:nvCxnSpPr>
        <p:spPr>
          <a:xfrm rot="10800000">
            <a:off x="2824200" y="4077600"/>
            <a:ext cx="174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17"/>
          <p:cNvSpPr txBox="1"/>
          <p:nvPr/>
        </p:nvSpPr>
        <p:spPr>
          <a:xfrm>
            <a:off x="3152400" y="3704725"/>
            <a:ext cx="7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3" name="Google Shape;133;p17"/>
          <p:cNvCxnSpPr/>
          <p:nvPr/>
        </p:nvCxnSpPr>
        <p:spPr>
          <a:xfrm rot="10800000">
            <a:off x="3494975" y="4077575"/>
            <a:ext cx="3195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17"/>
          <p:cNvSpPr txBox="1"/>
          <p:nvPr/>
        </p:nvSpPr>
        <p:spPr>
          <a:xfrm>
            <a:off x="3829000" y="3704725"/>
            <a:ext cx="9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0000A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5" name="Google Shape;135;p17"/>
          <p:cNvCxnSpPr/>
          <p:nvPr/>
        </p:nvCxnSpPr>
        <p:spPr>
          <a:xfrm rot="10800000">
            <a:off x="4180800" y="4077575"/>
            <a:ext cx="4455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17"/>
          <p:cNvSpPr txBox="1"/>
          <p:nvPr/>
        </p:nvSpPr>
        <p:spPr>
          <a:xfrm>
            <a:off x="4774600" y="3704725"/>
            <a:ext cx="9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7" name="Google Shape;137;p17"/>
          <p:cNvCxnSpPr/>
          <p:nvPr/>
        </p:nvCxnSpPr>
        <p:spPr>
          <a:xfrm rot="10800000">
            <a:off x="5095200" y="4077575"/>
            <a:ext cx="4455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17"/>
          <p:cNvSpPr/>
          <p:nvPr/>
        </p:nvSpPr>
        <p:spPr>
          <a:xfrm>
            <a:off x="2475800" y="3636775"/>
            <a:ext cx="591000" cy="5976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2989600" y="4354150"/>
            <a:ext cx="56781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cuando encontramos una cadena formada por no terminales, ya no podemos seguir aplicando derivaciones y esta cadena pertenece a L(G)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17"/>
          <p:cNvSpPr/>
          <p:nvPr/>
        </p:nvSpPr>
        <p:spPr>
          <a:xfrm flipH="1" rot="-4489449">
            <a:off x="4692176" y="2836062"/>
            <a:ext cx="305796" cy="304166"/>
          </a:xfrm>
          <a:custGeom>
            <a:rect b="b" l="l" r="r" t="t"/>
            <a:pathLst>
              <a:path extrusionOk="0" h="7970" w="9102">
                <a:moveTo>
                  <a:pt x="7382" y="1"/>
                </a:moveTo>
                <a:cubicBezTo>
                  <a:pt x="7318" y="1"/>
                  <a:pt x="7267" y="1"/>
                  <a:pt x="7231" y="1"/>
                </a:cubicBezTo>
                <a:cubicBezTo>
                  <a:pt x="5803" y="1"/>
                  <a:pt x="4414" y="508"/>
                  <a:pt x="3255" y="1321"/>
                </a:cubicBezTo>
                <a:cubicBezTo>
                  <a:pt x="2273" y="2012"/>
                  <a:pt x="1482" y="2949"/>
                  <a:pt x="1121" y="4100"/>
                </a:cubicBezTo>
                <a:cubicBezTo>
                  <a:pt x="876" y="4921"/>
                  <a:pt x="638" y="6057"/>
                  <a:pt x="883" y="6955"/>
                </a:cubicBezTo>
                <a:cubicBezTo>
                  <a:pt x="668" y="6709"/>
                  <a:pt x="428" y="6494"/>
                  <a:pt x="187" y="6494"/>
                </a:cubicBezTo>
                <a:cubicBezTo>
                  <a:pt x="135" y="6494"/>
                  <a:pt x="83" y="6504"/>
                  <a:pt x="31" y="6525"/>
                </a:cubicBezTo>
                <a:cubicBezTo>
                  <a:pt x="8" y="6541"/>
                  <a:pt x="1" y="6571"/>
                  <a:pt x="16" y="6602"/>
                </a:cubicBezTo>
                <a:cubicBezTo>
                  <a:pt x="108" y="6809"/>
                  <a:pt x="331" y="6971"/>
                  <a:pt x="469" y="7155"/>
                </a:cubicBezTo>
                <a:cubicBezTo>
                  <a:pt x="661" y="7423"/>
                  <a:pt x="868" y="7669"/>
                  <a:pt x="1106" y="7907"/>
                </a:cubicBezTo>
                <a:cubicBezTo>
                  <a:pt x="1151" y="7949"/>
                  <a:pt x="1209" y="7969"/>
                  <a:pt x="1266" y="7969"/>
                </a:cubicBezTo>
                <a:cubicBezTo>
                  <a:pt x="1345" y="7969"/>
                  <a:pt x="1422" y="7932"/>
                  <a:pt x="1467" y="7861"/>
                </a:cubicBezTo>
                <a:cubicBezTo>
                  <a:pt x="1735" y="7354"/>
                  <a:pt x="2019" y="6848"/>
                  <a:pt x="2303" y="6349"/>
                </a:cubicBezTo>
                <a:cubicBezTo>
                  <a:pt x="2415" y="6147"/>
                  <a:pt x="2240" y="5964"/>
                  <a:pt x="2066" y="5964"/>
                </a:cubicBezTo>
                <a:cubicBezTo>
                  <a:pt x="1988" y="5964"/>
                  <a:pt x="1910" y="6000"/>
                  <a:pt x="1858" y="6088"/>
                </a:cubicBezTo>
                <a:cubicBezTo>
                  <a:pt x="1666" y="6433"/>
                  <a:pt x="1482" y="6779"/>
                  <a:pt x="1313" y="7132"/>
                </a:cubicBezTo>
                <a:cubicBezTo>
                  <a:pt x="1190" y="6218"/>
                  <a:pt x="1244" y="5290"/>
                  <a:pt x="1467" y="4392"/>
                </a:cubicBezTo>
                <a:cubicBezTo>
                  <a:pt x="1758" y="3240"/>
                  <a:pt x="2518" y="2350"/>
                  <a:pt x="3447" y="1644"/>
                </a:cubicBezTo>
                <a:cubicBezTo>
                  <a:pt x="4406" y="915"/>
                  <a:pt x="5573" y="508"/>
                  <a:pt x="6763" y="377"/>
                </a:cubicBezTo>
                <a:cubicBezTo>
                  <a:pt x="6969" y="354"/>
                  <a:pt x="7176" y="343"/>
                  <a:pt x="7384" y="343"/>
                </a:cubicBezTo>
                <a:cubicBezTo>
                  <a:pt x="7664" y="343"/>
                  <a:pt x="7944" y="364"/>
                  <a:pt x="8221" y="408"/>
                </a:cubicBezTo>
                <a:cubicBezTo>
                  <a:pt x="8428" y="439"/>
                  <a:pt x="8812" y="423"/>
                  <a:pt x="8989" y="500"/>
                </a:cubicBezTo>
                <a:cubicBezTo>
                  <a:pt x="9000" y="506"/>
                  <a:pt x="9014" y="509"/>
                  <a:pt x="9027" y="509"/>
                </a:cubicBezTo>
                <a:cubicBezTo>
                  <a:pt x="9065" y="509"/>
                  <a:pt x="9102" y="484"/>
                  <a:pt x="9096" y="439"/>
                </a:cubicBezTo>
                <a:cubicBezTo>
                  <a:pt x="9062" y="25"/>
                  <a:pt x="7871" y="1"/>
                  <a:pt x="7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887650" y="2471725"/>
            <a:ext cx="41859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cada vez que encontramos no terminales, aplicamos las derivaciones posibles a partir del mismo, creando nuevas ramas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3043675" y="3025850"/>
            <a:ext cx="1518300" cy="360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 rot="-4744823">
            <a:off x="2542344" y="4291728"/>
            <a:ext cx="457907" cy="609262"/>
          </a:xfrm>
          <a:custGeom>
            <a:rect b="b" l="l" r="r" t="t"/>
            <a:pathLst>
              <a:path extrusionOk="0" h="7970" w="9102">
                <a:moveTo>
                  <a:pt x="7382" y="1"/>
                </a:moveTo>
                <a:cubicBezTo>
                  <a:pt x="7318" y="1"/>
                  <a:pt x="7267" y="1"/>
                  <a:pt x="7231" y="1"/>
                </a:cubicBezTo>
                <a:cubicBezTo>
                  <a:pt x="5803" y="1"/>
                  <a:pt x="4414" y="508"/>
                  <a:pt x="3255" y="1321"/>
                </a:cubicBezTo>
                <a:cubicBezTo>
                  <a:pt x="2273" y="2012"/>
                  <a:pt x="1482" y="2949"/>
                  <a:pt x="1121" y="4100"/>
                </a:cubicBezTo>
                <a:cubicBezTo>
                  <a:pt x="876" y="4921"/>
                  <a:pt x="638" y="6057"/>
                  <a:pt x="883" y="6955"/>
                </a:cubicBezTo>
                <a:cubicBezTo>
                  <a:pt x="668" y="6709"/>
                  <a:pt x="428" y="6494"/>
                  <a:pt x="187" y="6494"/>
                </a:cubicBezTo>
                <a:cubicBezTo>
                  <a:pt x="135" y="6494"/>
                  <a:pt x="83" y="6504"/>
                  <a:pt x="31" y="6525"/>
                </a:cubicBezTo>
                <a:cubicBezTo>
                  <a:pt x="8" y="6541"/>
                  <a:pt x="1" y="6571"/>
                  <a:pt x="16" y="6602"/>
                </a:cubicBezTo>
                <a:cubicBezTo>
                  <a:pt x="108" y="6809"/>
                  <a:pt x="331" y="6971"/>
                  <a:pt x="469" y="7155"/>
                </a:cubicBezTo>
                <a:cubicBezTo>
                  <a:pt x="661" y="7423"/>
                  <a:pt x="868" y="7669"/>
                  <a:pt x="1106" y="7907"/>
                </a:cubicBezTo>
                <a:cubicBezTo>
                  <a:pt x="1151" y="7949"/>
                  <a:pt x="1209" y="7969"/>
                  <a:pt x="1266" y="7969"/>
                </a:cubicBezTo>
                <a:cubicBezTo>
                  <a:pt x="1345" y="7969"/>
                  <a:pt x="1422" y="7932"/>
                  <a:pt x="1467" y="7861"/>
                </a:cubicBezTo>
                <a:cubicBezTo>
                  <a:pt x="1735" y="7354"/>
                  <a:pt x="2019" y="6848"/>
                  <a:pt x="2303" y="6349"/>
                </a:cubicBezTo>
                <a:cubicBezTo>
                  <a:pt x="2415" y="6147"/>
                  <a:pt x="2240" y="5964"/>
                  <a:pt x="2066" y="5964"/>
                </a:cubicBezTo>
                <a:cubicBezTo>
                  <a:pt x="1988" y="5964"/>
                  <a:pt x="1910" y="6000"/>
                  <a:pt x="1858" y="6088"/>
                </a:cubicBezTo>
                <a:cubicBezTo>
                  <a:pt x="1666" y="6433"/>
                  <a:pt x="1482" y="6779"/>
                  <a:pt x="1313" y="7132"/>
                </a:cubicBezTo>
                <a:cubicBezTo>
                  <a:pt x="1190" y="6218"/>
                  <a:pt x="1244" y="5290"/>
                  <a:pt x="1467" y="4392"/>
                </a:cubicBezTo>
                <a:cubicBezTo>
                  <a:pt x="1758" y="3240"/>
                  <a:pt x="2518" y="2350"/>
                  <a:pt x="3447" y="1644"/>
                </a:cubicBezTo>
                <a:cubicBezTo>
                  <a:pt x="4406" y="915"/>
                  <a:pt x="5573" y="508"/>
                  <a:pt x="6763" y="377"/>
                </a:cubicBezTo>
                <a:cubicBezTo>
                  <a:pt x="6969" y="354"/>
                  <a:pt x="7176" y="343"/>
                  <a:pt x="7384" y="343"/>
                </a:cubicBezTo>
                <a:cubicBezTo>
                  <a:pt x="7664" y="343"/>
                  <a:pt x="7944" y="364"/>
                  <a:pt x="8221" y="408"/>
                </a:cubicBezTo>
                <a:cubicBezTo>
                  <a:pt x="8428" y="439"/>
                  <a:pt x="8812" y="423"/>
                  <a:pt x="8989" y="500"/>
                </a:cubicBezTo>
                <a:cubicBezTo>
                  <a:pt x="9000" y="506"/>
                  <a:pt x="9014" y="509"/>
                  <a:pt x="9027" y="509"/>
                </a:cubicBezTo>
                <a:cubicBezTo>
                  <a:pt x="9065" y="509"/>
                  <a:pt x="9102" y="484"/>
                  <a:pt x="9096" y="439"/>
                </a:cubicBezTo>
                <a:cubicBezTo>
                  <a:pt x="9062" y="25"/>
                  <a:pt x="7871" y="1"/>
                  <a:pt x="7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Encontrar L(G)</a:t>
            </a:r>
            <a:endParaRPr/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311700" y="1266325"/>
            <a:ext cx="8520600" cy="8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Ampliamos un poco el árbol…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3137900" y="209975"/>
            <a:ext cx="53790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Sea G = &lt;{A,S}, {0,1}, S, P&gt; una gramática tal que P es el conjunto de las siguientes producciones: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S ⟶ 00A | 00S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A ⟶ 1 | 1S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3675600" y="1359525"/>
            <a:ext cx="33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2" name="Google Shape;152;p18"/>
          <p:cNvCxnSpPr/>
          <p:nvPr/>
        </p:nvCxnSpPr>
        <p:spPr>
          <a:xfrm flipH="1">
            <a:off x="3382750" y="1733550"/>
            <a:ext cx="348600" cy="41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18"/>
          <p:cNvCxnSpPr/>
          <p:nvPr/>
        </p:nvCxnSpPr>
        <p:spPr>
          <a:xfrm>
            <a:off x="3916150" y="1733550"/>
            <a:ext cx="348600" cy="41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18"/>
          <p:cNvSpPr txBox="1"/>
          <p:nvPr/>
        </p:nvSpPr>
        <p:spPr>
          <a:xfrm>
            <a:off x="2989600" y="2086550"/>
            <a:ext cx="5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00A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4014000" y="2086550"/>
            <a:ext cx="5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6" name="Google Shape;156;p18"/>
          <p:cNvCxnSpPr/>
          <p:nvPr/>
        </p:nvCxnSpPr>
        <p:spPr>
          <a:xfrm flipH="1">
            <a:off x="2936650" y="2415450"/>
            <a:ext cx="446100" cy="3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8"/>
          <p:cNvCxnSpPr/>
          <p:nvPr/>
        </p:nvCxnSpPr>
        <p:spPr>
          <a:xfrm>
            <a:off x="3445350" y="2423750"/>
            <a:ext cx="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8"/>
          <p:cNvCxnSpPr/>
          <p:nvPr/>
        </p:nvCxnSpPr>
        <p:spPr>
          <a:xfrm>
            <a:off x="4408575" y="2434825"/>
            <a:ext cx="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8"/>
          <p:cNvCxnSpPr/>
          <p:nvPr/>
        </p:nvCxnSpPr>
        <p:spPr>
          <a:xfrm>
            <a:off x="4511950" y="2432300"/>
            <a:ext cx="1028100" cy="33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18"/>
          <p:cNvSpPr txBox="1"/>
          <p:nvPr/>
        </p:nvSpPr>
        <p:spPr>
          <a:xfrm>
            <a:off x="2415525" y="2616050"/>
            <a:ext cx="5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3048613" y="2781750"/>
            <a:ext cx="7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4044100" y="2781750"/>
            <a:ext cx="9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0000A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5434400" y="2728050"/>
            <a:ext cx="9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4" name="Google Shape;164;p18"/>
          <p:cNvCxnSpPr/>
          <p:nvPr/>
        </p:nvCxnSpPr>
        <p:spPr>
          <a:xfrm flipH="1">
            <a:off x="2868700" y="3200575"/>
            <a:ext cx="5820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18"/>
          <p:cNvCxnSpPr/>
          <p:nvPr/>
        </p:nvCxnSpPr>
        <p:spPr>
          <a:xfrm>
            <a:off x="3599400" y="3222850"/>
            <a:ext cx="0" cy="3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18"/>
          <p:cNvSpPr txBox="1"/>
          <p:nvPr/>
        </p:nvSpPr>
        <p:spPr>
          <a:xfrm>
            <a:off x="1954225" y="3297150"/>
            <a:ext cx="109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00100A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3016200" y="3476950"/>
            <a:ext cx="116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00100S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8" name="Google Shape;168;p18"/>
          <p:cNvCxnSpPr/>
          <p:nvPr/>
        </p:nvCxnSpPr>
        <p:spPr>
          <a:xfrm>
            <a:off x="3496894" y="3144119"/>
            <a:ext cx="188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8"/>
          <p:cNvCxnSpPr/>
          <p:nvPr/>
        </p:nvCxnSpPr>
        <p:spPr>
          <a:xfrm>
            <a:off x="4647828" y="3144119"/>
            <a:ext cx="188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8"/>
          <p:cNvCxnSpPr/>
          <p:nvPr/>
        </p:nvCxnSpPr>
        <p:spPr>
          <a:xfrm>
            <a:off x="6028848" y="3097017"/>
            <a:ext cx="188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8"/>
          <p:cNvCxnSpPr/>
          <p:nvPr/>
        </p:nvCxnSpPr>
        <p:spPr>
          <a:xfrm flipH="1">
            <a:off x="4541550" y="3195025"/>
            <a:ext cx="16170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18"/>
          <p:cNvCxnSpPr/>
          <p:nvPr/>
        </p:nvCxnSpPr>
        <p:spPr>
          <a:xfrm>
            <a:off x="4836225" y="3208075"/>
            <a:ext cx="449400" cy="3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" name="Google Shape;173;p18"/>
          <p:cNvSpPr txBox="1"/>
          <p:nvPr/>
        </p:nvSpPr>
        <p:spPr>
          <a:xfrm>
            <a:off x="4014000" y="3414600"/>
            <a:ext cx="9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00001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4989800" y="3414600"/>
            <a:ext cx="109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00001S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5" name="Google Shape;175;p18"/>
          <p:cNvCxnSpPr/>
          <p:nvPr/>
        </p:nvCxnSpPr>
        <p:spPr>
          <a:xfrm>
            <a:off x="6146250" y="3144125"/>
            <a:ext cx="100500" cy="36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18"/>
          <p:cNvCxnSpPr/>
          <p:nvPr/>
        </p:nvCxnSpPr>
        <p:spPr>
          <a:xfrm>
            <a:off x="6246600" y="3167150"/>
            <a:ext cx="989100" cy="26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18"/>
          <p:cNvSpPr txBox="1"/>
          <p:nvPr/>
        </p:nvSpPr>
        <p:spPr>
          <a:xfrm>
            <a:off x="6028850" y="3414600"/>
            <a:ext cx="131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000000A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7235700" y="3297150"/>
            <a:ext cx="131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000000S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9" name="Google Shape;179;p18"/>
          <p:cNvCxnSpPr/>
          <p:nvPr/>
        </p:nvCxnSpPr>
        <p:spPr>
          <a:xfrm>
            <a:off x="2677534" y="3658678"/>
            <a:ext cx="188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8"/>
          <p:cNvCxnSpPr/>
          <p:nvPr/>
        </p:nvCxnSpPr>
        <p:spPr>
          <a:xfrm flipH="1">
            <a:off x="2030500" y="3733975"/>
            <a:ext cx="5820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18"/>
          <p:cNvCxnSpPr/>
          <p:nvPr/>
        </p:nvCxnSpPr>
        <p:spPr>
          <a:xfrm>
            <a:off x="2761075" y="3751225"/>
            <a:ext cx="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18"/>
          <p:cNvSpPr txBox="1"/>
          <p:nvPr/>
        </p:nvSpPr>
        <p:spPr>
          <a:xfrm>
            <a:off x="1123300" y="3876300"/>
            <a:ext cx="109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001001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2163825" y="3978250"/>
            <a:ext cx="109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001001S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4" name="Google Shape;184;p18"/>
          <p:cNvCxnSpPr/>
          <p:nvPr/>
        </p:nvCxnSpPr>
        <p:spPr>
          <a:xfrm>
            <a:off x="6891398" y="3758842"/>
            <a:ext cx="188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18"/>
          <p:cNvCxnSpPr/>
          <p:nvPr/>
        </p:nvCxnSpPr>
        <p:spPr>
          <a:xfrm flipH="1">
            <a:off x="6626000" y="3836000"/>
            <a:ext cx="317700" cy="3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18"/>
          <p:cNvCxnSpPr/>
          <p:nvPr/>
        </p:nvCxnSpPr>
        <p:spPr>
          <a:xfrm>
            <a:off x="7007000" y="3836000"/>
            <a:ext cx="317700" cy="3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" name="Google Shape;187;p18"/>
          <p:cNvSpPr txBox="1"/>
          <p:nvPr/>
        </p:nvSpPr>
        <p:spPr>
          <a:xfrm>
            <a:off x="5696300" y="4193875"/>
            <a:ext cx="131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0000001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6847250" y="4193875"/>
            <a:ext cx="131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0000001S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18"/>
          <p:cNvSpPr txBox="1"/>
          <p:nvPr>
            <p:ph idx="1" type="body"/>
          </p:nvPr>
        </p:nvSpPr>
        <p:spPr>
          <a:xfrm>
            <a:off x="1741100" y="4659350"/>
            <a:ext cx="8520600" cy="8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500"/>
              <a:t>(Se puede seguir si es necesario)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Encontrar L(G)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3137900" y="209975"/>
            <a:ext cx="53790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Sea G = &lt;{A,S}, {0,1}, S, P&gt; una gramática tal que P es el conjunto de las siguientes producciones: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S ⟶ 00A | 00S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A ⟶ 1 | 1S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3675600" y="1359525"/>
            <a:ext cx="33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97" name="Google Shape;197;p19"/>
          <p:cNvCxnSpPr/>
          <p:nvPr/>
        </p:nvCxnSpPr>
        <p:spPr>
          <a:xfrm flipH="1">
            <a:off x="3382750" y="1733550"/>
            <a:ext cx="348600" cy="41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19"/>
          <p:cNvCxnSpPr/>
          <p:nvPr/>
        </p:nvCxnSpPr>
        <p:spPr>
          <a:xfrm>
            <a:off x="3916150" y="1733550"/>
            <a:ext cx="348600" cy="41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" name="Google Shape;199;p19"/>
          <p:cNvSpPr txBox="1"/>
          <p:nvPr/>
        </p:nvSpPr>
        <p:spPr>
          <a:xfrm>
            <a:off x="2989600" y="2086550"/>
            <a:ext cx="5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00A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4014000" y="2086550"/>
            <a:ext cx="5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1" name="Google Shape;201;p19"/>
          <p:cNvCxnSpPr/>
          <p:nvPr/>
        </p:nvCxnSpPr>
        <p:spPr>
          <a:xfrm flipH="1">
            <a:off x="2936650" y="2415450"/>
            <a:ext cx="446100" cy="3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19"/>
          <p:cNvCxnSpPr/>
          <p:nvPr/>
        </p:nvCxnSpPr>
        <p:spPr>
          <a:xfrm>
            <a:off x="3445350" y="2423750"/>
            <a:ext cx="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19"/>
          <p:cNvCxnSpPr/>
          <p:nvPr/>
        </p:nvCxnSpPr>
        <p:spPr>
          <a:xfrm>
            <a:off x="4408575" y="2434825"/>
            <a:ext cx="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19"/>
          <p:cNvCxnSpPr/>
          <p:nvPr/>
        </p:nvCxnSpPr>
        <p:spPr>
          <a:xfrm>
            <a:off x="4511950" y="2432300"/>
            <a:ext cx="1028100" cy="33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19"/>
          <p:cNvSpPr txBox="1"/>
          <p:nvPr/>
        </p:nvSpPr>
        <p:spPr>
          <a:xfrm>
            <a:off x="2415525" y="2616050"/>
            <a:ext cx="5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048613" y="2781750"/>
            <a:ext cx="7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4044100" y="2781750"/>
            <a:ext cx="9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0000A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5434400" y="2728050"/>
            <a:ext cx="9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9" name="Google Shape;209;p19"/>
          <p:cNvCxnSpPr/>
          <p:nvPr/>
        </p:nvCxnSpPr>
        <p:spPr>
          <a:xfrm flipH="1">
            <a:off x="2868700" y="3200575"/>
            <a:ext cx="5820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19"/>
          <p:cNvCxnSpPr/>
          <p:nvPr/>
        </p:nvCxnSpPr>
        <p:spPr>
          <a:xfrm>
            <a:off x="3599400" y="3222850"/>
            <a:ext cx="0" cy="3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" name="Google Shape;211;p19"/>
          <p:cNvSpPr txBox="1"/>
          <p:nvPr/>
        </p:nvSpPr>
        <p:spPr>
          <a:xfrm>
            <a:off x="1954225" y="3297150"/>
            <a:ext cx="109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00100A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3016200" y="3476950"/>
            <a:ext cx="116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00100S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3" name="Google Shape;213;p19"/>
          <p:cNvCxnSpPr/>
          <p:nvPr/>
        </p:nvCxnSpPr>
        <p:spPr>
          <a:xfrm>
            <a:off x="3496894" y="3144119"/>
            <a:ext cx="188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19"/>
          <p:cNvCxnSpPr/>
          <p:nvPr/>
        </p:nvCxnSpPr>
        <p:spPr>
          <a:xfrm>
            <a:off x="4647828" y="3144119"/>
            <a:ext cx="188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19"/>
          <p:cNvCxnSpPr/>
          <p:nvPr/>
        </p:nvCxnSpPr>
        <p:spPr>
          <a:xfrm>
            <a:off x="6028848" y="3097017"/>
            <a:ext cx="188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19"/>
          <p:cNvCxnSpPr/>
          <p:nvPr/>
        </p:nvCxnSpPr>
        <p:spPr>
          <a:xfrm flipH="1">
            <a:off x="4541550" y="3195025"/>
            <a:ext cx="16170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19"/>
          <p:cNvCxnSpPr/>
          <p:nvPr/>
        </p:nvCxnSpPr>
        <p:spPr>
          <a:xfrm>
            <a:off x="4836225" y="3208075"/>
            <a:ext cx="449400" cy="3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19"/>
          <p:cNvSpPr txBox="1"/>
          <p:nvPr/>
        </p:nvSpPr>
        <p:spPr>
          <a:xfrm>
            <a:off x="4014000" y="3414600"/>
            <a:ext cx="9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00001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4989800" y="3414600"/>
            <a:ext cx="109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00001S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0" name="Google Shape;220;p19"/>
          <p:cNvCxnSpPr/>
          <p:nvPr/>
        </p:nvCxnSpPr>
        <p:spPr>
          <a:xfrm>
            <a:off x="6146250" y="3144125"/>
            <a:ext cx="100500" cy="36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19"/>
          <p:cNvCxnSpPr/>
          <p:nvPr/>
        </p:nvCxnSpPr>
        <p:spPr>
          <a:xfrm>
            <a:off x="6246600" y="3167150"/>
            <a:ext cx="989100" cy="26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19"/>
          <p:cNvSpPr txBox="1"/>
          <p:nvPr/>
        </p:nvSpPr>
        <p:spPr>
          <a:xfrm>
            <a:off x="6028850" y="3414600"/>
            <a:ext cx="131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000000A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7235700" y="3297150"/>
            <a:ext cx="131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000000S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4" name="Google Shape;224;p19"/>
          <p:cNvCxnSpPr/>
          <p:nvPr/>
        </p:nvCxnSpPr>
        <p:spPr>
          <a:xfrm>
            <a:off x="2677534" y="3658678"/>
            <a:ext cx="188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19"/>
          <p:cNvCxnSpPr/>
          <p:nvPr/>
        </p:nvCxnSpPr>
        <p:spPr>
          <a:xfrm flipH="1">
            <a:off x="2030500" y="3733975"/>
            <a:ext cx="5820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19"/>
          <p:cNvCxnSpPr/>
          <p:nvPr/>
        </p:nvCxnSpPr>
        <p:spPr>
          <a:xfrm>
            <a:off x="2761075" y="3751225"/>
            <a:ext cx="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p19"/>
          <p:cNvSpPr txBox="1"/>
          <p:nvPr/>
        </p:nvSpPr>
        <p:spPr>
          <a:xfrm>
            <a:off x="1123300" y="3876300"/>
            <a:ext cx="109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001001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2163825" y="3978250"/>
            <a:ext cx="109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001001S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9" name="Google Shape;229;p19"/>
          <p:cNvCxnSpPr/>
          <p:nvPr/>
        </p:nvCxnSpPr>
        <p:spPr>
          <a:xfrm>
            <a:off x="6891398" y="3758842"/>
            <a:ext cx="188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19"/>
          <p:cNvCxnSpPr/>
          <p:nvPr/>
        </p:nvCxnSpPr>
        <p:spPr>
          <a:xfrm flipH="1">
            <a:off x="6626000" y="3836000"/>
            <a:ext cx="317700" cy="3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19"/>
          <p:cNvCxnSpPr/>
          <p:nvPr/>
        </p:nvCxnSpPr>
        <p:spPr>
          <a:xfrm>
            <a:off x="7007000" y="3836000"/>
            <a:ext cx="317700" cy="3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19"/>
          <p:cNvSpPr txBox="1"/>
          <p:nvPr/>
        </p:nvSpPr>
        <p:spPr>
          <a:xfrm>
            <a:off x="5696300" y="4193875"/>
            <a:ext cx="131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0000001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6847250" y="4193875"/>
            <a:ext cx="131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0000001S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2415525" y="2696150"/>
            <a:ext cx="521100" cy="3015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1173725" y="3956400"/>
            <a:ext cx="856800" cy="3015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4034050" y="3476950"/>
            <a:ext cx="802200" cy="3015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5764775" y="4273975"/>
            <a:ext cx="989100" cy="3015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5596575" y="1301925"/>
            <a:ext cx="2807400" cy="615600"/>
          </a:xfrm>
          <a:prstGeom prst="rect">
            <a:avLst/>
          </a:prstGeom>
          <a:noFill/>
          <a:ln cap="flat" cmpd="sng" w="28575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Encontramos algunas cadenas que pertenecen al lenguaje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Encontrar L(G)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3137900" y="209975"/>
            <a:ext cx="53790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Sea G = &lt;{A,S}, {0,1}, S, P&gt; una gramática tal que P es el conjunto de las siguientes producciones: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S ⟶ 00A | 00S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A ⟶ 1 | 1S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20"/>
          <p:cNvSpPr txBox="1"/>
          <p:nvPr>
            <p:ph idx="1" type="body"/>
          </p:nvPr>
        </p:nvSpPr>
        <p:spPr>
          <a:xfrm>
            <a:off x="311700" y="1266325"/>
            <a:ext cx="8634300" cy="34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Luego de observar algunas de las cadenas que pertenecen a L(G), podemos encontrar un patrón en común: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★"/>
            </a:pPr>
            <a:r>
              <a:rPr lang="es-419"/>
              <a:t>Todas las cadenas empiezan con 00 y terminan con 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s-419"/>
              <a:t>La cantidad de 0 es par y ≥ 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s-419"/>
              <a:t>No hay dos 1 consecutivos </a:t>
            </a:r>
            <a:r>
              <a:rPr lang="es-419"/>
              <a:t>y siempre están separados por al menos un par de 0’s.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5954550" y="3363075"/>
            <a:ext cx="2826000" cy="1200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Algunas cadenas que pertenecen a L(G):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es-419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es-419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001001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es-419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00001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es-419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0000001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Encontrar L(G)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3137900" y="209975"/>
            <a:ext cx="53790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Sea G = &lt;{A,S}, {0,1}, S, P&gt; una gramática tal que P es el conjunto de las siguientes producciones: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S ⟶ 00A | 00S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A ⟶ 1 | 1S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3" name="Google Shape;253;p21"/>
          <p:cNvSpPr txBox="1"/>
          <p:nvPr>
            <p:ph idx="1" type="body"/>
          </p:nvPr>
        </p:nvSpPr>
        <p:spPr>
          <a:xfrm>
            <a:off x="311700" y="1266325"/>
            <a:ext cx="8883300" cy="34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Luego de observar algunas de las cadenas que pertenecen a L(G), podemos encontrar un patrón en común: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★"/>
            </a:pPr>
            <a:r>
              <a:rPr lang="es-419"/>
              <a:t>Todas las cadenas empiezan con 00 y terminan con 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s-419"/>
              <a:t>La cantidad de 0 es par y ≥ 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s-419"/>
              <a:t>No hay dos 1 consecutivos y siempre están separados por al menos un par de 0’s.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5954550" y="3363075"/>
            <a:ext cx="2826000" cy="1200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Algunas cadenas que pertenecen a L(G):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es-419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es-419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001001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es-419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00001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es-419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0000001</a:t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537850" y="3779500"/>
            <a:ext cx="3928200" cy="5079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L(G) = {00w1 | w ∊ {00, 100}* }</a:t>
            </a:r>
            <a:endParaRPr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56" name="Google Shape;256;p21"/>
          <p:cNvCxnSpPr/>
          <p:nvPr/>
        </p:nvCxnSpPr>
        <p:spPr>
          <a:xfrm>
            <a:off x="1564675" y="4193975"/>
            <a:ext cx="2166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21"/>
          <p:cNvCxnSpPr/>
          <p:nvPr/>
        </p:nvCxnSpPr>
        <p:spPr>
          <a:xfrm>
            <a:off x="2021875" y="4193975"/>
            <a:ext cx="2166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21"/>
          <p:cNvCxnSpPr/>
          <p:nvPr/>
        </p:nvCxnSpPr>
        <p:spPr>
          <a:xfrm>
            <a:off x="2860075" y="2441375"/>
            <a:ext cx="36690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21"/>
          <p:cNvCxnSpPr/>
          <p:nvPr/>
        </p:nvCxnSpPr>
        <p:spPr>
          <a:xfrm>
            <a:off x="3053100" y="4193975"/>
            <a:ext cx="282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1"/>
          <p:cNvCxnSpPr/>
          <p:nvPr/>
        </p:nvCxnSpPr>
        <p:spPr>
          <a:xfrm>
            <a:off x="1224300" y="2783850"/>
            <a:ext cx="2769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1"/>
          <p:cNvCxnSpPr/>
          <p:nvPr/>
        </p:nvCxnSpPr>
        <p:spPr>
          <a:xfrm>
            <a:off x="862141" y="3366033"/>
            <a:ext cx="5988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1"/>
          <p:cNvCxnSpPr/>
          <p:nvPr/>
        </p:nvCxnSpPr>
        <p:spPr>
          <a:xfrm>
            <a:off x="867575" y="3050975"/>
            <a:ext cx="27789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1"/>
          <p:cNvCxnSpPr/>
          <p:nvPr/>
        </p:nvCxnSpPr>
        <p:spPr>
          <a:xfrm>
            <a:off x="5521225" y="3050975"/>
            <a:ext cx="32595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1"/>
          <p:cNvCxnSpPr/>
          <p:nvPr/>
        </p:nvCxnSpPr>
        <p:spPr>
          <a:xfrm>
            <a:off x="3528303" y="4194812"/>
            <a:ext cx="4479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</a:t>
            </a:r>
            <a:r>
              <a:rPr lang="es-419"/>
              <a:t>utómata finito que reconozca a L(G)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5781000" y="146075"/>
            <a:ext cx="33630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Sea G = &lt;{A,S}, {0,1}, S, P&gt; una gramática tal que P es el conjunto de las siguientes producciones: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S ⟶ 00A | 00S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A ⟶ 1 | 1S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p22"/>
          <p:cNvSpPr txBox="1"/>
          <p:nvPr>
            <p:ph idx="1" type="body"/>
          </p:nvPr>
        </p:nvSpPr>
        <p:spPr>
          <a:xfrm>
            <a:off x="255250" y="1266325"/>
            <a:ext cx="9043500" cy="3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 = {K, Σ, δ, S, F}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s-419"/>
              <a:t>K = {S, A, B, T}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s-419"/>
              <a:t>Σ = </a:t>
            </a:r>
            <a:r>
              <a:rPr lang="es-419"/>
              <a:t>V</a:t>
            </a:r>
            <a:r>
              <a:rPr lang="es-419" sz="900"/>
              <a:t>T </a:t>
            </a:r>
            <a:r>
              <a:rPr lang="es-419"/>
              <a:t>= {0,1} </a:t>
            </a:r>
            <a:r>
              <a:rPr lang="es-419">
                <a:solidFill>
                  <a:schemeClr val="accent1"/>
                </a:solidFill>
              </a:rPr>
              <a:t>→</a:t>
            </a:r>
            <a:r>
              <a:rPr lang="es-419"/>
              <a:t> El alfabeto serán los símbolos terminales de la gramática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s-419"/>
              <a:t>F = {T} </a:t>
            </a:r>
            <a:r>
              <a:rPr lang="es-419">
                <a:solidFill>
                  <a:schemeClr val="accent1"/>
                </a:solidFill>
              </a:rPr>
              <a:t>→</a:t>
            </a:r>
            <a:r>
              <a:rPr lang="es-419"/>
              <a:t> T es el estado que acepta las cadenas que pertenecen a L(G)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"/>
          <p:cNvSpPr txBox="1"/>
          <p:nvPr>
            <p:ph idx="1" type="body"/>
          </p:nvPr>
        </p:nvSpPr>
        <p:spPr>
          <a:xfrm>
            <a:off x="255250" y="1266325"/>
            <a:ext cx="2355000" cy="16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/>
              <a:t>M = {K, Σ, δ, S, F}</a:t>
            </a:r>
            <a:endParaRPr sz="15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s-419" sz="1500"/>
              <a:t>K = {S, A, B, T}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s-419" sz="1500"/>
              <a:t>Σ = V</a:t>
            </a:r>
            <a:r>
              <a:rPr lang="es-419" sz="600"/>
              <a:t>T </a:t>
            </a:r>
            <a:r>
              <a:rPr lang="es-419" sz="1500"/>
              <a:t>= {0,1}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s-419" sz="1500"/>
              <a:t>F = {T}</a:t>
            </a:r>
            <a:endParaRPr sz="1500"/>
          </a:p>
        </p:txBody>
      </p:sp>
      <p:sp>
        <p:nvSpPr>
          <p:cNvPr id="277" name="Google Shape;277;p23"/>
          <p:cNvSpPr/>
          <p:nvPr/>
        </p:nvSpPr>
        <p:spPr>
          <a:xfrm>
            <a:off x="2610088" y="1764375"/>
            <a:ext cx="942000" cy="9420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chemeClr val="dk2"/>
                </a:solidFill>
              </a:rPr>
              <a:t>B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780338" y="1764375"/>
            <a:ext cx="942000" cy="9420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chemeClr val="dk2"/>
                </a:solidFill>
              </a:rPr>
              <a:t>A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4780338" y="3553350"/>
            <a:ext cx="942000" cy="9420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chemeClr val="dk2"/>
                </a:solidFill>
              </a:rPr>
              <a:t>T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4822650" y="3595650"/>
            <a:ext cx="857400" cy="85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1" name="Google Shape;281;p23"/>
          <p:cNvCxnSpPr>
            <a:stCxn id="277" idx="7"/>
            <a:endCxn id="278" idx="1"/>
          </p:cNvCxnSpPr>
          <p:nvPr/>
        </p:nvCxnSpPr>
        <p:spPr>
          <a:xfrm>
            <a:off x="3414135" y="1902328"/>
            <a:ext cx="150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2" name="Google Shape;282;p23"/>
          <p:cNvSpPr txBox="1"/>
          <p:nvPr/>
        </p:nvSpPr>
        <p:spPr>
          <a:xfrm>
            <a:off x="3964413" y="1511275"/>
            <a:ext cx="51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83" name="Google Shape;283;p23"/>
          <p:cNvCxnSpPr>
            <a:stCxn id="278" idx="4"/>
            <a:endCxn id="280" idx="0"/>
          </p:cNvCxnSpPr>
          <p:nvPr/>
        </p:nvCxnSpPr>
        <p:spPr>
          <a:xfrm>
            <a:off x="5251338" y="2706375"/>
            <a:ext cx="0" cy="88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4" name="Google Shape;284;p23"/>
          <p:cNvCxnSpPr>
            <a:stCxn id="278" idx="3"/>
            <a:endCxn id="277" idx="5"/>
          </p:cNvCxnSpPr>
          <p:nvPr/>
        </p:nvCxnSpPr>
        <p:spPr>
          <a:xfrm rot="10800000">
            <a:off x="3414090" y="2568422"/>
            <a:ext cx="150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5" name="Google Shape;285;p23"/>
          <p:cNvSpPr txBox="1"/>
          <p:nvPr/>
        </p:nvSpPr>
        <p:spPr>
          <a:xfrm>
            <a:off x="3964425" y="2202463"/>
            <a:ext cx="51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5224475" y="2899000"/>
            <a:ext cx="51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7" name="Google Shape;287;p23"/>
          <p:cNvSpPr txBox="1"/>
          <p:nvPr>
            <p:ph idx="1" type="body"/>
          </p:nvPr>
        </p:nvSpPr>
        <p:spPr>
          <a:xfrm>
            <a:off x="6573975" y="1983950"/>
            <a:ext cx="1755300" cy="26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/>
              <a:t>δ(S,0) = {B}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500"/>
              <a:t>δ(B,0) = {A}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500"/>
              <a:t>δ(A,0) = {B}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500"/>
              <a:t>δ(A,1) = {T,S}</a:t>
            </a:r>
            <a:endParaRPr sz="1500"/>
          </a:p>
        </p:txBody>
      </p:sp>
      <p:sp>
        <p:nvSpPr>
          <p:cNvPr id="288" name="Google Shape;288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Autómata finito que reconozca a L(G)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5781000" y="146075"/>
            <a:ext cx="33630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Sea G = &lt;{A,S}, {0,1}, S, P&gt; una gramática tal que P es el conjunto de las siguientes producciones: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S ⟶ 00A | 00S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	A ⟶ 1 | 1S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2610088" y="3511050"/>
            <a:ext cx="942000" cy="9420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solidFill>
                  <a:schemeClr val="dk2"/>
                </a:solidFill>
              </a:rPr>
              <a:t>S</a:t>
            </a:r>
            <a:endParaRPr sz="2100">
              <a:solidFill>
                <a:schemeClr val="dk2"/>
              </a:solidFill>
            </a:endParaRPr>
          </a:p>
        </p:txBody>
      </p:sp>
      <p:cxnSp>
        <p:nvCxnSpPr>
          <p:cNvPr id="291" name="Google Shape;291;p23"/>
          <p:cNvCxnSpPr>
            <a:stCxn id="290" idx="0"/>
            <a:endCxn id="277" idx="4"/>
          </p:cNvCxnSpPr>
          <p:nvPr/>
        </p:nvCxnSpPr>
        <p:spPr>
          <a:xfrm rot="10800000">
            <a:off x="3081088" y="2706450"/>
            <a:ext cx="0" cy="80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2" name="Google Shape;292;p23"/>
          <p:cNvSpPr txBox="1"/>
          <p:nvPr/>
        </p:nvSpPr>
        <p:spPr>
          <a:xfrm>
            <a:off x="2610256" y="2877870"/>
            <a:ext cx="51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93" name="Google Shape;293;p23"/>
          <p:cNvCxnSpPr>
            <a:endCxn id="290" idx="2"/>
          </p:cNvCxnSpPr>
          <p:nvPr/>
        </p:nvCxnSpPr>
        <p:spPr>
          <a:xfrm>
            <a:off x="1776988" y="3982050"/>
            <a:ext cx="83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23"/>
          <p:cNvCxnSpPr>
            <a:stCxn id="278" idx="4"/>
            <a:endCxn id="290" idx="7"/>
          </p:cNvCxnSpPr>
          <p:nvPr/>
        </p:nvCxnSpPr>
        <p:spPr>
          <a:xfrm flipH="1">
            <a:off x="3414138" y="2706375"/>
            <a:ext cx="1837200" cy="94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5" name="Google Shape;295;p23"/>
          <p:cNvSpPr txBox="1"/>
          <p:nvPr/>
        </p:nvSpPr>
        <p:spPr>
          <a:xfrm>
            <a:off x="3874963" y="2877875"/>
            <a:ext cx="51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